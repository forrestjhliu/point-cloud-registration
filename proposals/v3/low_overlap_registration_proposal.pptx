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261F2-5E33-417E-979C-8B1C03D251E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E99BD-7CED-464E-B577-C52C03E3AA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130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先看 </a:t>
            </a:r>
            <a:r>
              <a:rPr lang="en-US" altLang="zh-CN"/>
              <a:t>RedKitchen </a:t>
            </a:r>
            <a:r>
              <a:rPr lang="zh-CN" altLang="en-US"/>
              <a:t>的真实扫描。左边 </a:t>
            </a:r>
            <a:r>
              <a:rPr lang="en-US" altLang="zh-CN"/>
              <a:t>P </a:t>
            </a:r>
            <a:r>
              <a:rPr lang="zh-CN" altLang="en-US"/>
              <a:t>是 </a:t>
            </a:r>
            <a:r>
              <a:rPr lang="en-US" altLang="zh-CN"/>
              <a:t>fragment 12</a:t>
            </a:r>
            <a:r>
              <a:rPr lang="zh-CN" altLang="en-US"/>
              <a:t>，中间 </a:t>
            </a:r>
            <a:r>
              <a:rPr lang="en-US" altLang="zh-CN"/>
              <a:t>Q </a:t>
            </a:r>
            <a:r>
              <a:rPr lang="zh-CN" altLang="en-US"/>
              <a:t>是 </a:t>
            </a:r>
            <a:r>
              <a:rPr lang="en-US" altLang="zh-CN"/>
              <a:t>fragment 0</a:t>
            </a:r>
            <a:r>
              <a:rPr lang="zh-CN" altLang="en-US"/>
              <a:t>，它们来自同一个厨房，但分别用自己的坐标系记录。机器人从两个位置看到了一部分相同的墙面、柜体和桌面，我们希望仅凭这些几何信息，把 </a:t>
            </a:r>
            <a:r>
              <a:rPr lang="en-US" altLang="zh-CN"/>
              <a:t>P </a:t>
            </a:r>
            <a:r>
              <a:rPr lang="zh-CN" altLang="en-US"/>
              <a:t>转到 </a:t>
            </a:r>
            <a:r>
              <a:rPr lang="en-US" altLang="zh-CN"/>
              <a:t>Q </a:t>
            </a:r>
            <a:r>
              <a:rPr lang="zh-CN" altLang="en-US"/>
              <a:t>的坐标系。右边用数据集 </a:t>
            </a:r>
            <a:r>
              <a:rPr lang="en-US" altLang="zh-CN"/>
              <a:t>GT </a:t>
            </a:r>
            <a:r>
              <a:rPr lang="zh-CN" altLang="en-US"/>
              <a:t>展示正确对齐后的样子，帮助大家理解我们究竟要预测什么；这张图还不是我们的方法结果。
技术备注：本例属于固定 </a:t>
            </a:r>
            <a:r>
              <a:rPr lang="en-US" altLang="zh-CN"/>
              <a:t>3DMatch </a:t>
            </a:r>
            <a:r>
              <a:rPr lang="zh-CN" altLang="en-US"/>
              <a:t>测试列表。</a:t>
            </a:r>
            <a:r>
              <a:rPr lang="en-US" altLang="zh-CN"/>
              <a:t>GeoTransformer metadata </a:t>
            </a:r>
            <a:r>
              <a:rPr lang="zh-CN" altLang="en-US"/>
              <a:t>的 </a:t>
            </a:r>
            <a:r>
              <a:rPr lang="en-US" altLang="zh-CN"/>
              <a:t>overlap </a:t>
            </a:r>
            <a:r>
              <a:rPr lang="zh-CN" altLang="en-US"/>
              <a:t>为 </a:t>
            </a:r>
            <a:r>
              <a:rPr lang="en-US" altLang="zh-CN"/>
              <a:t>61.35%</a:t>
            </a:r>
            <a:r>
              <a:rPr lang="zh-CN" altLang="en-US"/>
              <a:t>，</a:t>
            </a:r>
            <a:r>
              <a:rPr lang="en-US" altLang="zh-CN"/>
              <a:t>PREDATOR </a:t>
            </a:r>
            <a:r>
              <a:rPr lang="zh-CN" altLang="en-US"/>
              <a:t>对同一对数据记录为 </a:t>
            </a:r>
            <a:r>
              <a:rPr lang="en-US" altLang="zh-CN"/>
              <a:t>45.22%</a:t>
            </a:r>
            <a:r>
              <a:rPr lang="zh-CN" altLang="en-US"/>
              <a:t>；两者的 </a:t>
            </a:r>
            <a:r>
              <a:rPr lang="en-US" altLang="zh-CN"/>
              <a:t>pair </a:t>
            </a:r>
            <a:r>
              <a:rPr lang="zh-CN" altLang="en-US"/>
              <a:t>身份和 </a:t>
            </a:r>
            <a:r>
              <a:rPr lang="en-US" altLang="zh-CN"/>
              <a:t>GT </a:t>
            </a:r>
            <a:r>
              <a:rPr lang="zh-CN" altLang="en-US"/>
              <a:t>一致，数值差异原因尚未完整复现。本套 </a:t>
            </a:r>
            <a:r>
              <a:rPr lang="en-US" altLang="zh-CN"/>
              <a:t>slides </a:t>
            </a:r>
            <a:r>
              <a:rPr lang="zh-CN" altLang="en-US"/>
              <a:t>统一引用 </a:t>
            </a:r>
            <a:r>
              <a:rPr lang="en-US" altLang="zh-CN"/>
              <a:t>GeoTransformer </a:t>
            </a:r>
            <a:r>
              <a:rPr lang="zh-CN" altLang="en-US"/>
              <a:t>的字段，不把它称为遮挡率。
来源：
</a:t>
            </a:r>
            <a:r>
              <a:rPr lang="en-US" altLang="zh-CN"/>
              <a:t>https://github.com/qinzheng93/GeoTransformer/blob/e7a135af4c318ff3b8d7f6c963df094d7e4ea540/data/3DMatch/metadata/3DMatch.pkl
https://github.com/prs-eth/OverlapPredator/blob/8c78f125fc58d62ad7d149adf1fed43ed54937e4/configs/indoor/3DMatch.pkl
https://share.phys.ethz.ch/~gseg/Predator/data.zip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825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把图片写成数学对象，我们的输入就是 </a:t>
            </a:r>
            <a:r>
              <a:rPr lang="en-US" altLang="zh-CN"/>
              <a:t>P∈R^{N×3} </a:t>
            </a:r>
            <a:r>
              <a:rPr lang="zh-CN" altLang="en-US"/>
              <a:t>和 </a:t>
            </a:r>
            <a:r>
              <a:rPr lang="en-US" altLang="zh-CN"/>
              <a:t>Q∈R^{M×3}</a:t>
            </a:r>
            <a:r>
              <a:rPr lang="zh-CN" altLang="en-US"/>
              <a:t>：每一行是一个表面点的三维坐标，单位是米，两个点云的点数可以不同。我们假设它们来自同一静态场景，尺度已经一致，并且确实观察到一部分共同表面；未知的是相对位姿，以及哪些点代表同一处表面。这一版任务只使用 </a:t>
            </a:r>
            <a:r>
              <a:rPr lang="en-US" altLang="zh-CN"/>
              <a:t>xyz</a:t>
            </a:r>
            <a:r>
              <a:rPr lang="zh-CN" altLang="en-US"/>
              <a:t>，不需要 </a:t>
            </a:r>
            <a:r>
              <a:rPr lang="en-US" altLang="zh-CN"/>
              <a:t>RGB</a:t>
            </a:r>
            <a:r>
              <a:rPr lang="zh-CN" altLang="en-US"/>
              <a:t>，也不把相机轨迹或真实对应关系交给算法。
技术备注：这是已给定有重叠点云对的刚性配准，不同时研究跨场景检索、无重叠拒识、尺度估计或动态物体形变。输入点没有逐行对应关系。
来源：
</a:t>
            </a:r>
            <a:r>
              <a:rPr lang="en-US" altLang="zh-CN"/>
              <a:t>https://arxiv.org/pdf/1603.08182
https://github.com/qinzheng93/GeoTransformer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151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算法最终输出一个旋转矩阵 </a:t>
            </a:r>
            <a:r>
              <a:rPr lang="en-US" altLang="zh-CN"/>
              <a:t>R </a:t>
            </a:r>
            <a:r>
              <a:rPr lang="zh-CN" altLang="en-US"/>
              <a:t>和一个平移向量 </a:t>
            </a:r>
            <a:r>
              <a:rPr lang="en-US" altLang="zh-CN"/>
              <a:t>t</a:t>
            </a:r>
            <a:r>
              <a:rPr lang="zh-CN" altLang="en-US"/>
              <a:t>。对 </a:t>
            </a:r>
            <a:r>
              <a:rPr lang="en-US" altLang="zh-CN"/>
              <a:t>P </a:t>
            </a:r>
            <a:r>
              <a:rPr lang="zh-CN" altLang="en-US"/>
              <a:t>中任意点 </a:t>
            </a:r>
            <a:r>
              <a:rPr lang="en-US" altLang="zh-CN"/>
              <a:t>p</a:t>
            </a:r>
            <a:r>
              <a:rPr lang="zh-CN" altLang="en-US"/>
              <a:t>，都使用同一个公式 </a:t>
            </a:r>
            <a:r>
              <a:rPr lang="en-US" altLang="zh-CN"/>
              <a:t>p′=Rp+t</a:t>
            </a:r>
            <a:r>
              <a:rPr lang="zh-CN" altLang="en-US"/>
              <a:t>，把整个点云放进 </a:t>
            </a:r>
            <a:r>
              <a:rPr lang="en-US" altLang="zh-CN"/>
              <a:t>Q </a:t>
            </a:r>
            <a:r>
              <a:rPr lang="zh-CN" altLang="en-US"/>
              <a:t>的坐标系。想象把一块刚性的扫描整体拿起来转动、平移，它内部的距离保持不变。共同观测到的表面应该对齐，而只在 </a:t>
            </a:r>
            <a:r>
              <a:rPr lang="en-US" altLang="zh-CN"/>
              <a:t>P </a:t>
            </a:r>
            <a:r>
              <a:rPr lang="zh-CN" altLang="en-US"/>
              <a:t>中出现的区域仍然可以留在 </a:t>
            </a:r>
            <a:r>
              <a:rPr lang="en-US" altLang="zh-CN"/>
              <a:t>Q </a:t>
            </a:r>
            <a:r>
              <a:rPr lang="zh-CN" altLang="en-US"/>
              <a:t>外面；我们并不要求把每一个点都硬配到 </a:t>
            </a:r>
            <a:r>
              <a:rPr lang="en-US" altLang="zh-CN"/>
              <a:t>Q </a:t>
            </a:r>
            <a:r>
              <a:rPr lang="zh-CN" altLang="en-US"/>
              <a:t>上。
技术备注：</a:t>
            </a:r>
            <a:r>
              <a:rPr lang="en-US" altLang="zh-CN"/>
              <a:t>R∈SO(3)</a:t>
            </a:r>
            <a:r>
              <a:rPr lang="zh-CN" altLang="en-US"/>
              <a:t>，</a:t>
            </a:r>
            <a:r>
              <a:rPr lang="en-US" altLang="zh-CN"/>
              <a:t>t∈R³</a:t>
            </a:r>
            <a:r>
              <a:rPr lang="zh-CN" altLang="en-US"/>
              <a:t>；齐次矩阵 </a:t>
            </a:r>
            <a:r>
              <a:rPr lang="en-US" altLang="zh-CN"/>
              <a:t>T </a:t>
            </a:r>
            <a:r>
              <a:rPr lang="zh-CN" altLang="en-US"/>
              <a:t>为 </a:t>
            </a:r>
            <a:r>
              <a:rPr lang="en-US" altLang="zh-CN"/>
              <a:t>4×4</a:t>
            </a:r>
            <a:r>
              <a:rPr lang="zh-CN" altLang="en-US"/>
              <a:t>，方向统一为 </a:t>
            </a:r>
            <a:r>
              <a:rPr lang="en-US" altLang="zh-CN"/>
              <a:t>P→Q</a:t>
            </a:r>
            <a:r>
              <a:rPr lang="zh-CN" altLang="en-US"/>
              <a:t>。</a:t>
            </a:r>
            <a:r>
              <a:rPr lang="en-US" altLang="zh-CN"/>
              <a:t>NumPy </a:t>
            </a:r>
            <a:r>
              <a:rPr lang="zh-CN" altLang="en-US"/>
              <a:t>行向量写法是 </a:t>
            </a:r>
            <a:r>
              <a:rPr lang="en-US" altLang="zh-CN"/>
              <a:t>P @ R.T + t</a:t>
            </a:r>
            <a:r>
              <a:rPr lang="zh-CN" altLang="en-US"/>
              <a:t>。</a:t>
            </a:r>
            <a:r>
              <a:rPr lang="en-US" altLang="zh-CN"/>
              <a:t>GT </a:t>
            </a:r>
            <a:r>
              <a:rPr lang="zh-CN" altLang="en-US"/>
              <a:t>只用于监督或评价，不作为推理输入。
来源：
</a:t>
            </a:r>
            <a:r>
              <a:rPr lang="en-US" altLang="zh-CN"/>
              <a:t>https://github.com/andyzeng/3dmatch-toolbox/blob/master/evaluation/geometric-registration/getGtInfoLog.m#L40-L46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605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现在保持 </a:t>
            </a:r>
            <a:r>
              <a:rPr lang="en-US" altLang="zh-CN"/>
              <a:t>Q </a:t>
            </a:r>
            <a:r>
              <a:rPr lang="zh-CN" altLang="en-US"/>
              <a:t>为同一个 </a:t>
            </a:r>
            <a:r>
              <a:rPr lang="en-US" altLang="zh-CN"/>
              <a:t>fragment 0</a:t>
            </a:r>
            <a:r>
              <a:rPr lang="zh-CN" altLang="en-US"/>
              <a:t>，把 </a:t>
            </a:r>
            <a:r>
              <a:rPr lang="en-US" altLang="zh-CN"/>
              <a:t>P </a:t>
            </a:r>
            <a:r>
              <a:rPr lang="zh-CN" altLang="en-US"/>
              <a:t>换成 </a:t>
            </a:r>
            <a:r>
              <a:rPr lang="en-US" altLang="zh-CN"/>
              <a:t>fragment 30</a:t>
            </a:r>
            <a:r>
              <a:rPr lang="zh-CN" altLang="en-US"/>
              <a:t>。这一对来自 </a:t>
            </a:r>
            <a:r>
              <a:rPr lang="en-US" altLang="zh-CN"/>
              <a:t>3DLoMatch</a:t>
            </a:r>
            <a:r>
              <a:rPr lang="zh-CN" altLang="en-US"/>
              <a:t>，</a:t>
            </a:r>
            <a:r>
              <a:rPr lang="en-US" altLang="zh-CN"/>
              <a:t>GeoTransformer metadata </a:t>
            </a:r>
            <a:r>
              <a:rPr lang="zh-CN" altLang="en-US"/>
              <a:t>的重叠值约为 </a:t>
            </a:r>
            <a:r>
              <a:rPr lang="en-US" altLang="zh-CN"/>
              <a:t>20%</a:t>
            </a:r>
            <a:r>
              <a:rPr lang="zh-CN" altLang="en-US"/>
              <a:t>。右图先按 </a:t>
            </a:r>
            <a:r>
              <a:rPr lang="en-US" altLang="zh-CN"/>
              <a:t>GT </a:t>
            </a:r>
            <a:r>
              <a:rPr lang="zh-CN" altLang="en-US"/>
              <a:t>对齐，再用绿色提示相互靠近的表面。可以看到，两个点云虽然属于同一厨房，却只有较小一部分能相互提供匹配证据；更多的表面仅出现在其中一个扫描里。这说明低重叠配准为什么比上一例更容易产生错误对应。
技术备注：</a:t>
            </a:r>
            <a:r>
              <a:rPr lang="en-US" altLang="zh-CN"/>
              <a:t>GeoTransformer </a:t>
            </a:r>
            <a:r>
              <a:rPr lang="zh-CN" altLang="en-US"/>
              <a:t>字段为 </a:t>
            </a:r>
            <a:r>
              <a:rPr lang="en-US" altLang="zh-CN"/>
              <a:t>19.93%</a:t>
            </a:r>
            <a:r>
              <a:rPr lang="zh-CN" altLang="en-US"/>
              <a:t>，</a:t>
            </a:r>
            <a:r>
              <a:rPr lang="en-US" altLang="zh-CN"/>
              <a:t>PREDATOR </a:t>
            </a:r>
            <a:r>
              <a:rPr lang="zh-CN" altLang="en-US"/>
              <a:t>字段为 </a:t>
            </a:r>
            <a:r>
              <a:rPr lang="en-US" altLang="zh-CN"/>
              <a:t>20.22%</a:t>
            </a:r>
            <a:r>
              <a:rPr lang="zh-CN" altLang="en-US"/>
              <a:t>，差异原因尚未完整复现。绿色使用 </a:t>
            </a:r>
            <a:r>
              <a:rPr lang="en-US" altLang="zh-CN"/>
              <a:t>GT </a:t>
            </a:r>
            <a:r>
              <a:rPr lang="zh-CN" altLang="en-US"/>
              <a:t>对齐后的 </a:t>
            </a:r>
            <a:r>
              <a:rPr lang="en-US" altLang="zh-CN"/>
              <a:t>5 cm </a:t>
            </a:r>
            <a:r>
              <a:rPr lang="zh-CN" altLang="en-US"/>
              <a:t>近邻规则，仅为几何展示，既不是官方 </a:t>
            </a:r>
            <a:r>
              <a:rPr lang="en-US" altLang="zh-CN"/>
              <a:t>overlap </a:t>
            </a:r>
            <a:r>
              <a:rPr lang="zh-CN" altLang="en-US"/>
              <a:t>的复算，也不是模型输入或预测。两例用于直观比较，并非只改变 </a:t>
            </a:r>
            <a:r>
              <a:rPr lang="en-US" altLang="zh-CN"/>
              <a:t>overlap </a:t>
            </a:r>
            <a:r>
              <a:rPr lang="zh-CN" altLang="en-US"/>
              <a:t>的单变量实验。
来源：
</a:t>
            </a:r>
            <a:r>
              <a:rPr lang="en-US" altLang="zh-CN"/>
              <a:t>https://github.com/qinzheng93/GeoTransformer/blob/e7a135af4c318ff3b8d7f6c963df094d7e4ea540/data/3DMatch/metadata/3DLoMatch.pkl
https://github.com/prs-eth/OverlapPredator/blob/8c78f125fc58d62ad7d149adf1fed43ed54937e4/configs/indoor/3DLoMatch.pkl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549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困难主要有两层。第一，非重叠部分本来就没有真实对应，特征匹配却仍可能给它找出一个看似相近的点。第二，室内有许多相似的平面、边缘和柜门，局部形状相似不代表它们是同一处位置。低重叠时，支持正确位姿的匹配更少，错误对应更容易影响估计。因此我们关注一个具体问题：在已有候选对应中，能否利用刚性几何关系，选出更可靠的一组？
技术备注：几何一致性是筛选证据，不保证单独消除全部歧义；重复结构也可能构成相互一致的错误对应。我们将通过固定测试协议衡量收益。
来源：
</a:t>
            </a:r>
            <a:r>
              <a:rPr lang="en-US" altLang="zh-CN"/>
              <a:t>https://arxiv.org/pdf/1603.08182
https://arxiv.org/abs/2011.13005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355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这些点云来自真实室内 </a:t>
            </a:r>
            <a:r>
              <a:rPr lang="en-US" altLang="zh-CN"/>
              <a:t>RGB-D </a:t>
            </a:r>
            <a:r>
              <a:rPr lang="zh-CN" altLang="en-US"/>
              <a:t>扫描。原始序列有颜色图、深度图、相机内参，以及重建得到的参考相机轨迹。官方程序利用参考轨迹，把连续 </a:t>
            </a:r>
            <a:r>
              <a:rPr lang="en-US" altLang="zh-CN"/>
              <a:t>50 </a:t>
            </a:r>
            <a:r>
              <a:rPr lang="zh-CN" altLang="en-US"/>
              <a:t>帧深度融合到同一个 </a:t>
            </a:r>
            <a:r>
              <a:rPr lang="en-US" altLang="zh-CN"/>
              <a:t>TSDF </a:t>
            </a:r>
            <a:r>
              <a:rPr lang="zh-CN" altLang="en-US"/>
              <a:t>体素网格，再提取局部表面点云，形成一个 </a:t>
            </a:r>
            <a:r>
              <a:rPr lang="en-US" altLang="zh-CN"/>
              <a:t>fragment</a:t>
            </a:r>
            <a:r>
              <a:rPr lang="zh-CN" altLang="en-US"/>
              <a:t>。它的坐标系取这段序列第一帧的相机坐标系。因此输入不是单张深度图，也不是完整房间模型，而是一小段扫描实际看到的表面。
技术备注：公开 </a:t>
            </a:r>
            <a:r>
              <a:rPr lang="en-US" altLang="zh-CN"/>
              <a:t>fragment </a:t>
            </a:r>
            <a:r>
              <a:rPr lang="zh-CN" altLang="en-US"/>
              <a:t>代码使用 </a:t>
            </a:r>
            <a:r>
              <a:rPr lang="en-US" altLang="zh-CN"/>
              <a:t>6 mm </a:t>
            </a:r>
            <a:r>
              <a:rPr lang="zh-CN" altLang="en-US"/>
              <a:t>体素与 </a:t>
            </a:r>
            <a:r>
              <a:rPr lang="en-US" altLang="zh-CN"/>
              <a:t>30 mm TSDF </a:t>
            </a:r>
            <a:r>
              <a:rPr lang="zh-CN" altLang="en-US"/>
              <a:t>截断距离，输出 </a:t>
            </a:r>
            <a:r>
              <a:rPr lang="en-US" altLang="zh-CN"/>
              <a:t>PLY </a:t>
            </a:r>
            <a:r>
              <a:rPr lang="zh-CN" altLang="en-US"/>
              <a:t>只有 </a:t>
            </a:r>
            <a:r>
              <a:rPr lang="en-US" altLang="zh-CN"/>
              <a:t>xyz</a:t>
            </a:r>
            <a:r>
              <a:rPr lang="zh-CN" altLang="en-US"/>
              <a:t>。</a:t>
            </a:r>
            <a:r>
              <a:rPr lang="en-US" altLang="zh-CN"/>
              <a:t>50 </a:t>
            </a:r>
            <a:r>
              <a:rPr lang="zh-CN" altLang="en-US"/>
              <a:t>帧描述本项目使用的场景配准 </a:t>
            </a:r>
            <a:r>
              <a:rPr lang="en-US" altLang="zh-CN"/>
              <a:t>fragment</a:t>
            </a:r>
            <a:r>
              <a:rPr lang="zh-CN" altLang="en-US"/>
              <a:t>，不应混同原论文的单帧局部 </a:t>
            </a:r>
            <a:r>
              <a:rPr lang="en-US" altLang="zh-CN"/>
              <a:t>patch </a:t>
            </a:r>
            <a:r>
              <a:rPr lang="zh-CN" altLang="en-US"/>
              <a:t>匹配任务。融合和轨迹均可能含误差。
来源：
</a:t>
            </a:r>
            <a:r>
              <a:rPr lang="en-US" altLang="zh-CN"/>
              <a:t>https://github.com/andyzeng/3dmatch-toolbox/blob/master/depth-fusion/fuseSceneFragments.m
https://github.com/andyzeng/3dmatch-toolbox/blob/master/depth-fusion/demo.cu
https://github.com/andyzeng/3dmatch-toolbox/blob/master/depth-fusion/utils.hpp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283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回到第一组真实数据，一个样本就可以具体写成三项：</a:t>
            </a:r>
            <a:r>
              <a:rPr lang="en-US" altLang="zh-CN"/>
              <a:t>P </a:t>
            </a:r>
            <a:r>
              <a:rPr lang="zh-CN" altLang="en-US"/>
              <a:t>是 </a:t>
            </a:r>
            <a:r>
              <a:rPr lang="en-US" altLang="zh-CN"/>
              <a:t>fragment 12 </a:t>
            </a:r>
            <a:r>
              <a:rPr lang="zh-CN" altLang="en-US"/>
              <a:t>的 </a:t>
            </a:r>
            <a:r>
              <a:rPr lang="en-US" altLang="zh-CN"/>
              <a:t>16341×3 </a:t>
            </a:r>
            <a:r>
              <a:rPr lang="zh-CN" altLang="en-US"/>
              <a:t>坐标数组，</a:t>
            </a:r>
            <a:r>
              <a:rPr lang="en-US" altLang="zh-CN"/>
              <a:t>Q </a:t>
            </a:r>
            <a:r>
              <a:rPr lang="zh-CN" altLang="en-US"/>
              <a:t>是 </a:t>
            </a:r>
            <a:r>
              <a:rPr lang="en-US" altLang="zh-CN"/>
              <a:t>fragment 0 </a:t>
            </a:r>
            <a:r>
              <a:rPr lang="zh-CN" altLang="en-US"/>
              <a:t>的 </a:t>
            </a:r>
            <a:r>
              <a:rPr lang="en-US" altLang="zh-CN"/>
              <a:t>18977×3 </a:t>
            </a:r>
            <a:r>
              <a:rPr lang="zh-CN" altLang="en-US"/>
              <a:t>坐标数组，标签是一个把 </a:t>
            </a:r>
            <a:r>
              <a:rPr lang="en-US" altLang="zh-CN"/>
              <a:t>P </a:t>
            </a:r>
            <a:r>
              <a:rPr lang="zh-CN" altLang="en-US"/>
              <a:t>转到 </a:t>
            </a:r>
            <a:r>
              <a:rPr lang="en-US" altLang="zh-CN"/>
              <a:t>Q </a:t>
            </a:r>
            <a:r>
              <a:rPr lang="zh-CN" altLang="en-US"/>
              <a:t>的 </a:t>
            </a:r>
            <a:r>
              <a:rPr lang="en-US" altLang="zh-CN"/>
              <a:t>4×4 </a:t>
            </a:r>
            <a:r>
              <a:rPr lang="zh-CN" altLang="en-US"/>
              <a:t>矩阵 </a:t>
            </a:r>
            <a:r>
              <a:rPr lang="en-US" altLang="zh-CN"/>
              <a:t>T*</a:t>
            </a:r>
            <a:r>
              <a:rPr lang="zh-CN" altLang="en-US"/>
              <a:t>。场景名、</a:t>
            </a:r>
            <a:r>
              <a:rPr lang="en-US" altLang="zh-CN"/>
              <a:t>fragment </a:t>
            </a:r>
            <a:r>
              <a:rPr lang="zh-CN" altLang="en-US"/>
              <a:t>编号和 </a:t>
            </a:r>
            <a:r>
              <a:rPr lang="en-US" altLang="zh-CN"/>
              <a:t>overlap </a:t>
            </a:r>
            <a:r>
              <a:rPr lang="zh-CN" altLang="en-US"/>
              <a:t>字段用于追溯与分析，不等于模型必须使用的输入。测试时我们交给算法的是 </a:t>
            </a:r>
            <a:r>
              <a:rPr lang="en-US" altLang="zh-CN"/>
              <a:t>P </a:t>
            </a:r>
            <a:r>
              <a:rPr lang="zh-CN" altLang="en-US"/>
              <a:t>和 </a:t>
            </a:r>
            <a:r>
              <a:rPr lang="en-US" altLang="zh-CN"/>
              <a:t>Q</a:t>
            </a:r>
            <a:r>
              <a:rPr lang="zh-CN" altLang="en-US"/>
              <a:t>，拿到预测变换后，再与封存的 </a:t>
            </a:r>
            <a:r>
              <a:rPr lang="en-US" altLang="zh-CN"/>
              <a:t>T* </a:t>
            </a:r>
            <a:r>
              <a:rPr lang="zh-CN" altLang="en-US"/>
              <a:t>按统一规则比较。
技术备注：点数来自实际提取的 </a:t>
            </a:r>
            <a:r>
              <a:rPr lang="en-US" altLang="zh-CN"/>
              <a:t>PREDATOR </a:t>
            </a:r>
            <a:r>
              <a:rPr lang="zh-CN" altLang="en-US"/>
              <a:t>预处理文件，其他预处理或下采样可改变点数。本地 </a:t>
            </a:r>
            <a:r>
              <a:rPr lang="en-US" altLang="zh-CN"/>
              <a:t>npy </a:t>
            </a:r>
            <a:r>
              <a:rPr lang="zh-CN" altLang="en-US"/>
              <a:t>不含颜色、类别或逐点 </a:t>
            </a:r>
            <a:r>
              <a:rPr lang="en-US" altLang="zh-CN"/>
              <a:t>GT </a:t>
            </a:r>
            <a:r>
              <a:rPr lang="zh-CN" altLang="en-US"/>
              <a:t>对应，</a:t>
            </a:r>
            <a:r>
              <a:rPr lang="en-US" altLang="zh-CN"/>
              <a:t>T* </a:t>
            </a:r>
            <a:r>
              <a:rPr lang="zh-CN" altLang="en-US"/>
              <a:t>在两套作者 </a:t>
            </a:r>
            <a:r>
              <a:rPr lang="en-US" altLang="zh-CN"/>
              <a:t>metadata </a:t>
            </a:r>
            <a:r>
              <a:rPr lang="zh-CN" altLang="en-US"/>
              <a:t>中完全一致。
来源：
</a:t>
            </a:r>
            <a:r>
              <a:rPr lang="en-US" altLang="zh-CN"/>
              <a:t>https://share.phys.ethz.ch/~gseg/Predator/data.zip
https://github.com/qinzheng93/GeoTransformer/blob/e7a135af4c318ff3b8d7f6c963df094d7e4ea540/data/3DMatch/metadata/3DMatch.pkl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371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3DMatch </a:t>
            </a:r>
            <a:r>
              <a:rPr lang="zh-CN" altLang="en-US"/>
              <a:t>和 </a:t>
            </a:r>
            <a:r>
              <a:rPr lang="en-US" altLang="zh-CN"/>
              <a:t>3DLoMatch </a:t>
            </a:r>
            <a:r>
              <a:rPr lang="zh-CN" altLang="en-US"/>
              <a:t>使用同一批八个真实室内测试场景，主要区别是选取的配对难度。当前固定的作者 </a:t>
            </a:r>
            <a:r>
              <a:rPr lang="en-US" altLang="zh-CN"/>
              <a:t>metadata </a:t>
            </a:r>
            <a:r>
              <a:rPr lang="zh-CN" altLang="en-US"/>
              <a:t>中，</a:t>
            </a:r>
            <a:r>
              <a:rPr lang="en-US" altLang="zh-CN"/>
              <a:t>3DMatch </a:t>
            </a:r>
            <a:r>
              <a:rPr lang="zh-CN" altLang="en-US"/>
              <a:t>有 </a:t>
            </a:r>
            <a:r>
              <a:rPr lang="en-US" altLang="zh-CN"/>
              <a:t>1623 </a:t>
            </a:r>
            <a:r>
              <a:rPr lang="zh-CN" altLang="en-US"/>
              <a:t>对，标称关注重叠超过 </a:t>
            </a:r>
            <a:r>
              <a:rPr lang="en-US" altLang="zh-CN"/>
              <a:t>30% </a:t>
            </a:r>
            <a:r>
              <a:rPr lang="zh-CN" altLang="en-US"/>
              <a:t>的情况；</a:t>
            </a:r>
            <a:r>
              <a:rPr lang="en-US" altLang="zh-CN"/>
              <a:t>3DLoMatch </a:t>
            </a:r>
            <a:r>
              <a:rPr lang="zh-CN" altLang="en-US"/>
              <a:t>有 </a:t>
            </a:r>
            <a:r>
              <a:rPr lang="en-US" altLang="zh-CN"/>
              <a:t>1781 </a:t>
            </a:r>
            <a:r>
              <a:rPr lang="zh-CN" altLang="en-US"/>
              <a:t>对，标称关注 </a:t>
            </a:r>
            <a:r>
              <a:rPr lang="en-US" altLang="zh-CN"/>
              <a:t>10% </a:t>
            </a:r>
            <a:r>
              <a:rPr lang="zh-CN" altLang="en-US"/>
              <a:t>到 </a:t>
            </a:r>
            <a:r>
              <a:rPr lang="en-US" altLang="zh-CN"/>
              <a:t>30% </a:t>
            </a:r>
            <a:r>
              <a:rPr lang="zh-CN" altLang="en-US"/>
              <a:t>的低重叠情况。我们的主目标是改善后一组，并在前一组检查性能是否下降。实验将沿用固定列表，不根据我们自己重算的数字临时更换样本。
技术备注：本地 </a:t>
            </a:r>
            <a:r>
              <a:rPr lang="en-US" altLang="zh-CN"/>
              <a:t>registration_audit.json </a:t>
            </a:r>
            <a:r>
              <a:rPr lang="zh-CN" altLang="en-US"/>
              <a:t>核实这两份列表共享 </a:t>
            </a:r>
            <a:r>
              <a:rPr lang="en-US" altLang="zh-CN"/>
              <a:t>100 </a:t>
            </a:r>
            <a:r>
              <a:rPr lang="zh-CN" altLang="en-US"/>
              <a:t>个完全相同的有向 </a:t>
            </a:r>
            <a:r>
              <a:rPr lang="en-US" altLang="zh-CN"/>
              <a:t>pair</a:t>
            </a:r>
            <a:r>
              <a:rPr lang="zh-CN" altLang="en-US"/>
              <a:t>，不能称为互不相交。当前 </a:t>
            </a:r>
            <a:r>
              <a:rPr lang="en-US" altLang="zh-CN"/>
              <a:t>overlap </a:t>
            </a:r>
            <a:r>
              <a:rPr lang="zh-CN" altLang="en-US"/>
              <a:t>字段存在越过标称区间的记录，且两作者仓库字段值有差异；标称协议与当前字段逐项取值应区分。固定版本为 </a:t>
            </a:r>
            <a:r>
              <a:rPr lang="en-US" altLang="zh-CN"/>
              <a:t>GeoTransformer e7a135af4c318ff3b8d7f6c963df094d7e4ea540</a:t>
            </a:r>
            <a:r>
              <a:rPr lang="zh-CN" altLang="en-US"/>
              <a:t>。
来源：
</a:t>
            </a:r>
            <a:r>
              <a:rPr lang="en-US" altLang="zh-CN"/>
              <a:t>https://arxiv.org/abs/2011.13005
https://github.com/qinzheng93/GeoTransformer/tree/e7a135af4c318ff3b8d7f6c963df094d7e4ea540/data/3DMatch/metadata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179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图里每组柱子对应一个测试场景，可以看到场景间的配对数量相差很大。例如 </a:t>
            </a:r>
            <a:r>
              <a:rPr lang="en-US" altLang="zh-CN"/>
              <a:t>RedKitchen </a:t>
            </a:r>
            <a:r>
              <a:rPr lang="zh-CN" altLang="en-US"/>
              <a:t>两份列表分别有 </a:t>
            </a:r>
            <a:r>
              <a:rPr lang="en-US" altLang="zh-CN"/>
              <a:t>506 </a:t>
            </a:r>
            <a:r>
              <a:rPr lang="zh-CN" altLang="en-US"/>
              <a:t>对和 </a:t>
            </a:r>
            <a:r>
              <a:rPr lang="en-US" altLang="zh-CN"/>
              <a:t>525 </a:t>
            </a:r>
            <a:r>
              <a:rPr lang="zh-CN" altLang="en-US"/>
              <a:t>对，而 </a:t>
            </a:r>
            <a:r>
              <a:rPr lang="en-US" altLang="zh-CN"/>
              <a:t>Maryland Hotel 3 </a:t>
            </a:r>
            <a:r>
              <a:rPr lang="zh-CN" altLang="en-US"/>
              <a:t>只有 </a:t>
            </a:r>
            <a:r>
              <a:rPr lang="en-US" altLang="zh-CN"/>
              <a:t>54 </a:t>
            </a:r>
            <a:r>
              <a:rPr lang="zh-CN" altLang="en-US"/>
              <a:t>对和 </a:t>
            </a:r>
            <a:r>
              <a:rPr lang="en-US" altLang="zh-CN"/>
              <a:t>49 </a:t>
            </a:r>
            <a:r>
              <a:rPr lang="zh-CN" altLang="en-US"/>
              <a:t>对。若把所有成功样本直接相加，大场景会获得更高权重。因此我们既查看每个场景的表现，也按官方方式对八个场景等权平均，让结论不会只由某个样本多的场景决定。
技术备注：柱图表示加载列表数量，不是 </a:t>
            </a:r>
            <a:r>
              <a:rPr lang="en-US" altLang="zh-CN"/>
              <a:t>RR </a:t>
            </a:r>
            <a:r>
              <a:rPr lang="zh-CN" altLang="en-US"/>
              <a:t>有效分母。八场景依序为 </a:t>
            </a:r>
            <a:r>
              <a:rPr lang="en-US" altLang="zh-CN"/>
              <a:t>RedKitchen</a:t>
            </a:r>
            <a:r>
              <a:rPr lang="zh-CN" altLang="en-US"/>
              <a:t>、</a:t>
            </a:r>
            <a:r>
              <a:rPr lang="en-US" altLang="zh-CN"/>
              <a:t>Home AT</a:t>
            </a:r>
            <a:r>
              <a:rPr lang="zh-CN" altLang="en-US"/>
              <a:t>、</a:t>
            </a:r>
            <a:r>
              <a:rPr lang="en-US" altLang="zh-CN"/>
              <a:t>Home MD</a:t>
            </a:r>
            <a:r>
              <a:rPr lang="zh-CN" altLang="en-US"/>
              <a:t>、</a:t>
            </a:r>
            <a:r>
              <a:rPr lang="en-US" altLang="zh-CN"/>
              <a:t>Hotel UC</a:t>
            </a:r>
            <a:r>
              <a:rPr lang="zh-CN" altLang="en-US"/>
              <a:t>、</a:t>
            </a:r>
            <a:r>
              <a:rPr lang="en-US" altLang="zh-CN"/>
              <a:t>Hotel UMD 1</a:t>
            </a:r>
            <a:r>
              <a:rPr lang="zh-CN" altLang="en-US"/>
              <a:t>、</a:t>
            </a:r>
            <a:r>
              <a:rPr lang="en-US" altLang="zh-CN"/>
              <a:t>Hotel UMD 3</a:t>
            </a:r>
            <a:r>
              <a:rPr lang="zh-CN" altLang="en-US"/>
              <a:t>、</a:t>
            </a:r>
            <a:r>
              <a:rPr lang="en-US" altLang="zh-CN"/>
              <a:t>Studyroom</a:t>
            </a:r>
            <a:r>
              <a:rPr lang="zh-CN" altLang="en-US"/>
              <a:t>、</a:t>
            </a:r>
            <a:r>
              <a:rPr lang="en-US" altLang="zh-CN"/>
              <a:t>Lab</a:t>
            </a:r>
            <a:r>
              <a:rPr lang="zh-CN" altLang="en-US"/>
              <a:t>，</a:t>
            </a:r>
            <a:r>
              <a:rPr lang="en-US" altLang="zh-CN"/>
              <a:t>Match </a:t>
            </a:r>
            <a:r>
              <a:rPr lang="zh-CN" altLang="en-US"/>
              <a:t>数量为 </a:t>
            </a:r>
            <a:r>
              <a:rPr lang="en-US" altLang="zh-CN"/>
              <a:t>506/156/208/226/104/54/292/77</a:t>
            </a:r>
            <a:r>
              <a:rPr lang="zh-CN" altLang="en-US"/>
              <a:t>，</a:t>
            </a:r>
            <a:r>
              <a:rPr lang="en-US" altLang="zh-CN"/>
              <a:t>Lo </a:t>
            </a:r>
            <a:r>
              <a:rPr lang="zh-CN" altLang="en-US"/>
              <a:t>为 </a:t>
            </a:r>
            <a:r>
              <a:rPr lang="en-US" altLang="zh-CN"/>
              <a:t>525/289/230/218/158/49/240/72</a:t>
            </a:r>
            <a:r>
              <a:rPr lang="zh-CN" altLang="en-US"/>
              <a:t>。本地旧 </a:t>
            </a:r>
            <a:r>
              <a:rPr lang="en-US" altLang="zh-CN"/>
              <a:t>audit </a:t>
            </a:r>
            <a:r>
              <a:rPr lang="zh-CN" altLang="en-US"/>
              <a:t>还发现当前 </a:t>
            </a:r>
            <a:r>
              <a:rPr lang="en-US" altLang="zh-CN"/>
              <a:t>train/val </a:t>
            </a:r>
            <a:r>
              <a:rPr lang="zh-CN" altLang="en-US"/>
              <a:t>在 </a:t>
            </a:r>
            <a:r>
              <a:rPr lang="en-US" altLang="zh-CN"/>
              <a:t>analysis-by-synthesis-apt2-kitchen </a:t>
            </a:r>
            <a:r>
              <a:rPr lang="zh-CN" altLang="en-US"/>
              <a:t>共享 </a:t>
            </a:r>
            <a:r>
              <a:rPr lang="en-US" altLang="zh-CN"/>
              <a:t>75 </a:t>
            </a:r>
            <a:r>
              <a:rPr lang="zh-CN" altLang="en-US"/>
              <a:t>个 </a:t>
            </a:r>
            <a:r>
              <a:rPr lang="en-US" altLang="zh-CN"/>
              <a:t>pair</a:t>
            </a:r>
            <a:r>
              <a:rPr lang="zh-CN" altLang="en-US"/>
              <a:t>、</a:t>
            </a:r>
            <a:r>
              <a:rPr lang="en-US" altLang="zh-CN"/>
              <a:t>19 </a:t>
            </a:r>
            <a:r>
              <a:rPr lang="zh-CN" altLang="en-US"/>
              <a:t>个 </a:t>
            </a:r>
            <a:r>
              <a:rPr lang="en-US" altLang="zh-CN"/>
              <a:t>fragment</a:t>
            </a:r>
            <a:r>
              <a:rPr lang="zh-CN" altLang="en-US"/>
              <a:t>；训练与验证的 </a:t>
            </a:r>
            <a:r>
              <a:rPr lang="en-US" altLang="zh-CN"/>
              <a:t>scene/sequence </a:t>
            </a:r>
            <a:r>
              <a:rPr lang="zh-CN" altLang="en-US"/>
              <a:t>命名粒度也不能直接等同论文 </a:t>
            </a:r>
            <a:r>
              <a:rPr lang="en-US" altLang="zh-CN"/>
              <a:t>46/8/8</a:t>
            </a:r>
            <a:r>
              <a:rPr lang="zh-CN" altLang="en-US"/>
              <a:t>。该发现不等于已证明历史论文实验泄漏；本项目调参或训练前必须固定互斥的场景划分，测试场景不用于调参。
来源：
</a:t>
            </a:r>
            <a:r>
              <a:rPr lang="en-US" altLang="zh-CN"/>
              <a:t>https://github.com/qinzheng93/GeoTransformer/tree/e7a135af4c318ff3b8d7f6c963df094d7e4ea540/data/3DMatch/metadata
https://github.com/qinzheng93/GeoTransformer/blob/e7a135af4c318ff3b8d7f6c963df094d7e4ea540/experiments/geotransformer.3dmatch.stage4.gse.k3.max.oacl.stage2.sinkhorn/eval.py#L245-L306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618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数据集构建者拥有参考轨迹，因此知道 </a:t>
            </a:r>
            <a:r>
              <a:rPr lang="en-US" altLang="zh-CN"/>
              <a:t>P</a:t>
            </a:r>
            <a:r>
              <a:rPr lang="zh-CN" altLang="en-US"/>
              <a:t>、</a:t>
            </a:r>
            <a:r>
              <a:rPr lang="en-US" altLang="zh-CN"/>
              <a:t>Q </a:t>
            </a:r>
            <a:r>
              <a:rPr lang="zh-CN" altLang="en-US"/>
              <a:t>各自怎样变换到同一个世界坐标系。要把 </a:t>
            </a:r>
            <a:r>
              <a:rPr lang="en-US" altLang="zh-CN"/>
              <a:t>P </a:t>
            </a:r>
            <a:r>
              <a:rPr lang="zh-CN" altLang="en-US"/>
              <a:t>转到 </a:t>
            </a:r>
            <a:r>
              <a:rPr lang="en-US" altLang="zh-CN"/>
              <a:t>Q</a:t>
            </a:r>
            <a:r>
              <a:rPr lang="zh-CN" altLang="en-US"/>
              <a:t>，只需先从 </a:t>
            </a:r>
            <a:r>
              <a:rPr lang="en-US" altLang="zh-CN"/>
              <a:t>P </a:t>
            </a:r>
            <a:r>
              <a:rPr lang="zh-CN" altLang="en-US"/>
              <a:t>到世界，再从世界到 </a:t>
            </a:r>
            <a:r>
              <a:rPr lang="en-US" altLang="zh-CN"/>
              <a:t>Q</a:t>
            </a:r>
            <a:r>
              <a:rPr lang="zh-CN" altLang="en-US"/>
              <a:t>：</a:t>
            </a:r>
            <a:r>
              <a:rPr lang="en-US" altLang="zh-CN"/>
              <a:t>T* = inv(T_WQ) T_WP</a:t>
            </a:r>
            <a:r>
              <a:rPr lang="zh-CN" altLang="en-US"/>
              <a:t>。每块 </a:t>
            </a:r>
            <a:r>
              <a:rPr lang="en-US" altLang="zh-CN"/>
              <a:t>fragment </a:t>
            </a:r>
            <a:r>
              <a:rPr lang="zh-CN" altLang="en-US"/>
              <a:t>的世界位姿来自它所用第一帧的已有相机位姿，官方程序将二者组合成 </a:t>
            </a:r>
            <a:r>
              <a:rPr lang="en-US" altLang="zh-CN"/>
              <a:t>pair </a:t>
            </a:r>
            <a:r>
              <a:rPr lang="zh-CN" altLang="en-US"/>
              <a:t>的 </a:t>
            </a:r>
            <a:r>
              <a:rPr lang="en-US" altLang="zh-CN"/>
              <a:t>GT</a:t>
            </a:r>
            <a:r>
              <a:rPr lang="zh-CN" altLang="en-US"/>
              <a:t>。算法测试时看不到这些轨迹，只能从两个局部点云恢复相对变换。
技术备注：</a:t>
            </a:r>
            <a:r>
              <a:rPr lang="en-US" altLang="zh-CN"/>
              <a:t>T_WP</a:t>
            </a:r>
            <a:r>
              <a:rPr lang="zh-CN" altLang="en-US"/>
              <a:t>、</a:t>
            </a:r>
            <a:r>
              <a:rPr lang="en-US" altLang="zh-CN"/>
              <a:t>T_WQ </a:t>
            </a:r>
            <a:r>
              <a:rPr lang="zh-CN" altLang="en-US"/>
              <a:t>分别表示 </a:t>
            </a:r>
            <a:r>
              <a:rPr lang="en-US" altLang="zh-CN"/>
              <a:t>P→W</a:t>
            </a:r>
            <a:r>
              <a:rPr lang="zh-CN" altLang="en-US"/>
              <a:t>、</a:t>
            </a:r>
            <a:r>
              <a:rPr lang="en-US" altLang="zh-CN"/>
              <a:t>Q→W</a:t>
            </a:r>
            <a:r>
              <a:rPr lang="zh-CN" altLang="en-US"/>
              <a:t>，公式按列向量约定。</a:t>
            </a:r>
            <a:r>
              <a:rPr lang="en-US" altLang="zh-CN"/>
              <a:t>GT </a:t>
            </a:r>
            <a:r>
              <a:rPr lang="zh-CN" altLang="en-US"/>
              <a:t>来源于已有 </a:t>
            </a:r>
            <a:r>
              <a:rPr lang="en-US" altLang="zh-CN"/>
              <a:t>RGB-D </a:t>
            </a:r>
            <a:r>
              <a:rPr lang="zh-CN" altLang="en-US"/>
              <a:t>重建与位姿，不是逐点人工标注，也不能说是无误差的外部测量。</a:t>
            </a:r>
            <a:r>
              <a:rPr lang="en-US" altLang="zh-CN"/>
              <a:t>GT </a:t>
            </a:r>
            <a:r>
              <a:rPr lang="zh-CN" altLang="en-US"/>
              <a:t>对齐后仍可能存在传感器噪声、融合误差及局部残差。
来源：
</a:t>
            </a:r>
            <a:r>
              <a:rPr lang="en-US" altLang="zh-CN"/>
              <a:t>https://github.com/andyzeng/3dmatch-toolbox/blob/master/depth-fusion/fuseSceneFragments.m#L63-L67
https://github.com/andyzeng/3dmatch-toolbox/blob/master/evaluation/geometric-registration/getGtInfoLog.m#L40-L46
https://arxiv.org/pdf/1603.08182
</a:t>
            </a:r>
            <a:r>
              <a:rPr lang="zh-CN" altLang="en-US"/>
              <a:t>图中简写 </a:t>
            </a:r>
            <a:r>
              <a:rPr lang="en-US" altLang="zh-CN"/>
              <a:t>T_P = T_W←P</a:t>
            </a:r>
            <a:r>
              <a:rPr lang="zh-CN" altLang="en-US"/>
              <a:t>，</a:t>
            </a:r>
            <a:r>
              <a:rPr lang="en-US" altLang="zh-CN"/>
              <a:t>T_Q = T_W←Q</a:t>
            </a:r>
            <a:r>
              <a:rPr lang="zh-CN" altLang="en-US"/>
              <a:t>；两者均为 </a:t>
            </a:r>
            <a:r>
              <a:rPr lang="en-US" altLang="zh-CN"/>
              <a:t>fragment-to-world </a:t>
            </a:r>
            <a:r>
              <a:rPr lang="zh-CN" altLang="en-US"/>
              <a:t>参考位姿。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643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我们使用 </a:t>
            </a:r>
            <a:r>
              <a:rPr lang="en-US" altLang="zh-CN"/>
              <a:t>Registration Recall</a:t>
            </a:r>
            <a:r>
              <a:rPr lang="zh-CN" altLang="en-US"/>
              <a:t>，简称 </a:t>
            </a:r>
            <a:r>
              <a:rPr lang="en-US" altLang="zh-CN"/>
              <a:t>RR</a:t>
            </a:r>
            <a:r>
              <a:rPr lang="zh-CN" altLang="en-US"/>
              <a:t>，回答有多少点云对被成功配准。对每个纳入评测的 </a:t>
            </a:r>
            <a:r>
              <a:rPr lang="en-US" altLang="zh-CN"/>
              <a:t>pair</a:t>
            </a:r>
            <a:r>
              <a:rPr lang="zh-CN" altLang="en-US"/>
              <a:t>，把预测变换代入官方误差计算，误差小于 </a:t>
            </a:r>
            <a:r>
              <a:rPr lang="en-US" altLang="zh-CN"/>
              <a:t>0.2 </a:t>
            </a:r>
            <a:r>
              <a:rPr lang="zh-CN" altLang="en-US"/>
              <a:t>米就记为成功；先算各场景的成功比例，再对八个场景等权平均。这里评价的是变换是否正确，不能直接拿两块点云之间的最近邻距离代替，因为大量非重叠表面本来就找不到对应。
技术备注：固定 </a:t>
            </a:r>
            <a:r>
              <a:rPr lang="en-US" altLang="zh-CN"/>
              <a:t>GeoTransformer </a:t>
            </a:r>
            <a:r>
              <a:rPr lang="zh-CN" altLang="en-US"/>
              <a:t>标准 </a:t>
            </a:r>
            <a:r>
              <a:rPr lang="en-US" altLang="zh-CN"/>
              <a:t>eval.py </a:t>
            </a:r>
            <a:r>
              <a:rPr lang="zh-CN" altLang="en-US"/>
              <a:t>的严格小于判定。其误差用 </a:t>
            </a:r>
            <a:r>
              <a:rPr lang="en-US" altLang="zh-CN"/>
              <a:t>GT </a:t>
            </a:r>
            <a:r>
              <a:rPr lang="zh-CN" altLang="en-US"/>
              <a:t>信息矩阵及相对位姿的平移、四元数向量分量构成归一化二次型，近似 </a:t>
            </a:r>
            <a:r>
              <a:rPr lang="en-US" altLang="zh-CN"/>
              <a:t>GT </a:t>
            </a:r>
            <a:r>
              <a:rPr lang="zh-CN" altLang="en-US"/>
              <a:t>对应重对齐 </a:t>
            </a:r>
            <a:r>
              <a:rPr lang="en-US" altLang="zh-CN"/>
              <a:t>RMSE²</a:t>
            </a:r>
            <a:r>
              <a:rPr lang="zh-CN" altLang="en-US"/>
              <a:t>，并非平移误差或 </a:t>
            </a:r>
            <a:r>
              <a:rPr lang="en-US" altLang="zh-CN"/>
              <a:t>Chamfer</a:t>
            </a:r>
            <a:r>
              <a:rPr lang="zh-CN" altLang="en-US"/>
              <a:t>。官方排除 </a:t>
            </a:r>
            <a:r>
              <a:rPr lang="en-US" altLang="zh-CN"/>
              <a:t>fragment </a:t>
            </a:r>
            <a:r>
              <a:rPr lang="zh-CN" altLang="en-US"/>
              <a:t>编号相邻的 </a:t>
            </a:r>
            <a:r>
              <a:rPr lang="en-US" altLang="zh-CN"/>
              <a:t>pair</a:t>
            </a:r>
            <a:r>
              <a:rPr lang="zh-CN" altLang="en-US"/>
              <a:t>，谓词为 </a:t>
            </a:r>
            <a:r>
              <a:rPr lang="en-US" altLang="zh-CN"/>
              <a:t>id1 &gt; id0 + 1</a:t>
            </a:r>
            <a:r>
              <a:rPr lang="zh-CN" altLang="en-US"/>
              <a:t>；本地 </a:t>
            </a:r>
            <a:r>
              <a:rPr lang="en-US" altLang="zh-CN"/>
              <a:t>rr_protocol_audit.json </a:t>
            </a:r>
            <a:r>
              <a:rPr lang="zh-CN" altLang="en-US"/>
              <a:t>按固定 </a:t>
            </a:r>
            <a:r>
              <a:rPr lang="en-US" altLang="zh-CN"/>
              <a:t>metadata </a:t>
            </a:r>
            <a:r>
              <a:rPr lang="zh-CN" altLang="en-US"/>
              <a:t>核验后，</a:t>
            </a:r>
            <a:r>
              <a:rPr lang="en-US" altLang="zh-CN"/>
              <a:t>Match/Lo </a:t>
            </a:r>
            <a:r>
              <a:rPr lang="zh-CN" altLang="en-US"/>
              <a:t>有效 </a:t>
            </a:r>
            <a:r>
              <a:rPr lang="en-US" altLang="zh-CN"/>
              <a:t>RR </a:t>
            </a:r>
            <a:r>
              <a:rPr lang="zh-CN" altLang="en-US"/>
              <a:t>分母分别为 </a:t>
            </a:r>
            <a:r>
              <a:rPr lang="en-US" altLang="zh-CN"/>
              <a:t>1279/1726</a:t>
            </a:r>
            <a:r>
              <a:rPr lang="zh-CN" altLang="en-US"/>
              <a:t>，而加载列表为 </a:t>
            </a:r>
            <a:r>
              <a:rPr lang="en-US" altLang="zh-CN"/>
              <a:t>1623/1781</a:t>
            </a:r>
            <a:r>
              <a:rPr lang="zh-CN" altLang="en-US"/>
              <a:t>。应完整提交各 </a:t>
            </a:r>
            <a:r>
              <a:rPr lang="en-US" altLang="zh-CN"/>
              <a:t>pair </a:t>
            </a:r>
            <a:r>
              <a:rPr lang="zh-CN" altLang="en-US"/>
              <a:t>预测并复用同一评测器，不能自行混用分母。
来源：
</a:t>
            </a:r>
            <a:r>
              <a:rPr lang="en-US" altLang="zh-CN"/>
              <a:t>https://github.com/qinzheng93/GeoTransformer/blob/e7a135af4c318ff3b8d7f6c963df094d7e4ea540/geotransformer/datasets/registration/threedmatch/utils.py#L108-L126
https://github.com/qinzheng93/GeoTransformer/blob/e7a135af4c318ff3b8d7f6c963df094d7e4ea540/experiments/geotransformer.3dmatch.stage4.gse.k3.max.oacl.stage2.sinkhorn/eval.py#L173-L185
https://github.com/qinzheng93/GeoTransformer/blob/e7a135af4c318ff3b8d7f6c963df094d7e4ea540/experiments/geotransformer.3dmatch.stage4.gse.k3.max.oacl.stage2.sinkhorn/eval.py#L245-L306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63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实验先固定一个已有的预训练特征提取器，由同一套特征匹配得到候选对应池。基线按原有匹配分数选出 </a:t>
            </a:r>
            <a:r>
              <a:rPr lang="en-US" altLang="zh-CN"/>
              <a:t>K </a:t>
            </a:r>
            <a:r>
              <a:rPr lang="zh-CN" altLang="en-US"/>
              <a:t>个对应；我们的版本加入几何一致性筛选，也保留 </a:t>
            </a:r>
            <a:r>
              <a:rPr lang="en-US" altLang="zh-CN"/>
              <a:t>K </a:t>
            </a:r>
            <a:r>
              <a:rPr lang="zh-CN" altLang="en-US"/>
              <a:t>个，再交给同样的 </a:t>
            </a:r>
            <a:r>
              <a:rPr lang="en-US" altLang="zh-CN"/>
              <a:t>RANSAC </a:t>
            </a:r>
            <a:r>
              <a:rPr lang="zh-CN" altLang="en-US"/>
              <a:t>求 </a:t>
            </a:r>
            <a:r>
              <a:rPr lang="en-US" altLang="zh-CN"/>
              <a:t>R</a:t>
            </a:r>
            <a:r>
              <a:rPr lang="zh-CN" altLang="en-US"/>
              <a:t>、</a:t>
            </a:r>
            <a:r>
              <a:rPr lang="en-US" altLang="zh-CN"/>
              <a:t>t</a:t>
            </a:r>
            <a:r>
              <a:rPr lang="zh-CN" altLang="en-US"/>
              <a:t>。主要比较 </a:t>
            </a:r>
            <a:r>
              <a:rPr lang="en-US" altLang="zh-CN"/>
              <a:t>3DLoMatch </a:t>
            </a:r>
            <a:r>
              <a:rPr lang="zh-CN" altLang="en-US"/>
              <a:t>的 </a:t>
            </a:r>
            <a:r>
              <a:rPr lang="en-US" altLang="zh-CN"/>
              <a:t>RR</a:t>
            </a:r>
            <a:r>
              <a:rPr lang="zh-CN" altLang="en-US"/>
              <a:t>，同时报告 </a:t>
            </a:r>
            <a:r>
              <a:rPr lang="en-US" altLang="zh-CN"/>
              <a:t>3DMatch</a:t>
            </a:r>
            <a:r>
              <a:rPr lang="zh-CN" altLang="en-US"/>
              <a:t>、各场景结果和运行时间。这样我们能回答一个边界清楚的问题：改变对应筛选，是否让低重叠配准更可靠？
技术备注：保持输入预处理、特征权重、候选池、保留数量 </a:t>
            </a:r>
            <a:r>
              <a:rPr lang="en-US" altLang="zh-CN"/>
              <a:t>K</a:t>
            </a:r>
            <a:r>
              <a:rPr lang="zh-CN" altLang="en-US"/>
              <a:t>、</a:t>
            </a:r>
            <a:r>
              <a:rPr lang="en-US" altLang="zh-CN"/>
              <a:t>RANSAC </a:t>
            </a:r>
            <a:r>
              <a:rPr lang="zh-CN" altLang="en-US"/>
              <a:t>阈值和求解预算一致；候选不足时两分支使用相同上限。配对随机种子并报告重复运行波动，新增筛选时间计入总耗时。阈值只在固定且与测试互斥的验证场景选择；</a:t>
            </a:r>
            <a:r>
              <a:rPr lang="en-US" altLang="zh-CN"/>
              <a:t>GT </a:t>
            </a:r>
            <a:r>
              <a:rPr lang="zh-CN" altLang="en-US"/>
              <a:t>和展示用绿色区域不参与筛选。几何一致性是已有思路，本开题不声称其本身新颖。
来源：
</a:t>
            </a:r>
            <a:r>
              <a:rPr lang="en-US" altLang="zh-CN"/>
              <a:t>https://arxiv.org/pdf/1603.08182
https://github.com/qinzheng93/GeoTransformer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99BD-7CED-464E-B577-C52C03E3AAA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647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BD9F5-FC7D-DF55-227D-0F999B56A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2804ED-65DE-15E2-B30C-7CED0B348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51E41C-856E-BDBD-4127-57240420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D6F055-7A51-928B-420F-DFEC4710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8570EF-0F62-0AAB-9BEF-5E69DA48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37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0F608-B0A5-10C0-17E3-13EDD644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B28A38-8B5C-F66A-6631-39F95942F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937089-1E76-D1ED-7047-B8B68B55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DD198B-3697-012D-878A-115B286B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4E595-4E4E-0410-51E2-E6824E80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4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77F2A-83F0-054D-2293-FF13A3CB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1A0F3B-9B32-86DB-AD33-39DC635E4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219853-FF51-D416-2DEC-252F397E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3DA6B-3DB2-399C-6395-551BF5CC8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7E31C-9F86-6F2C-7E28-274803D6C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58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AC4D9-0750-F8DC-3BC6-0A1145ACE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FC2A6B-04B4-B80C-D7AC-C36F0A8C4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B80F5B-EBED-F34B-B65A-0979598A3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DF0985-BBB6-806F-80C6-1756BA7D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6C7347-BE95-4B65-B852-2F66AA36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8613B1-DFD8-285F-AEA7-703231BEE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45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ACCF6-B699-2039-15F0-B6FCCF0DF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DB144-33D2-3DA9-B300-1A3F22901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620B25-4F2C-FF26-E5FA-F8E953CFA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6A2C58-C915-86E3-734B-7D21E86C5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51B7C0-CA42-8389-D818-6CF7CD6FB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EBD492-90E3-ED1A-C0B0-FDCBFE70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CE3119-D2E2-AC33-7278-D7CD28251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CC8AE8-4891-449E-0533-79129DEB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55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FAA46A-90CE-4071-5185-269E45AD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357089-B905-E4BF-6587-D3F011BA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DD6D71-F993-9B9F-2B79-CDCAF12C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E7D508-F761-E518-E660-B10E5154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11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1E98E5-365F-3EDE-5C11-E30DB45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62136D-2020-F84D-595A-6B8F9221D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FC0A68-9836-3687-72F7-25FB6BD5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93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E80FB-D7A8-288B-65D5-0A1F2AC40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C5182-5E2E-0192-EC31-963A04284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693FF2-4211-D4AE-BCCA-9FFB8BD4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7FE70C-AD7A-1025-1C46-C7D8C07B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3872A6-74B2-A7C6-E4A9-6FBAE890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A90920-ADA3-B347-9B6D-43896B8D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27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84022-96B0-70FB-1215-2B600B2F6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D145C3-9BC3-57EC-97FD-FFF18B23DD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CE9068-2F20-742A-3DE0-69E52966C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646D00-86C5-7ABA-C237-28598F6B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AFAFF8-BA33-4C15-75CA-2F7B5C5D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BBA469-DBE8-9EB5-9A88-4D79EA88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10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D32BD-0B8A-A154-F69D-15123382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C64AAD-7D52-9D1B-F1E6-A790A1057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3AF9AE-F07C-437B-A307-DD3E1E89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680FF6-BD35-DAEA-C873-5B1B6746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9B942-6B92-45A0-4CE9-DB619D08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41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C0560C-A52C-F528-7B51-CAF86CEEA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F5EDE0-AE4C-5BAA-7E8C-06A7AD6EE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B3043-770F-B876-4CC9-0C51E86A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36EABE-A704-D02E-1106-AF59FC9A6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B1F3EF-835B-FA16-DB41-4351B4D3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84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9D77ED-69B6-E5B0-58D1-A639BC526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593F5B-01B5-8BD9-89EA-DE75E09C2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135F77-1B1A-EB2F-4D6A-9E1EEC560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13CB8-A254-451B-BE56-67546D279C9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F371CF-4D8F-F64F-B5F1-AD0B9D987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E0390A-F570-306E-BEED-BB4B49946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620EA-020B-4402-BD00-613187F75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74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498690-6E63-84A6-3344-0B472E4C6488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3F64B1-B9EB-B9A3-8CB4-5B945B387380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291AD0-D59A-657F-7992-835B40F92176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机器人换视角后，需要对齐两块局部地图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484010-667E-B001-B354-211C85984B94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03D048-5A71-6864-4F38-509243CE175A}"/>
              </a:ext>
            </a:extLst>
          </p:cNvPr>
          <p:cNvSpPr txBox="1"/>
          <p:nvPr/>
        </p:nvSpPr>
        <p:spPr>
          <a:xfrm>
            <a:off x="508000" y="2222499"/>
            <a:ext cx="3556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源点云 </a:t>
            </a:r>
            <a:r>
              <a:rPr lang="en-US" altLang="zh-CN" sz="24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sz="24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810761-A0C7-CFAE-E6B0-EEB96A7FFB38}"/>
              </a:ext>
            </a:extLst>
          </p:cNvPr>
          <p:cNvSpPr txBox="1"/>
          <p:nvPr/>
        </p:nvSpPr>
        <p:spPr>
          <a:xfrm>
            <a:off x="4318000" y="2222499"/>
            <a:ext cx="3556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目标点云 </a:t>
            </a:r>
            <a:r>
              <a:rPr lang="en-US" altLang="zh-CN" sz="24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endParaRPr lang="zh-CN" altLang="en-US" sz="2400" b="1">
              <a:solidFill>
                <a:srgbClr val="BD63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2F5E4C-7B9C-6504-D676-C9C2A628E67B}"/>
              </a:ext>
            </a:extLst>
          </p:cNvPr>
          <p:cNvSpPr txBox="1"/>
          <p:nvPr/>
        </p:nvSpPr>
        <p:spPr>
          <a:xfrm>
            <a:off x="8128000" y="2222499"/>
            <a:ext cx="3556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22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对齐（非预测）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4E9FA1C-6377-6FE0-B466-B30615534B9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2744118"/>
            <a:ext cx="3937000" cy="27540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69A0837-4CF5-2EE3-725B-67471FE0459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0" y="2744118"/>
            <a:ext cx="3937000" cy="275406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70B9ADD-2C91-1DF4-667A-8EEF35ED335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500" y="2744118"/>
            <a:ext cx="3937000" cy="275406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848E32B-2DCD-1E3E-8E3D-67C5C61454BC}"/>
              </a:ext>
            </a:extLst>
          </p:cNvPr>
          <p:cNvSpPr txBox="1"/>
          <p:nvPr/>
        </p:nvSpPr>
        <p:spPr>
          <a:xfrm>
            <a:off x="508000" y="5714999"/>
            <a:ext cx="355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20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20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1D402F-3F3E-1A44-12B6-61393F4C56A6}"/>
              </a:ext>
            </a:extLst>
          </p:cNvPr>
          <p:cNvSpPr txBox="1"/>
          <p:nvPr/>
        </p:nvSpPr>
        <p:spPr>
          <a:xfrm>
            <a:off x="4318000" y="5714999"/>
            <a:ext cx="355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20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20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6F44DC-CADA-EF36-99C9-A341584EC1A6}"/>
              </a:ext>
            </a:extLst>
          </p:cNvPr>
          <p:cNvSpPr txBox="1"/>
          <p:nvPr/>
        </p:nvSpPr>
        <p:spPr>
          <a:xfrm>
            <a:off x="8128000" y="5714999"/>
            <a:ext cx="355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绿：共同表面</a:t>
            </a:r>
          </a:p>
        </p:txBody>
      </p:sp>
    </p:spTree>
    <p:extLst>
      <p:ext uri="{BB962C8B-B14F-4D97-AF65-F5344CB8AC3E}">
        <p14:creationId xmlns:p14="http://schemas.microsoft.com/office/powerpoint/2010/main" val="193367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2E86CE-3A5A-8942-10DD-E95BDC8E1FE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CBFD7D-539D-E2AB-84B7-73A7F9357C51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A9BA23-8012-47AF-39FA-3510B5BED3FA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输入：两份尚未对齐的 </a:t>
            </a:r>
            <a:r>
              <a:rPr lang="en-US" altLang="zh-CN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 </a:t>
            </a:r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1979E2-49BE-CF06-F472-72E4263D2193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17B05D-F5AF-0376-24D8-59E02D5FC6B9}"/>
              </a:ext>
            </a:extLst>
          </p:cNvPr>
          <p:cNvSpPr txBox="1"/>
          <p:nvPr/>
        </p:nvSpPr>
        <p:spPr>
          <a:xfrm>
            <a:off x="609600" y="2425699"/>
            <a:ext cx="698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3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FC16F7-9755-2892-5FDB-58A06A982918}"/>
              </a:ext>
            </a:extLst>
          </p:cNvPr>
          <p:cNvSpPr txBox="1"/>
          <p:nvPr/>
        </p:nvSpPr>
        <p:spPr>
          <a:xfrm>
            <a:off x="1524000" y="2412999"/>
            <a:ext cx="9969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∈ ℝ</a:t>
            </a:r>
            <a:r>
              <a:rPr lang="en-US" altLang="zh-CN" sz="1900" baseline="35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N×3</a:t>
            </a:r>
            <a:r>
              <a:rPr lang="zh-CN" altLang="en-US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∈ ℝ</a:t>
            </a:r>
            <a:r>
              <a:rPr lang="en-US" altLang="zh-CN" sz="1900" baseline="35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M×3</a:t>
            </a:r>
            <a:r>
              <a:rPr lang="zh-CN" altLang="en-US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，单位米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8D6DE5-6F2E-BFB1-026B-116F45133FE9}"/>
              </a:ext>
            </a:extLst>
          </p:cNvPr>
          <p:cNvSpPr txBox="1"/>
          <p:nvPr/>
        </p:nvSpPr>
        <p:spPr>
          <a:xfrm>
            <a:off x="609600" y="3695699"/>
            <a:ext cx="698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23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A9CFC0-2B5C-3B8A-28AB-1E3BD5244535}"/>
              </a:ext>
            </a:extLst>
          </p:cNvPr>
          <p:cNvSpPr txBox="1"/>
          <p:nvPr/>
        </p:nvSpPr>
        <p:spPr>
          <a:xfrm>
            <a:off x="1524000" y="3682999"/>
            <a:ext cx="9969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同一静态场景，尺度一致，有部分重叠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F99BD2-CF6A-9BA3-A090-068D8B81B75B}"/>
              </a:ext>
            </a:extLst>
          </p:cNvPr>
          <p:cNvSpPr txBox="1"/>
          <p:nvPr/>
        </p:nvSpPr>
        <p:spPr>
          <a:xfrm>
            <a:off x="609600" y="4965699"/>
            <a:ext cx="698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23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785606-CC9A-5C9E-8486-5A1CD899F98E}"/>
              </a:ext>
            </a:extLst>
          </p:cNvPr>
          <p:cNvSpPr txBox="1"/>
          <p:nvPr/>
        </p:nvSpPr>
        <p:spPr>
          <a:xfrm>
            <a:off x="1524000" y="4952999"/>
            <a:ext cx="9969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相对位姿与点对应未知</a:t>
            </a:r>
          </a:p>
        </p:txBody>
      </p:sp>
    </p:spTree>
    <p:extLst>
      <p:ext uri="{BB962C8B-B14F-4D97-AF65-F5344CB8AC3E}">
        <p14:creationId xmlns:p14="http://schemas.microsoft.com/office/powerpoint/2010/main" val="339007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9CD62CD-6837-EB9E-1050-2E500E170BB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BED6D9-2398-B7DD-7DDE-0A532EFE6D27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1BC8F3-4DFF-13BD-5B3F-0C536A9C304B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输出：整个 </a:t>
            </a:r>
            <a:r>
              <a:rPr lang="en-US" altLang="zh-CN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共用一个 </a:t>
            </a:r>
            <a:r>
              <a:rPr lang="en-US" altLang="zh-CN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R,t</a:t>
            </a:r>
            <a:endParaRPr lang="zh-CN" altLang="en-US" sz="31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9C3C48-23CF-3D22-DEC4-C862BE34F1FE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254326-173D-2730-41B8-E4BA997AE11D}"/>
              </a:ext>
            </a:extLst>
          </p:cNvPr>
          <p:cNvSpPr txBox="1"/>
          <p:nvPr/>
        </p:nvSpPr>
        <p:spPr>
          <a:xfrm>
            <a:off x="762000" y="2387599"/>
            <a:ext cx="10668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源 </a:t>
            </a:r>
            <a:r>
              <a:rPr lang="en-US" altLang="zh-CN" sz="2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→ </a:t>
            </a:r>
            <a:r>
              <a:rPr lang="zh-CN" altLang="en-US" sz="2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 </a:t>
            </a:r>
            <a:r>
              <a:rPr lang="en-US" altLang="zh-CN" sz="2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endParaRPr lang="zh-CN" altLang="en-US" sz="25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CA31FC-83D0-C112-B627-860D46BC54AA}"/>
              </a:ext>
            </a:extLst>
          </p:cNvPr>
          <p:cNvSpPr txBox="1"/>
          <p:nvPr/>
        </p:nvSpPr>
        <p:spPr>
          <a:xfrm>
            <a:off x="762000" y="3149599"/>
            <a:ext cx="106680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54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↦ Rp + t</a:t>
            </a:r>
            <a:endParaRPr lang="zh-CN" altLang="en-US" sz="54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41745C-DC02-13B3-962E-4740B1F3E00B}"/>
              </a:ext>
            </a:extLst>
          </p:cNvPr>
          <p:cNvSpPr/>
          <p:nvPr/>
        </p:nvSpPr>
        <p:spPr>
          <a:xfrm>
            <a:off x="762000" y="4762500"/>
            <a:ext cx="5080000" cy="11176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62F2C3-731D-DC60-E788-49A6F895F9EA}"/>
              </a:ext>
            </a:extLst>
          </p:cNvPr>
          <p:cNvSpPr txBox="1"/>
          <p:nvPr/>
        </p:nvSpPr>
        <p:spPr>
          <a:xfrm>
            <a:off x="1003300" y="5092699"/>
            <a:ext cx="4597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5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 ∈ SO(3)</a:t>
            </a:r>
            <a:r>
              <a:rPr lang="zh-CN" altLang="en-US" sz="25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：三维旋转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A952ED-30F3-B596-2FA0-36CCDEA0F984}"/>
              </a:ext>
            </a:extLst>
          </p:cNvPr>
          <p:cNvSpPr/>
          <p:nvPr/>
        </p:nvSpPr>
        <p:spPr>
          <a:xfrm>
            <a:off x="6350000" y="4762500"/>
            <a:ext cx="5080000" cy="1117600"/>
          </a:xfrm>
          <a:prstGeom prst="rect">
            <a:avLst/>
          </a:prstGeom>
          <a:solidFill>
            <a:srgbClr val="E4F1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D35DBB-14A7-CFFB-0263-D7FD26A423A4}"/>
              </a:ext>
            </a:extLst>
          </p:cNvPr>
          <p:cNvSpPr txBox="1"/>
          <p:nvPr/>
        </p:nvSpPr>
        <p:spPr>
          <a:xfrm>
            <a:off x="6591300" y="5092699"/>
            <a:ext cx="4597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5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 ∈ ℝ³</a:t>
            </a:r>
            <a:r>
              <a:rPr lang="zh-CN" altLang="en-US" sz="25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：平移，单位米</a:t>
            </a:r>
          </a:p>
        </p:txBody>
      </p:sp>
    </p:spTree>
    <p:extLst>
      <p:ext uri="{BB962C8B-B14F-4D97-AF65-F5344CB8AC3E}">
        <p14:creationId xmlns:p14="http://schemas.microsoft.com/office/powerpoint/2010/main" val="3349901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6D18149-14E1-9749-2C19-844E29CE890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38B6CF-0577-097F-6F4D-2E5C68D95141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C60C56-017A-DB14-1724-2ACCC3CA3C4A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换一个源片段，共同表面明显减少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13FAD1-A481-473F-C84A-6C1257047C30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217BC4-9C00-2BDC-4C3C-EBD5D96BF49D}"/>
              </a:ext>
            </a:extLst>
          </p:cNvPr>
          <p:cNvSpPr txBox="1"/>
          <p:nvPr/>
        </p:nvSpPr>
        <p:spPr>
          <a:xfrm>
            <a:off x="508000" y="2222499"/>
            <a:ext cx="3556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源点云 </a:t>
            </a:r>
            <a:r>
              <a:rPr lang="en-US" altLang="zh-CN" sz="24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sz="24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EBF781-D65E-EF2A-F973-31ABFBE60AE7}"/>
              </a:ext>
            </a:extLst>
          </p:cNvPr>
          <p:cNvSpPr txBox="1"/>
          <p:nvPr/>
        </p:nvSpPr>
        <p:spPr>
          <a:xfrm>
            <a:off x="4318000" y="2222499"/>
            <a:ext cx="3556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目标点云 </a:t>
            </a:r>
            <a:r>
              <a:rPr lang="en-US" altLang="zh-CN" sz="24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endParaRPr lang="zh-CN" altLang="en-US" sz="2400" b="1">
              <a:solidFill>
                <a:srgbClr val="BD63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3B158B-4358-B138-E616-1FAD16CA8F3D}"/>
              </a:ext>
            </a:extLst>
          </p:cNvPr>
          <p:cNvSpPr txBox="1"/>
          <p:nvPr/>
        </p:nvSpPr>
        <p:spPr>
          <a:xfrm>
            <a:off x="8128000" y="2222499"/>
            <a:ext cx="3556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22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对齐（非预测）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7B1E641-2550-90C2-C007-D6851BE6786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2744118"/>
            <a:ext cx="3937000" cy="27540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B6B2AA0-8571-10A0-81E6-711F4980A49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0" y="2744118"/>
            <a:ext cx="3937000" cy="275406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28CFDF4-E48D-44AF-2572-45FF4877790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500" y="2744118"/>
            <a:ext cx="3937000" cy="275406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ACB9E36-EC07-6697-B8CC-39E8449673CF}"/>
              </a:ext>
            </a:extLst>
          </p:cNvPr>
          <p:cNvSpPr txBox="1"/>
          <p:nvPr/>
        </p:nvSpPr>
        <p:spPr>
          <a:xfrm>
            <a:off x="508000" y="5714999"/>
            <a:ext cx="355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20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endParaRPr lang="zh-CN" altLang="en-US" sz="20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A4014B-0ADC-866E-ABDD-EB51779A91E6}"/>
              </a:ext>
            </a:extLst>
          </p:cNvPr>
          <p:cNvSpPr txBox="1"/>
          <p:nvPr/>
        </p:nvSpPr>
        <p:spPr>
          <a:xfrm>
            <a:off x="4318000" y="5714999"/>
            <a:ext cx="355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20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20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79DE5AB-CFE3-BCD9-3102-42070D31B30B}"/>
              </a:ext>
            </a:extLst>
          </p:cNvPr>
          <p:cNvSpPr txBox="1"/>
          <p:nvPr/>
        </p:nvSpPr>
        <p:spPr>
          <a:xfrm>
            <a:off x="8128000" y="5714999"/>
            <a:ext cx="355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绿：共同表面</a:t>
            </a:r>
          </a:p>
        </p:txBody>
      </p:sp>
    </p:spTree>
    <p:extLst>
      <p:ext uri="{BB962C8B-B14F-4D97-AF65-F5344CB8AC3E}">
        <p14:creationId xmlns:p14="http://schemas.microsoft.com/office/powerpoint/2010/main" val="3241715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D8BBF6-88B1-84C7-E8DE-58D1C2B0CDF8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E8EE41-8D23-6390-7A8F-733BFCBB2BE6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EEABB0-1847-12F7-85AE-E3EFE3697D5F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低重叠，让可靠对应更难找到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3BF4E7-845F-2ECA-13AD-D6E350CCA173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60D985-123D-E1A8-B408-751C5B4037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214263"/>
            <a:ext cx="5524500" cy="38645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B8F3C8E-87BE-6771-394A-35FE9DD251AA}"/>
              </a:ext>
            </a:extLst>
          </p:cNvPr>
          <p:cNvSpPr txBox="1"/>
          <p:nvPr/>
        </p:nvSpPr>
        <p:spPr>
          <a:xfrm>
            <a:off x="660400" y="2133599"/>
            <a:ext cx="49784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20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下的共同表面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C3D6D7-EB9A-4B37-3002-CAD831EAC726}"/>
              </a:ext>
            </a:extLst>
          </p:cNvPr>
          <p:cNvSpPr txBox="1"/>
          <p:nvPr/>
        </p:nvSpPr>
        <p:spPr>
          <a:xfrm>
            <a:off x="6654800" y="2679699"/>
            <a:ext cx="48260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非重叠区域
没有真实对应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0107D1-3EF0-A3CC-6EFD-4C2746738D5C}"/>
              </a:ext>
            </a:extLst>
          </p:cNvPr>
          <p:cNvSpPr txBox="1"/>
          <p:nvPr/>
        </p:nvSpPr>
        <p:spPr>
          <a:xfrm>
            <a:off x="6654800" y="4635499"/>
            <a:ext cx="48260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重复的墙面、桌面
容易造成误匹配</a:t>
            </a:r>
          </a:p>
        </p:txBody>
      </p:sp>
    </p:spTree>
    <p:extLst>
      <p:ext uri="{BB962C8B-B14F-4D97-AF65-F5344CB8AC3E}">
        <p14:creationId xmlns:p14="http://schemas.microsoft.com/office/powerpoint/2010/main" val="777976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3FD25F2-5CB4-E56A-B5E9-E190FBA5C2D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84BA89-EC02-E4B8-7369-151BA042CE0F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E33391-B990-CBB1-B224-6304A21E3BF3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 </a:t>
            </a:r>
            <a:r>
              <a:rPr lang="en-US" altLang="zh-CN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fragment</a:t>
            </a:r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，是一段扫描的局部表面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22F9E6-DC9C-8E60-F4E5-81E94364EE1F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B9E871-E9D9-AFBA-15D1-9D69F5182551}"/>
              </a:ext>
            </a:extLst>
          </p:cNvPr>
          <p:cNvSpPr/>
          <p:nvPr/>
        </p:nvSpPr>
        <p:spPr>
          <a:xfrm>
            <a:off x="508000" y="2667000"/>
            <a:ext cx="3111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2BF5B1-FF1A-716C-54A5-81AB56B8EFBA}"/>
              </a:ext>
            </a:extLst>
          </p:cNvPr>
          <p:cNvSpPr txBox="1"/>
          <p:nvPr/>
        </p:nvSpPr>
        <p:spPr>
          <a:xfrm>
            <a:off x="736600" y="3479799"/>
            <a:ext cx="26543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RGB-D
</a:t>
            </a:r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扫描序列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1333C7-C2F4-9B59-DF10-2B4EFA671E61}"/>
              </a:ext>
            </a:extLst>
          </p:cNvPr>
          <p:cNvCxnSpPr/>
          <p:nvPr/>
        </p:nvCxnSpPr>
        <p:spPr>
          <a:xfrm>
            <a:off x="3784600" y="4000500"/>
            <a:ext cx="4699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ED00643-97B0-3E51-6545-1E05FBC15947}"/>
              </a:ext>
            </a:extLst>
          </p:cNvPr>
          <p:cNvSpPr/>
          <p:nvPr/>
        </p:nvSpPr>
        <p:spPr>
          <a:xfrm>
            <a:off x="4419600" y="2667000"/>
            <a:ext cx="3390900" cy="26670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B0DD20-91FC-3F38-ED2A-869BE9F5C7EC}"/>
              </a:ext>
            </a:extLst>
          </p:cNvPr>
          <p:cNvSpPr txBox="1"/>
          <p:nvPr/>
        </p:nvSpPr>
        <p:spPr>
          <a:xfrm>
            <a:off x="4622800" y="3301999"/>
            <a:ext cx="2984500" cy="143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 </a:t>
            </a:r>
            <a:r>
              <a:rPr lang="zh-CN" altLang="en-US" sz="2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帧深度
按参考轨迹融合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25D74AC-E247-7B4A-97BD-71876E6D8C04}"/>
              </a:ext>
            </a:extLst>
          </p:cNvPr>
          <p:cNvCxnSpPr/>
          <p:nvPr/>
        </p:nvCxnSpPr>
        <p:spPr>
          <a:xfrm>
            <a:off x="7962900" y="4000500"/>
            <a:ext cx="4699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7D6EE93F-A636-2063-2605-BBA1A9CE9D4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0" y="2658230"/>
            <a:ext cx="3238500" cy="226544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0C67A9E-3F55-7613-0911-9E579FCAE9EC}"/>
              </a:ext>
            </a:extLst>
          </p:cNvPr>
          <p:cNvSpPr txBox="1"/>
          <p:nvPr/>
        </p:nvSpPr>
        <p:spPr>
          <a:xfrm>
            <a:off x="8445500" y="5422899"/>
            <a:ext cx="3365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局部点云 </a:t>
            </a:r>
            <a:r>
              <a:rPr lang="en-US" altLang="zh-CN" sz="23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fragment</a:t>
            </a:r>
            <a:endParaRPr lang="zh-CN" altLang="en-US" sz="2300" b="1">
              <a:solidFill>
                <a:srgbClr val="BD63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390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8416C8-9221-A252-0F69-10693C4B3ED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461B97-8BF0-5BD0-21E5-F74A414DC92A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03BD0B-5641-6958-DF5D-B01243417FD9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一条样本：两个点云与一个 </a:t>
            </a:r>
            <a:r>
              <a:rPr lang="en-US" altLang="zh-CN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6738DE-D59D-E9B0-A467-50B7AB3E25FF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B5E7E1-F47A-1DE5-8527-BFC4F52F8C75}"/>
              </a:ext>
            </a:extLst>
          </p:cNvPr>
          <p:cNvSpPr/>
          <p:nvPr/>
        </p:nvSpPr>
        <p:spPr>
          <a:xfrm>
            <a:off x="508000" y="2527300"/>
            <a:ext cx="3505200" cy="3136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C6F22E-5870-0428-6FAC-44BDEA58F01D}"/>
              </a:ext>
            </a:extLst>
          </p:cNvPr>
          <p:cNvSpPr txBox="1"/>
          <p:nvPr/>
        </p:nvSpPr>
        <p:spPr>
          <a:xfrm>
            <a:off x="723900" y="2857499"/>
            <a:ext cx="30734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5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sz="25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：片段 </a:t>
            </a:r>
            <a:r>
              <a:rPr lang="en-US" altLang="zh-CN" sz="25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25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4B9BFF-ADC2-26E8-52E4-3FD3D897A7FB}"/>
              </a:ext>
            </a:extLst>
          </p:cNvPr>
          <p:cNvSpPr txBox="1"/>
          <p:nvPr/>
        </p:nvSpPr>
        <p:spPr>
          <a:xfrm>
            <a:off x="723900" y="3886199"/>
            <a:ext cx="30734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32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16,341 × 3</a:t>
            </a:r>
            <a:endParaRPr lang="zh-CN" altLang="en-US" sz="32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D11077-1954-6CD9-9DA2-8CC2D079FFC2}"/>
              </a:ext>
            </a:extLst>
          </p:cNvPr>
          <p:cNvSpPr/>
          <p:nvPr/>
        </p:nvSpPr>
        <p:spPr>
          <a:xfrm>
            <a:off x="4343400" y="2527300"/>
            <a:ext cx="3505200" cy="3136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1FC40E-01EE-28BA-7E52-E1F97CBF41AA}"/>
              </a:ext>
            </a:extLst>
          </p:cNvPr>
          <p:cNvSpPr txBox="1"/>
          <p:nvPr/>
        </p:nvSpPr>
        <p:spPr>
          <a:xfrm>
            <a:off x="4559300" y="2857499"/>
            <a:ext cx="30734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5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sz="25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：片段 </a:t>
            </a:r>
            <a:r>
              <a:rPr lang="en-US" altLang="zh-CN" sz="25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2500" b="1">
              <a:solidFill>
                <a:srgbClr val="BD63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B61397-29BE-1CB9-24BB-E795AA913309}"/>
              </a:ext>
            </a:extLst>
          </p:cNvPr>
          <p:cNvSpPr txBox="1"/>
          <p:nvPr/>
        </p:nvSpPr>
        <p:spPr>
          <a:xfrm>
            <a:off x="4559300" y="3886199"/>
            <a:ext cx="30734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32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18,977 × 3</a:t>
            </a:r>
            <a:endParaRPr lang="zh-CN" altLang="en-US" sz="32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1075CB-1528-FE75-3E66-872FACA9E31F}"/>
              </a:ext>
            </a:extLst>
          </p:cNvPr>
          <p:cNvSpPr/>
          <p:nvPr/>
        </p:nvSpPr>
        <p:spPr>
          <a:xfrm>
            <a:off x="8178800" y="2527300"/>
            <a:ext cx="3505200" cy="3136900"/>
          </a:xfrm>
          <a:prstGeom prst="rect">
            <a:avLst/>
          </a:prstGeom>
          <a:solidFill>
            <a:srgbClr val="E4F1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3AB077-B35F-0BEA-E1F2-06BAEFB11D81}"/>
              </a:ext>
            </a:extLst>
          </p:cNvPr>
          <p:cNvSpPr txBox="1"/>
          <p:nvPr/>
        </p:nvSpPr>
        <p:spPr>
          <a:xfrm>
            <a:off x="8394700" y="2857499"/>
            <a:ext cx="30734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5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标签 </a:t>
            </a:r>
            <a:r>
              <a:rPr lang="en-US" altLang="zh-CN" sz="25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T*</a:t>
            </a:r>
            <a:endParaRPr lang="zh-CN" altLang="en-US" sz="2500" b="1">
              <a:solidFill>
                <a:srgbClr val="00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598ADE-7E12-F66C-8633-2EB21BF93048}"/>
              </a:ext>
            </a:extLst>
          </p:cNvPr>
          <p:cNvSpPr txBox="1"/>
          <p:nvPr/>
        </p:nvSpPr>
        <p:spPr>
          <a:xfrm>
            <a:off x="8394700" y="3784599"/>
            <a:ext cx="3073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40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× 4</a:t>
            </a:r>
            <a:endParaRPr lang="zh-CN" altLang="en-US" sz="40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99592B-183A-3082-9914-38BB57F4303B}"/>
              </a:ext>
            </a:extLst>
          </p:cNvPr>
          <p:cNvSpPr txBox="1"/>
          <p:nvPr/>
        </p:nvSpPr>
        <p:spPr>
          <a:xfrm>
            <a:off x="8394700" y="5003799"/>
            <a:ext cx="3073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仅用于监督 </a:t>
            </a:r>
            <a:r>
              <a:rPr lang="en-US" altLang="zh-CN" sz="2000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评价</a:t>
            </a:r>
          </a:p>
        </p:txBody>
      </p:sp>
    </p:spTree>
    <p:extLst>
      <p:ext uri="{BB962C8B-B14F-4D97-AF65-F5344CB8AC3E}">
        <p14:creationId xmlns:p14="http://schemas.microsoft.com/office/powerpoint/2010/main" val="28293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AA069A-5CB3-E3BE-A0AA-60D696AFA2C6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54047B-D106-0B2B-B69C-512FB3D43137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EEED1E-9BB1-9F65-F635-66940B8F6337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两套测试，主要区别是片段的重叠程度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9C74E0-5F62-FC2B-E590-222D72353CDF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44638C-EFC2-CBFB-1D78-469184FEEB67}"/>
              </a:ext>
            </a:extLst>
          </p:cNvPr>
          <p:cNvSpPr txBox="1"/>
          <p:nvPr/>
        </p:nvSpPr>
        <p:spPr>
          <a:xfrm>
            <a:off x="635000" y="2197099"/>
            <a:ext cx="10922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8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同一批 </a:t>
            </a:r>
            <a:r>
              <a:rPr lang="en-US" altLang="zh-CN" sz="28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28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个室内测试场景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792E5F-D300-5281-8C2F-029D85D08BB1}"/>
              </a:ext>
            </a:extLst>
          </p:cNvPr>
          <p:cNvSpPr/>
          <p:nvPr/>
        </p:nvSpPr>
        <p:spPr>
          <a:xfrm>
            <a:off x="762000" y="3378200"/>
            <a:ext cx="5080000" cy="25527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34F8D6-8C6C-54D9-C4B8-311D1D106272}"/>
              </a:ext>
            </a:extLst>
          </p:cNvPr>
          <p:cNvSpPr txBox="1"/>
          <p:nvPr/>
        </p:nvSpPr>
        <p:spPr>
          <a:xfrm>
            <a:off x="1016000" y="3594099"/>
            <a:ext cx="4572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3DMatch</a:t>
            </a:r>
            <a:endParaRPr lang="zh-CN" altLang="en-US" sz="28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30D553-0B4A-B9E9-217C-584B3E2A2AAA}"/>
              </a:ext>
            </a:extLst>
          </p:cNvPr>
          <p:cNvSpPr txBox="1"/>
          <p:nvPr/>
        </p:nvSpPr>
        <p:spPr>
          <a:xfrm>
            <a:off x="1016000" y="4267199"/>
            <a:ext cx="45720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37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1,623 </a:t>
            </a:r>
            <a:r>
              <a:rPr lang="zh-CN" altLang="en-US" sz="37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D28721-C43C-D0B1-BC89-CD80084AB8A4}"/>
              </a:ext>
            </a:extLst>
          </p:cNvPr>
          <p:cNvSpPr txBox="1"/>
          <p:nvPr/>
        </p:nvSpPr>
        <p:spPr>
          <a:xfrm>
            <a:off x="1016000" y="5245099"/>
            <a:ext cx="4572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标称 </a:t>
            </a:r>
            <a:r>
              <a:rPr lang="en-US" altLang="zh-CN" sz="2300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 &gt;30%</a:t>
            </a:r>
            <a:endParaRPr lang="zh-CN" altLang="en-US" sz="2300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329053-CFCF-EF37-1215-3B361A575694}"/>
              </a:ext>
            </a:extLst>
          </p:cNvPr>
          <p:cNvSpPr/>
          <p:nvPr/>
        </p:nvSpPr>
        <p:spPr>
          <a:xfrm>
            <a:off x="6350000" y="3378200"/>
            <a:ext cx="5080000" cy="2552700"/>
          </a:xfrm>
          <a:prstGeom prst="rect">
            <a:avLst/>
          </a:prstGeom>
          <a:solidFill>
            <a:srgbClr val="E4F1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B861FB-53E6-BEF1-8BA4-4B15C413BE9B}"/>
              </a:ext>
            </a:extLst>
          </p:cNvPr>
          <p:cNvSpPr txBox="1"/>
          <p:nvPr/>
        </p:nvSpPr>
        <p:spPr>
          <a:xfrm>
            <a:off x="6604000" y="3594099"/>
            <a:ext cx="4572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3DLoMatch</a:t>
            </a:r>
            <a:endParaRPr lang="zh-CN" altLang="en-US" sz="2800" b="1">
              <a:solidFill>
                <a:srgbClr val="00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488BDFE-B6AA-F7F0-B59E-BA0F8A1520B1}"/>
              </a:ext>
            </a:extLst>
          </p:cNvPr>
          <p:cNvSpPr txBox="1"/>
          <p:nvPr/>
        </p:nvSpPr>
        <p:spPr>
          <a:xfrm>
            <a:off x="6604000" y="4267199"/>
            <a:ext cx="45720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37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1,781 </a:t>
            </a:r>
            <a:r>
              <a:rPr lang="zh-CN" altLang="en-US" sz="37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664B6B-CB09-B9AB-241E-C24174278D9C}"/>
              </a:ext>
            </a:extLst>
          </p:cNvPr>
          <p:cNvSpPr txBox="1"/>
          <p:nvPr/>
        </p:nvSpPr>
        <p:spPr>
          <a:xfrm>
            <a:off x="6604000" y="5245099"/>
            <a:ext cx="4572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标称 </a:t>
            </a:r>
            <a:r>
              <a:rPr lang="en-US" altLang="zh-CN" sz="2300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 10%–30%</a:t>
            </a:r>
            <a:endParaRPr lang="zh-CN" altLang="en-US" sz="2300">
              <a:solidFill>
                <a:srgbClr val="00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0602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4D42C6-3D90-EBB7-0706-5EE8E2549DA7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74F36F-761F-7F15-237A-42855C024C32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743CC5-F7EE-055D-EAC2-1F210EFCF92D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测试配对在各场景间并不均衡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095F7E-0E63-5CE3-4118-7602526D7D3B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EEB8AF-D15D-B79E-2B1E-363CD86BDD0D}"/>
              </a:ext>
            </a:extLst>
          </p:cNvPr>
          <p:cNvSpPr/>
          <p:nvPr/>
        </p:nvSpPr>
        <p:spPr>
          <a:xfrm>
            <a:off x="6858000" y="1981200"/>
            <a:ext cx="254000" cy="1143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97756F-7868-0C9B-A10C-8E1A40A481F3}"/>
              </a:ext>
            </a:extLst>
          </p:cNvPr>
          <p:cNvSpPr txBox="1"/>
          <p:nvPr/>
        </p:nvSpPr>
        <p:spPr>
          <a:xfrm>
            <a:off x="7213600" y="1879599"/>
            <a:ext cx="177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3DMatch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2E47FA-5DD5-7CC3-2804-87E3CC1F64B9}"/>
              </a:ext>
            </a:extLst>
          </p:cNvPr>
          <p:cNvSpPr/>
          <p:nvPr/>
        </p:nvSpPr>
        <p:spPr>
          <a:xfrm>
            <a:off x="9271000" y="1981200"/>
            <a:ext cx="254000" cy="11430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3DBA86-CF6A-378D-1120-69D76A8DC31E}"/>
              </a:ext>
            </a:extLst>
          </p:cNvPr>
          <p:cNvSpPr txBox="1"/>
          <p:nvPr/>
        </p:nvSpPr>
        <p:spPr>
          <a:xfrm>
            <a:off x="9626600" y="1879599"/>
            <a:ext cx="2006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3DLoMatch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565130-EF33-BB1B-8AC7-48050CB38EE1}"/>
              </a:ext>
            </a:extLst>
          </p:cNvPr>
          <p:cNvSpPr txBox="1"/>
          <p:nvPr/>
        </p:nvSpPr>
        <p:spPr>
          <a:xfrm>
            <a:off x="609600" y="2501899"/>
            <a:ext cx="22987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RedKitchen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B08FA6-0FCB-CE2B-CE1E-AE3BC14AAAAA}"/>
              </a:ext>
            </a:extLst>
          </p:cNvPr>
          <p:cNvSpPr/>
          <p:nvPr/>
        </p:nvSpPr>
        <p:spPr>
          <a:xfrm>
            <a:off x="3111500" y="2540000"/>
            <a:ext cx="7244080" cy="10795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BDFD29-8B10-CEEE-4BC4-737982D6149F}"/>
              </a:ext>
            </a:extLst>
          </p:cNvPr>
          <p:cNvSpPr/>
          <p:nvPr/>
        </p:nvSpPr>
        <p:spPr>
          <a:xfrm>
            <a:off x="3111500" y="2679700"/>
            <a:ext cx="7516091" cy="10795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B0544B-6201-0DC9-D385-E50870353293}"/>
              </a:ext>
            </a:extLst>
          </p:cNvPr>
          <p:cNvSpPr txBox="1"/>
          <p:nvPr/>
        </p:nvSpPr>
        <p:spPr>
          <a:xfrm>
            <a:off x="609600" y="2920999"/>
            <a:ext cx="22987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Home AT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606DB0-A5B9-A301-7B73-44DCDC2AD30C}"/>
              </a:ext>
            </a:extLst>
          </p:cNvPr>
          <p:cNvSpPr/>
          <p:nvPr/>
        </p:nvSpPr>
        <p:spPr>
          <a:xfrm>
            <a:off x="3111500" y="2959100"/>
            <a:ext cx="2233353" cy="10795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B227FB-8032-5331-DF47-ECDB43D3B4EE}"/>
              </a:ext>
            </a:extLst>
          </p:cNvPr>
          <p:cNvSpPr/>
          <p:nvPr/>
        </p:nvSpPr>
        <p:spPr>
          <a:xfrm>
            <a:off x="3111500" y="3098800"/>
            <a:ext cx="4137430" cy="10795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450895-EF3F-F47E-94D2-50413C9C519E}"/>
              </a:ext>
            </a:extLst>
          </p:cNvPr>
          <p:cNvSpPr txBox="1"/>
          <p:nvPr/>
        </p:nvSpPr>
        <p:spPr>
          <a:xfrm>
            <a:off x="609600" y="3340099"/>
            <a:ext cx="22987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Home MD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9F2D8C-FD60-399C-31E2-9BE445F398BD}"/>
              </a:ext>
            </a:extLst>
          </p:cNvPr>
          <p:cNvSpPr/>
          <p:nvPr/>
        </p:nvSpPr>
        <p:spPr>
          <a:xfrm>
            <a:off x="3111500" y="3378200"/>
            <a:ext cx="2977804" cy="10795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11F36D-540A-BA59-C067-C6488289D6CC}"/>
              </a:ext>
            </a:extLst>
          </p:cNvPr>
          <p:cNvSpPr/>
          <p:nvPr/>
        </p:nvSpPr>
        <p:spPr>
          <a:xfrm>
            <a:off x="3111500" y="3517900"/>
            <a:ext cx="3292764" cy="10795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974B75-A9E2-7638-F87E-5AEFAA52E004}"/>
              </a:ext>
            </a:extLst>
          </p:cNvPr>
          <p:cNvSpPr txBox="1"/>
          <p:nvPr/>
        </p:nvSpPr>
        <p:spPr>
          <a:xfrm>
            <a:off x="609600" y="3759199"/>
            <a:ext cx="22987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Hotel UC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885FB67-85CD-2D7C-C0A4-6904A5259F3F}"/>
              </a:ext>
            </a:extLst>
          </p:cNvPr>
          <p:cNvSpPr/>
          <p:nvPr/>
        </p:nvSpPr>
        <p:spPr>
          <a:xfrm>
            <a:off x="3111500" y="3797300"/>
            <a:ext cx="3235498" cy="10795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18D84E1-F5E0-87B1-7BE9-1AE3B699DC76}"/>
              </a:ext>
            </a:extLst>
          </p:cNvPr>
          <p:cNvSpPr/>
          <p:nvPr/>
        </p:nvSpPr>
        <p:spPr>
          <a:xfrm>
            <a:off x="3111500" y="3937000"/>
            <a:ext cx="3120967" cy="10795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90D088-D6A0-C95D-1FAD-37E84A45CA00}"/>
              </a:ext>
            </a:extLst>
          </p:cNvPr>
          <p:cNvSpPr txBox="1"/>
          <p:nvPr/>
        </p:nvSpPr>
        <p:spPr>
          <a:xfrm>
            <a:off x="609600" y="4178299"/>
            <a:ext cx="22987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Hotel UMD 1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612B51-B147-7694-C98A-17F1A9F4BDC5}"/>
              </a:ext>
            </a:extLst>
          </p:cNvPr>
          <p:cNvSpPr/>
          <p:nvPr/>
        </p:nvSpPr>
        <p:spPr>
          <a:xfrm>
            <a:off x="3111500" y="4216400"/>
            <a:ext cx="1488902" cy="10795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C0ABAD-2D6E-E195-D3C9-9A3DDC3BE3AD}"/>
              </a:ext>
            </a:extLst>
          </p:cNvPr>
          <p:cNvSpPr/>
          <p:nvPr/>
        </p:nvSpPr>
        <p:spPr>
          <a:xfrm>
            <a:off x="3111500" y="4356100"/>
            <a:ext cx="2261985" cy="10795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8EBDE9-D7C2-703B-90B9-1AA227A151AD}"/>
              </a:ext>
            </a:extLst>
          </p:cNvPr>
          <p:cNvSpPr txBox="1"/>
          <p:nvPr/>
        </p:nvSpPr>
        <p:spPr>
          <a:xfrm>
            <a:off x="609600" y="4597399"/>
            <a:ext cx="22987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Hotel UMD 3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AC3D75-1FAD-F7FF-8B7C-18D73F6BDB44}"/>
              </a:ext>
            </a:extLst>
          </p:cNvPr>
          <p:cNvSpPr/>
          <p:nvPr/>
        </p:nvSpPr>
        <p:spPr>
          <a:xfrm>
            <a:off x="3111500" y="4635500"/>
            <a:ext cx="773084" cy="10795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1928F8D-B380-E0E7-9634-A264A3C2FEA0}"/>
              </a:ext>
            </a:extLst>
          </p:cNvPr>
          <p:cNvSpPr/>
          <p:nvPr/>
        </p:nvSpPr>
        <p:spPr>
          <a:xfrm>
            <a:off x="3111500" y="4775200"/>
            <a:ext cx="701502" cy="10795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8D14B8B-00E6-E517-06B4-50CCE7E65C5A}"/>
              </a:ext>
            </a:extLst>
          </p:cNvPr>
          <p:cNvSpPr txBox="1"/>
          <p:nvPr/>
        </p:nvSpPr>
        <p:spPr>
          <a:xfrm>
            <a:off x="609600" y="5016499"/>
            <a:ext cx="22987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MIT Studyroom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0220973-31DB-C682-EDFA-7DE27024326A}"/>
              </a:ext>
            </a:extLst>
          </p:cNvPr>
          <p:cNvSpPr/>
          <p:nvPr/>
        </p:nvSpPr>
        <p:spPr>
          <a:xfrm>
            <a:off x="3111500" y="5054600"/>
            <a:ext cx="4180378" cy="10795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B8E0502-9A30-6222-4D31-F32716AFB5B4}"/>
              </a:ext>
            </a:extLst>
          </p:cNvPr>
          <p:cNvSpPr/>
          <p:nvPr/>
        </p:nvSpPr>
        <p:spPr>
          <a:xfrm>
            <a:off x="3111500" y="5194300"/>
            <a:ext cx="3435927" cy="10795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10F70F7-5A5D-B609-D841-D86F002BCB97}"/>
              </a:ext>
            </a:extLst>
          </p:cNvPr>
          <p:cNvSpPr txBox="1"/>
          <p:nvPr/>
        </p:nvSpPr>
        <p:spPr>
          <a:xfrm>
            <a:off x="609600" y="5435599"/>
            <a:ext cx="22987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MIT Lab</a:t>
            </a:r>
            <a:endParaRPr lang="zh-CN" altLang="en-US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C2EC861-F070-8BDA-6F91-9D5051B75540}"/>
              </a:ext>
            </a:extLst>
          </p:cNvPr>
          <p:cNvSpPr/>
          <p:nvPr/>
        </p:nvSpPr>
        <p:spPr>
          <a:xfrm>
            <a:off x="3111500" y="5473700"/>
            <a:ext cx="1102360" cy="10795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9B99927-7D8A-9DE8-01A6-0D9F0EC1877F}"/>
              </a:ext>
            </a:extLst>
          </p:cNvPr>
          <p:cNvSpPr/>
          <p:nvPr/>
        </p:nvSpPr>
        <p:spPr>
          <a:xfrm>
            <a:off x="3111500" y="5613400"/>
            <a:ext cx="1030778" cy="10795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C3EF37C-9190-FFF3-A162-9BB33477BB3B}"/>
              </a:ext>
            </a:extLst>
          </p:cNvPr>
          <p:cNvCxnSpPr/>
          <p:nvPr/>
        </p:nvCxnSpPr>
        <p:spPr>
          <a:xfrm>
            <a:off x="3111500" y="5905500"/>
            <a:ext cx="7874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9070FAB-860D-7367-65B6-7C8FC5F427DE}"/>
              </a:ext>
            </a:extLst>
          </p:cNvPr>
          <p:cNvSpPr txBox="1"/>
          <p:nvPr/>
        </p:nvSpPr>
        <p:spPr>
          <a:xfrm>
            <a:off x="2882900" y="5994399"/>
            <a:ext cx="698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16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8830B81-6476-3B6C-AB8F-09D8BB13E0A5}"/>
              </a:ext>
            </a:extLst>
          </p:cNvPr>
          <p:cNvSpPr txBox="1"/>
          <p:nvPr/>
        </p:nvSpPr>
        <p:spPr>
          <a:xfrm>
            <a:off x="6461991" y="5994399"/>
            <a:ext cx="698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250</a:t>
            </a:r>
            <a:endParaRPr lang="zh-CN" altLang="en-US" sz="16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744ECE4-EF3C-FEC5-046D-8780366C60BB}"/>
              </a:ext>
            </a:extLst>
          </p:cNvPr>
          <p:cNvSpPr txBox="1"/>
          <p:nvPr/>
        </p:nvSpPr>
        <p:spPr>
          <a:xfrm>
            <a:off x="10041082" y="5994399"/>
            <a:ext cx="698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</a:t>
            </a:r>
            <a:endParaRPr lang="zh-CN" altLang="en-US" sz="16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E3CE897-62D4-E1EC-EACB-D0E7D83F534A}"/>
              </a:ext>
            </a:extLst>
          </p:cNvPr>
          <p:cNvSpPr txBox="1"/>
          <p:nvPr/>
        </p:nvSpPr>
        <p:spPr>
          <a:xfrm>
            <a:off x="609600" y="5994399"/>
            <a:ext cx="22987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片段对数</a:t>
            </a:r>
          </a:p>
        </p:txBody>
      </p:sp>
    </p:spTree>
    <p:extLst>
      <p:ext uri="{BB962C8B-B14F-4D97-AF65-F5344CB8AC3E}">
        <p14:creationId xmlns:p14="http://schemas.microsoft.com/office/powerpoint/2010/main" val="2571094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E41430-249B-7284-4A60-25365D1B4B79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C54EBC-B12F-0318-1D18-03A0CA551221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6DF215-B58E-DF59-E3BC-76281AB7C3F6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</a:t>
            </a:r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：由已有参考轨迹计算相对变换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16976-17D3-1020-9FA9-F7E784D5BE97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98A11C-D621-6504-F2A5-91DB67FDBE0F}"/>
              </a:ext>
            </a:extLst>
          </p:cNvPr>
          <p:cNvSpPr/>
          <p:nvPr/>
        </p:nvSpPr>
        <p:spPr>
          <a:xfrm>
            <a:off x="508000" y="2705100"/>
            <a:ext cx="266700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717813-1023-A0FD-1CD2-4A960FC2E429}"/>
              </a:ext>
            </a:extLst>
          </p:cNvPr>
          <p:cNvSpPr txBox="1"/>
          <p:nvPr/>
        </p:nvSpPr>
        <p:spPr>
          <a:xfrm>
            <a:off x="736600" y="3149599"/>
            <a:ext cx="2209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4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24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的局部坐标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A6246F-1A93-E5B9-1AB5-90EC37E224B4}"/>
              </a:ext>
            </a:extLst>
          </p:cNvPr>
          <p:cNvSpPr txBox="1"/>
          <p:nvPr/>
        </p:nvSpPr>
        <p:spPr>
          <a:xfrm>
            <a:off x="3238500" y="2463799"/>
            <a:ext cx="1460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4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1728" b="1" baseline="-2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sz="1728" b="1" baseline="-22000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7148C51-A724-BC26-3F8C-68D67D07D27F}"/>
              </a:ext>
            </a:extLst>
          </p:cNvPr>
          <p:cNvCxnSpPr/>
          <p:nvPr/>
        </p:nvCxnSpPr>
        <p:spPr>
          <a:xfrm>
            <a:off x="3352800" y="3429000"/>
            <a:ext cx="1181100" cy="0"/>
          </a:xfrm>
          <a:prstGeom prst="line">
            <a:avLst/>
          </a:prstGeom>
          <a:ln w="25400">
            <a:solidFill>
              <a:srgbClr val="2857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31C5E94-116D-A7AB-B423-845ED39F185A}"/>
              </a:ext>
            </a:extLst>
          </p:cNvPr>
          <p:cNvSpPr/>
          <p:nvPr/>
        </p:nvSpPr>
        <p:spPr>
          <a:xfrm>
            <a:off x="4762500" y="2705100"/>
            <a:ext cx="266700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E8BC9C-93DD-B2FA-28F2-8B2B46CB6464}"/>
              </a:ext>
            </a:extLst>
          </p:cNvPr>
          <p:cNvSpPr txBox="1"/>
          <p:nvPr/>
        </p:nvSpPr>
        <p:spPr>
          <a:xfrm>
            <a:off x="4991100" y="3149599"/>
            <a:ext cx="2209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世界坐标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F5C1CD-5BBD-7621-EE3B-761BFEC6627E}"/>
              </a:ext>
            </a:extLst>
          </p:cNvPr>
          <p:cNvSpPr txBox="1"/>
          <p:nvPr/>
        </p:nvSpPr>
        <p:spPr>
          <a:xfrm>
            <a:off x="7493000" y="2463799"/>
            <a:ext cx="1460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4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1728" b="1" baseline="-2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4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⁻¹</a:t>
            </a:r>
            <a:endParaRPr lang="zh-CN" altLang="en-US" sz="24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486F0CC-15D9-2EDB-6FD0-715C1EFB3E7F}"/>
              </a:ext>
            </a:extLst>
          </p:cNvPr>
          <p:cNvCxnSpPr/>
          <p:nvPr/>
        </p:nvCxnSpPr>
        <p:spPr>
          <a:xfrm>
            <a:off x="7607300" y="3429000"/>
            <a:ext cx="1181100" cy="0"/>
          </a:xfrm>
          <a:prstGeom prst="line">
            <a:avLst/>
          </a:prstGeom>
          <a:ln w="25400">
            <a:solidFill>
              <a:srgbClr val="2857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B4A49EA-A4F5-D99C-4E4B-D4FB99D46FDA}"/>
              </a:ext>
            </a:extLst>
          </p:cNvPr>
          <p:cNvSpPr/>
          <p:nvPr/>
        </p:nvSpPr>
        <p:spPr>
          <a:xfrm>
            <a:off x="9017000" y="2705100"/>
            <a:ext cx="266700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3887D3-BBEA-B0D3-B5A7-8A116F2C95D3}"/>
              </a:ext>
            </a:extLst>
          </p:cNvPr>
          <p:cNvSpPr txBox="1"/>
          <p:nvPr/>
        </p:nvSpPr>
        <p:spPr>
          <a:xfrm>
            <a:off x="9245600" y="3149599"/>
            <a:ext cx="2209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4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24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的局部坐标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B6C1C1-EC32-F90D-54E7-1E2DAC825B27}"/>
              </a:ext>
            </a:extLst>
          </p:cNvPr>
          <p:cNvSpPr txBox="1"/>
          <p:nvPr/>
        </p:nvSpPr>
        <p:spPr>
          <a:xfrm>
            <a:off x="1270000" y="4902199"/>
            <a:ext cx="9652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3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T* = T</a:t>
            </a:r>
            <a:r>
              <a:rPr lang="en-US" altLang="zh-CN" sz="2808" b="1" baseline="-2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3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⁻¹ T</a:t>
            </a:r>
            <a:r>
              <a:rPr lang="en-US" altLang="zh-CN" sz="2808" b="1" baseline="-2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sz="2808" b="1" baseline="-22000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1171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360403-53F1-7DEE-3637-685F26839EE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BAB258-DEF4-DF2E-AB9D-66A9C9FEE678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099471-57C5-0B5B-677D-13383A06A3E2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目标：提高配准成功率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ECBA1E-B184-4051-3F23-8EC645C6CB60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1B05C9-C69E-4662-87A3-EEE72A5705C4}"/>
              </a:ext>
            </a:extLst>
          </p:cNvPr>
          <p:cNvSpPr txBox="1"/>
          <p:nvPr/>
        </p:nvSpPr>
        <p:spPr>
          <a:xfrm>
            <a:off x="609600" y="2425699"/>
            <a:ext cx="698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3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0B5F27-8B5A-CD0A-AAF4-9473A67507B5}"/>
              </a:ext>
            </a:extLst>
          </p:cNvPr>
          <p:cNvSpPr txBox="1"/>
          <p:nvPr/>
        </p:nvSpPr>
        <p:spPr>
          <a:xfrm>
            <a:off x="1524000" y="2412999"/>
            <a:ext cx="9969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官方变换误差 </a:t>
            </a:r>
            <a:r>
              <a:rPr lang="en-US" altLang="zh-CN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&lt;0.2 m → </a:t>
            </a:r>
            <a:r>
              <a:rPr lang="zh-CN" altLang="en-US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此对成功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C3D619-351D-0AE8-55D1-3E7E8488B05C}"/>
              </a:ext>
            </a:extLst>
          </p:cNvPr>
          <p:cNvSpPr txBox="1"/>
          <p:nvPr/>
        </p:nvSpPr>
        <p:spPr>
          <a:xfrm>
            <a:off x="609600" y="3695699"/>
            <a:ext cx="698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23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810D6F-41F1-2C8D-00BB-C2CA7DC94358}"/>
              </a:ext>
            </a:extLst>
          </p:cNvPr>
          <p:cNvSpPr txBox="1"/>
          <p:nvPr/>
        </p:nvSpPr>
        <p:spPr>
          <a:xfrm>
            <a:off x="1524000" y="3682999"/>
            <a:ext cx="9969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每个场景：有效配对中的成功比例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FFE711-E9A4-3E0C-3B07-91AC4F617A4E}"/>
              </a:ext>
            </a:extLst>
          </p:cNvPr>
          <p:cNvSpPr txBox="1"/>
          <p:nvPr/>
        </p:nvSpPr>
        <p:spPr>
          <a:xfrm>
            <a:off x="609600" y="4965699"/>
            <a:ext cx="698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23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BDA2E6-AE29-1920-0038-5773E9543DA8}"/>
              </a:ext>
            </a:extLst>
          </p:cNvPr>
          <p:cNvSpPr txBox="1"/>
          <p:nvPr/>
        </p:nvSpPr>
        <p:spPr>
          <a:xfrm>
            <a:off x="1524000" y="4952999"/>
            <a:ext cx="99695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个场景等权平均 → </a:t>
            </a:r>
            <a:r>
              <a:rPr lang="en-US" altLang="zh-CN" sz="27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RR</a:t>
            </a:r>
            <a:endParaRPr lang="zh-CN" altLang="en-US" sz="2700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0008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21E3D3-4F75-F6E5-F6A5-04BBD9BF5284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CD1399-D793-694C-E8AA-01BBA0AF70BA}"/>
              </a:ext>
            </a:extLst>
          </p:cNvPr>
          <p:cNvSpPr txBox="1"/>
          <p:nvPr/>
        </p:nvSpPr>
        <p:spPr>
          <a:xfrm>
            <a:off x="558800" y="342899"/>
            <a:ext cx="9525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1DBEB0-EFF3-7ACF-2C4D-FA67D4D2ECB7}"/>
              </a:ext>
            </a:extLst>
          </p:cNvPr>
          <p:cNvSpPr txBox="1"/>
          <p:nvPr/>
        </p:nvSpPr>
        <p:spPr>
          <a:xfrm>
            <a:off x="558800" y="888999"/>
            <a:ext cx="11074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筛选几何一致的对应，能否更可靠？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F8A559-A1B5-662C-2A86-A11F0B22FCD5}"/>
              </a:ext>
            </a:extLst>
          </p:cNvPr>
          <p:cNvSpPr txBox="1"/>
          <p:nvPr/>
        </p:nvSpPr>
        <p:spPr>
          <a:xfrm>
            <a:off x="10490200" y="6400799"/>
            <a:ext cx="1143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/ 12</a:t>
            </a:r>
            <a:endParaRPr lang="zh-CN" altLang="en-US" sz="12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67D7F0-68D9-277C-7214-00F74E8AFA0F}"/>
              </a:ext>
            </a:extLst>
          </p:cNvPr>
          <p:cNvSpPr/>
          <p:nvPr/>
        </p:nvSpPr>
        <p:spPr>
          <a:xfrm>
            <a:off x="508000" y="274320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6DF857-E2FE-89CB-D7AC-C12301FCDE7F}"/>
              </a:ext>
            </a:extLst>
          </p:cNvPr>
          <p:cNvSpPr txBox="1"/>
          <p:nvPr/>
        </p:nvSpPr>
        <p:spPr>
          <a:xfrm>
            <a:off x="736600" y="3428999"/>
            <a:ext cx="2743200" cy="143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8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固定特征
与 </a:t>
            </a:r>
            <a:r>
              <a:rPr lang="en-US" altLang="zh-CN" sz="28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RANSAC</a:t>
            </a:r>
            <a:endParaRPr lang="zh-CN" altLang="en-US" sz="28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F7E70E4-3A5B-1A18-536E-1DF8E7680649}"/>
              </a:ext>
            </a:extLst>
          </p:cNvPr>
          <p:cNvCxnSpPr/>
          <p:nvPr/>
        </p:nvCxnSpPr>
        <p:spPr>
          <a:xfrm>
            <a:off x="3835400" y="4114800"/>
            <a:ext cx="4445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21140D5-D5E6-8BEE-B142-CD6A19ECEA95}"/>
              </a:ext>
            </a:extLst>
          </p:cNvPr>
          <p:cNvSpPr/>
          <p:nvPr/>
        </p:nvSpPr>
        <p:spPr>
          <a:xfrm>
            <a:off x="4419600" y="2743200"/>
            <a:ext cx="3352800" cy="27432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BD4524-5837-FC02-CE14-038E3264E475}"/>
              </a:ext>
            </a:extLst>
          </p:cNvPr>
          <p:cNvSpPr txBox="1"/>
          <p:nvPr/>
        </p:nvSpPr>
        <p:spPr>
          <a:xfrm>
            <a:off x="4648200" y="3276599"/>
            <a:ext cx="2895600" cy="173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8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只改变
对应选择规则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A47737E-405B-2A46-0DB1-10123737DFD4}"/>
              </a:ext>
            </a:extLst>
          </p:cNvPr>
          <p:cNvCxnSpPr/>
          <p:nvPr/>
        </p:nvCxnSpPr>
        <p:spPr>
          <a:xfrm>
            <a:off x="7899400" y="4114800"/>
            <a:ext cx="4445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14FA62F6-9AD7-679D-9ABF-5C53ED1D49B4}"/>
              </a:ext>
            </a:extLst>
          </p:cNvPr>
          <p:cNvSpPr/>
          <p:nvPr/>
        </p:nvSpPr>
        <p:spPr>
          <a:xfrm>
            <a:off x="8483600" y="2743200"/>
            <a:ext cx="3200400" cy="2743200"/>
          </a:xfrm>
          <a:prstGeom prst="rect">
            <a:avLst/>
          </a:prstGeom>
          <a:solidFill>
            <a:srgbClr val="E4F1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497802-1A2C-C6AF-8A37-39C102FC8BE4}"/>
              </a:ext>
            </a:extLst>
          </p:cNvPr>
          <p:cNvSpPr txBox="1"/>
          <p:nvPr/>
        </p:nvSpPr>
        <p:spPr>
          <a:xfrm>
            <a:off x="8712200" y="3378199"/>
            <a:ext cx="2743200" cy="158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8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比较低重叠
配准成功率</a:t>
            </a:r>
          </a:p>
        </p:txBody>
      </p:sp>
    </p:spTree>
    <p:extLst>
      <p:ext uri="{BB962C8B-B14F-4D97-AF65-F5344CB8AC3E}">
        <p14:creationId xmlns:p14="http://schemas.microsoft.com/office/powerpoint/2010/main" val="3495579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4212</Words>
  <Application>Microsoft Office PowerPoint</Application>
  <PresentationFormat>自定义</PresentationFormat>
  <Paragraphs>131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景寒 刘</dc:creator>
  <cp:lastModifiedBy>景寒 刘</cp:lastModifiedBy>
  <cp:revision>1</cp:revision>
  <dcterms:created xsi:type="dcterms:W3CDTF">2026-10-15T18:16:03Z</dcterms:created>
  <dcterms:modified xsi:type="dcterms:W3CDTF">2026-10-15T18:16:03Z</dcterms:modified>
</cp:coreProperties>
</file>