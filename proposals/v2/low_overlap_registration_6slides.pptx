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70C6B-907A-4C1F-8A30-E2685AC5AE0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73AAE-F065-42A0-9982-73C7F44EE7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56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开场约</a:t>
            </a:r>
            <a:r>
              <a:rPr lang="en-US" altLang="zh-CN"/>
              <a:t>40</a:t>
            </a:r>
            <a:r>
              <a:rPr lang="zh-CN" altLang="en-US"/>
              <a:t>秒。先指左、中两图：这就是算法拿到的两块局部地图，蓝色是源</a:t>
            </a:r>
            <a:r>
              <a:rPr lang="en-US" altLang="zh-CN"/>
              <a:t>P</a:t>
            </a:r>
            <a:r>
              <a:rPr lang="zh-CN" altLang="en-US"/>
              <a:t>，橙色是目标</a:t>
            </a:r>
            <a:r>
              <a:rPr lang="en-US" altLang="zh-CN"/>
              <a:t>Q</a:t>
            </a:r>
            <a:r>
              <a:rPr lang="zh-CN" altLang="en-US"/>
              <a:t>，各有自己的坐标系。机器人换视角以后，看到的表面和坐标都会变化；同一厨房的两份局部地图需要放到一起。再指右图：这是用数据集</a:t>
            </a:r>
            <a:r>
              <a:rPr lang="en-US" altLang="zh-CN"/>
              <a:t>GT</a:t>
            </a:r>
            <a:r>
              <a:rPr lang="zh-CN" altLang="en-US"/>
              <a:t>演示正确答案，把整个</a:t>
            </a:r>
            <a:r>
              <a:rPr lang="en-US" altLang="zh-CN"/>
              <a:t>P</a:t>
            </a:r>
            <a:r>
              <a:rPr lang="zh-CN" altLang="en-US"/>
              <a:t>刚体移动到</a:t>
            </a:r>
            <a:r>
              <a:rPr lang="en-US" altLang="zh-CN"/>
              <a:t>Q</a:t>
            </a:r>
            <a:r>
              <a:rPr lang="zh-CN" altLang="en-US"/>
              <a:t>坐标系，绿色是两份扫描中都观测到的邻近表面。模型实际输出一个</a:t>
            </a:r>
            <a:r>
              <a:rPr lang="en-US" altLang="zh-CN"/>
              <a:t>R,t</a:t>
            </a:r>
            <a:r>
              <a:rPr lang="zh-CN" altLang="en-US"/>
              <a:t>，不输出这张图，不创造新表面，也不要求所有点都有对应。</a:t>
            </a:r>
          </a:p>
          <a:p>
            <a:r>
              <a:rPr lang="zh-CN" altLang="en-US"/>
              <a:t>这是真实</a:t>
            </a:r>
            <a:r>
              <a:rPr lang="en-US" altLang="zh-CN"/>
              <a:t>3DMatch</a:t>
            </a:r>
            <a:r>
              <a:rPr lang="zh-CN" altLang="en-US"/>
              <a:t>测试</a:t>
            </a:r>
            <a:r>
              <a:rPr lang="en-US" altLang="zh-CN"/>
              <a:t>pair</a:t>
            </a:r>
            <a:r>
              <a:rPr lang="zh-CN" altLang="en-US"/>
              <a:t>，</a:t>
            </a:r>
            <a:r>
              <a:rPr lang="en-US" altLang="zh-CN"/>
              <a:t>7-scenes-redkitchen / source cloud_bin_12 → reference cloud_bin_0</a:t>
            </a:r>
            <a:r>
              <a:rPr lang="zh-CN" altLang="en-US"/>
              <a:t>，源</a:t>
            </a:r>
            <a:r>
              <a:rPr lang="en-US" altLang="zh-CN"/>
              <a:t>16341</a:t>
            </a:r>
            <a:r>
              <a:rPr lang="zh-CN" altLang="en-US"/>
              <a:t>点、目标</a:t>
            </a:r>
            <a:r>
              <a:rPr lang="en-US" altLang="zh-CN"/>
              <a:t>18977</a:t>
            </a:r>
            <a:r>
              <a:rPr lang="zh-CN" altLang="en-US"/>
              <a:t>点。点云从</a:t>
            </a:r>
            <a:r>
              <a:rPr lang="en-US" altLang="zh-CN"/>
              <a:t>PREDATOR</a:t>
            </a:r>
            <a:r>
              <a:rPr lang="zh-CN" altLang="en-US"/>
              <a:t>预处理</a:t>
            </a:r>
            <a:r>
              <a:rPr lang="en-US" altLang="zh-CN"/>
              <a:t>ZIP</a:t>
            </a:r>
            <a:r>
              <a:rPr lang="zh-CN" altLang="en-US"/>
              <a:t>按</a:t>
            </a:r>
            <a:r>
              <a:rPr lang="en-US" altLang="zh-CN"/>
              <a:t>HTTP Range</a:t>
            </a:r>
            <a:r>
              <a:rPr lang="zh-CN" altLang="en-US"/>
              <a:t>提取，并验证成员长度与</a:t>
            </a:r>
            <a:r>
              <a:rPr lang="en-US" altLang="zh-CN"/>
              <a:t>CRC32</a:t>
            </a:r>
            <a:r>
              <a:rPr lang="zh-CN" altLang="en-US"/>
              <a:t>；</a:t>
            </a:r>
            <a:r>
              <a:rPr lang="en-US" altLang="zh-CN"/>
              <a:t>GT</a:t>
            </a:r>
            <a:r>
              <a:rPr lang="zh-CN" altLang="en-US"/>
              <a:t>与两个作者仓库的</a:t>
            </a:r>
            <a:r>
              <a:rPr lang="en-US" altLang="zh-CN"/>
              <a:t>metadata</a:t>
            </a:r>
            <a:r>
              <a:rPr lang="zh-CN" altLang="en-US"/>
              <a:t>逐元素一致。第</a:t>
            </a:r>
            <a:r>
              <a:rPr lang="en-US" altLang="zh-CN"/>
              <a:t>3</a:t>
            </a:r>
            <a:r>
              <a:rPr lang="zh-CN" altLang="en-US"/>
              <a:t>页保持同一</a:t>
            </a:r>
            <a:r>
              <a:rPr lang="en-US" altLang="zh-CN"/>
              <a:t>reference0</a:t>
            </a:r>
            <a:r>
              <a:rPr lang="zh-CN" altLang="en-US"/>
              <a:t>，换成</a:t>
            </a:r>
            <a:r>
              <a:rPr lang="en-US" altLang="zh-CN"/>
              <a:t>source30</a:t>
            </a:r>
            <a:r>
              <a:rPr lang="zh-CN" altLang="en-US"/>
              <a:t>，形成教学对照。两组示例不是随机统计样本，也不构成算法性能实验。</a:t>
            </a:r>
          </a:p>
          <a:p>
            <a:r>
              <a:rPr lang="zh-CN" altLang="en-US"/>
              <a:t>百分比统一使用</a:t>
            </a:r>
            <a:r>
              <a:rPr lang="en-US" altLang="zh-CN"/>
              <a:t>GeoTransformer</a:t>
            </a:r>
            <a:r>
              <a:rPr lang="zh-CN" altLang="en-US"/>
              <a:t>固定版本</a:t>
            </a:r>
            <a:r>
              <a:rPr lang="en-US" altLang="zh-CN"/>
              <a:t>e7a135af4c318ff3b8d7f6c963df094d7e4ea540</a:t>
            </a:r>
            <a:r>
              <a:rPr lang="zh-CN" altLang="en-US"/>
              <a:t>的</a:t>
            </a:r>
            <a:r>
              <a:rPr lang="en-US" altLang="zh-CN"/>
              <a:t>overlap</a:t>
            </a:r>
            <a:r>
              <a:rPr lang="zh-CN" altLang="en-US"/>
              <a:t>字段，实际值</a:t>
            </a:r>
            <a:r>
              <a:rPr lang="en-US" altLang="zh-CN"/>
              <a:t>0.6135477441390187</a:t>
            </a:r>
            <a:r>
              <a:rPr lang="zh-CN" altLang="en-US"/>
              <a:t>。</a:t>
            </a:r>
            <a:r>
              <a:rPr lang="en-US" altLang="zh-CN"/>
              <a:t>PREDATOR</a:t>
            </a:r>
            <a:r>
              <a:rPr lang="zh-CN" altLang="en-US"/>
              <a:t>同一</a:t>
            </a:r>
            <a:r>
              <a:rPr lang="en-US" altLang="zh-CN"/>
              <a:t>pair</a:t>
            </a:r>
            <a:r>
              <a:rPr lang="zh-CN" altLang="en-US"/>
              <a:t>的字段为</a:t>
            </a:r>
            <a:r>
              <a:rPr lang="en-US" altLang="zh-CN"/>
              <a:t>0.4522490812153838</a:t>
            </a:r>
            <a:r>
              <a:rPr lang="zh-CN" altLang="en-US"/>
              <a:t>，作者字段口径不同；</a:t>
            </a:r>
            <a:r>
              <a:rPr lang="en-US" altLang="zh-CN"/>
              <a:t>pair</a:t>
            </a:r>
            <a:r>
              <a:rPr lang="zh-CN" altLang="en-US"/>
              <a:t>身份和</a:t>
            </a:r>
            <a:r>
              <a:rPr lang="en-US" altLang="zh-CN"/>
              <a:t>GT</a:t>
            </a:r>
            <a:r>
              <a:rPr lang="zh-CN" altLang="en-US"/>
              <a:t>一致。不要把这些百分比叫遮挡率、图中绿色面积比例或正确匹配比例。</a:t>
            </a:r>
          </a:p>
          <a:p>
            <a:r>
              <a:rPr lang="zh-CN" altLang="en-US"/>
              <a:t>绿色按</a:t>
            </a:r>
            <a:r>
              <a:rPr lang="en-US" altLang="zh-CN"/>
              <a:t>GT</a:t>
            </a:r>
            <a:r>
              <a:rPr lang="zh-CN" altLang="en-US"/>
              <a:t>对齐后双向最近邻距离</a:t>
            </a:r>
            <a:r>
              <a:rPr lang="en-US" altLang="zh-CN"/>
              <a:t>&lt;0.05m</a:t>
            </a:r>
            <a:r>
              <a:rPr lang="zh-CN" altLang="en-US"/>
              <a:t>逐点标注，仅帮助看见共同表面，不是</a:t>
            </a:r>
            <a:r>
              <a:rPr lang="en-US" altLang="zh-CN"/>
              <a:t>benchmark overlap</a:t>
            </a:r>
            <a:r>
              <a:rPr lang="zh-CN" altLang="en-US"/>
              <a:t>的重算，不给模型。输入保持原始</a:t>
            </a:r>
            <a:r>
              <a:rPr lang="en-US" altLang="zh-CN"/>
              <a:t>XYZ</a:t>
            </a:r>
            <a:r>
              <a:rPr lang="zh-CN" altLang="en-US"/>
              <a:t>；颜色与点法向明暗只服务渲染。所有面板米制缩放和投影视角相同，输入各自居中；两页</a:t>
            </a:r>
            <a:r>
              <a:rPr lang="en-US" altLang="zh-CN"/>
              <a:t>Q</a:t>
            </a:r>
            <a:r>
              <a:rPr lang="zh-CN" altLang="en-US"/>
              <a:t>图片完全相同，两页</a:t>
            </a:r>
            <a:r>
              <a:rPr lang="en-US" altLang="zh-CN"/>
              <a:t>GT</a:t>
            </a:r>
            <a:r>
              <a:rPr lang="zh-CN" altLang="en-US"/>
              <a:t>图使用相同显示中心。模型未运行。</a:t>
            </a:r>
          </a:p>
          <a:p>
            <a:r>
              <a:rPr lang="zh-CN" altLang="en-US"/>
              <a:t>课程联系：</a:t>
            </a:r>
            <a:r>
              <a:rPr lang="en-US" altLang="zh-CN"/>
              <a:t>Lecture2</a:t>
            </a:r>
            <a:r>
              <a:rPr lang="zh-CN" altLang="en-US"/>
              <a:t>刚体变换；</a:t>
            </a:r>
            <a:r>
              <a:rPr lang="en-US" altLang="zh-CN"/>
              <a:t>Lecture3</a:t>
            </a:r>
            <a:r>
              <a:rPr lang="zh-CN" altLang="en-US"/>
              <a:t>对应关系与一致性验证；</a:t>
            </a:r>
            <a:r>
              <a:rPr lang="en-US" altLang="zh-CN"/>
              <a:t>Lecture4–5</a:t>
            </a:r>
            <a:r>
              <a:rPr lang="zh-CN" altLang="en-US"/>
              <a:t>点云特征。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https://github.com/prs-eth/OverlapPredator#datasets-and-pretrained-models</a:t>
            </a:r>
          </a:p>
          <a:p>
            <a:r>
              <a:rPr lang="zh-CN" altLang="en-US"/>
              <a:t>配对元数据：</a:t>
            </a:r>
            <a:r>
              <a:rPr lang="en-US" altLang="zh-CN"/>
              <a:t>https://github.com/qinzheng93/GeoTransformer#3dmatch</a:t>
            </a:r>
          </a:p>
          <a:p>
            <a:r>
              <a:rPr lang="zh-CN" altLang="en-US"/>
              <a:t>完整来源、</a:t>
            </a:r>
            <a:r>
              <a:rPr lang="en-US" altLang="zh-CN"/>
              <a:t>GT</a:t>
            </a:r>
            <a:r>
              <a:rPr lang="zh-CN" altLang="en-US"/>
              <a:t>、</a:t>
            </a:r>
            <a:r>
              <a:rPr lang="en-US" altLang="zh-CN"/>
              <a:t>hash</a:t>
            </a:r>
            <a:r>
              <a:rPr lang="zh-CN" altLang="en-US"/>
              <a:t>和下载记录：</a:t>
            </a:r>
            <a:r>
              <a:rPr lang="en-US" altLang="zh-CN"/>
              <a:t>assets/registration/two_examples/examples.json</a:t>
            </a:r>
            <a:r>
              <a:rPr lang="zh-CN" altLang="en-US"/>
              <a:t>；渲染规则：</a:t>
            </a:r>
            <a:r>
              <a:rPr lang="en-US" altLang="zh-CN"/>
              <a:t>render_manifest.json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30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秒。按帧→片段→样本三个层次讲。最原始的是人在室内移动</a:t>
            </a:r>
            <a:r>
              <a:rPr lang="en-US" altLang="zh-CN"/>
              <a:t>RGB-D</a:t>
            </a:r>
            <a:r>
              <a:rPr lang="zh-CN" altLang="en-US"/>
              <a:t>相机拍下的序列，包含颜色、深度、内参和已有参考位姿。一个有效深度像素</a:t>
            </a:r>
            <a:r>
              <a:rPr lang="en-US" altLang="zh-CN"/>
              <a:t>(u,v,d)</a:t>
            </a:r>
            <a:r>
              <a:rPr lang="zh-CN" altLang="en-US"/>
              <a:t>可按</a:t>
            </a:r>
            <a:r>
              <a:rPr lang="en-US" altLang="zh-CN"/>
              <a:t>p=d K^-1[u,v,1]</a:t>
            </a:r>
            <a:r>
              <a:rPr lang="zh-CN" altLang="en-US"/>
              <a:t>反投影为三维点。原始深度文件以毫米保存，计算时转换成米。参考位姿由已有重建提供，不是本项目预测的输入。</a:t>
            </a:r>
          </a:p>
          <a:p>
            <a:r>
              <a:rPr lang="zh-CN" altLang="en-US"/>
              <a:t>官方</a:t>
            </a:r>
            <a:r>
              <a:rPr lang="en-US" altLang="zh-CN"/>
              <a:t>fuseSceneFragments.m</a:t>
            </a:r>
            <a:r>
              <a:rPr lang="zh-CN" altLang="en-US"/>
              <a:t>每</a:t>
            </a:r>
            <a:r>
              <a:rPr lang="en-US" altLang="zh-CN"/>
              <a:t>50</a:t>
            </a:r>
            <a:r>
              <a:rPr lang="zh-CN" altLang="en-US"/>
              <a:t>帧融合一次；</a:t>
            </a:r>
            <a:r>
              <a:rPr lang="en-US" altLang="zh-CN"/>
              <a:t>demo.cu</a:t>
            </a:r>
            <a:r>
              <a:rPr lang="zh-CN" altLang="en-US"/>
              <a:t>将该段第一帧选为局部坐标基准，利用</a:t>
            </a:r>
            <a:r>
              <a:rPr lang="en-US" altLang="zh-CN"/>
              <a:t>inv(T_world_base)T_world_frame</a:t>
            </a:r>
            <a:r>
              <a:rPr lang="zh-CN" altLang="en-US"/>
              <a:t>把其余帧变换进来，再通过</a:t>
            </a:r>
            <a:r>
              <a:rPr lang="en-US" altLang="zh-CN"/>
              <a:t>TSDF</a:t>
            </a:r>
            <a:r>
              <a:rPr lang="zh-CN" altLang="en-US"/>
              <a:t>融合并提取局部表面点。</a:t>
            </a:r>
            <a:r>
              <a:rPr lang="en-US" altLang="zh-CN"/>
              <a:t>fragment</a:t>
            </a:r>
            <a:r>
              <a:rPr lang="zh-CN" altLang="en-US"/>
              <a:t>的世界位姿保存该首帧</a:t>
            </a:r>
            <a:r>
              <a:rPr lang="en-US" altLang="zh-CN"/>
              <a:t>camera-to-world</a:t>
            </a:r>
            <a:r>
              <a:rPr lang="zh-CN" altLang="en-US"/>
              <a:t>矩阵。每个片段仍只包含那段时间真正观测到的表面，不是完整房间或物体。它也不是一张深度图，也不是原论文另一个局部</a:t>
            </a:r>
            <a:r>
              <a:rPr lang="en-US" altLang="zh-CN"/>
              <a:t>patch</a:t>
            </a:r>
            <a:r>
              <a:rPr lang="zh-CN" altLang="en-US"/>
              <a:t>分类任务里的小立方体。</a:t>
            </a:r>
          </a:p>
          <a:p>
            <a:r>
              <a:rPr lang="zh-CN" altLang="en-US"/>
              <a:t>我们不用重新做这些准备工作，直接读作者发布的预处理点云。一个配准样本由</a:t>
            </a:r>
            <a:r>
              <a:rPr lang="en-US" altLang="zh-CN"/>
              <a:t>P</a:t>
            </a:r>
            <a:r>
              <a:rPr lang="zh-CN" altLang="en-US"/>
              <a:t>、</a:t>
            </a:r>
            <a:r>
              <a:rPr lang="en-US" altLang="zh-CN"/>
              <a:t>Q</a:t>
            </a:r>
            <a:r>
              <a:rPr lang="zh-CN" altLang="en-US"/>
              <a:t>和正确答案</a:t>
            </a:r>
            <a:r>
              <a:rPr lang="en-US" altLang="zh-CN"/>
              <a:t>T*</a:t>
            </a:r>
            <a:r>
              <a:rPr lang="zh-CN" altLang="en-US"/>
              <a:t>组成，但只有</a:t>
            </a:r>
            <a:r>
              <a:rPr lang="en-US" altLang="zh-CN"/>
              <a:t>P</a:t>
            </a:r>
            <a:r>
              <a:rPr lang="zh-CN" altLang="en-US"/>
              <a:t>和</a:t>
            </a:r>
            <a:r>
              <a:rPr lang="en-US" altLang="zh-CN"/>
              <a:t>Q</a:t>
            </a:r>
            <a:r>
              <a:rPr lang="zh-CN" altLang="en-US"/>
              <a:t>输入模型。以第</a:t>
            </a:r>
            <a:r>
              <a:rPr lang="en-US" altLang="zh-CN"/>
              <a:t>1</a:t>
            </a:r>
            <a:r>
              <a:rPr lang="zh-CN" altLang="en-US"/>
              <a:t>页为例，</a:t>
            </a:r>
            <a:r>
              <a:rPr lang="en-US" altLang="zh-CN"/>
              <a:t>P</a:t>
            </a:r>
            <a:r>
              <a:rPr lang="zh-CN" altLang="en-US"/>
              <a:t>为片段</a:t>
            </a:r>
            <a:r>
              <a:rPr lang="en-US" altLang="zh-CN"/>
              <a:t>12</a:t>
            </a:r>
            <a:r>
              <a:rPr lang="zh-CN" altLang="en-US"/>
              <a:t>的</a:t>
            </a:r>
            <a:r>
              <a:rPr lang="en-US" altLang="zh-CN"/>
              <a:t>16341×3</a:t>
            </a:r>
            <a:r>
              <a:rPr lang="zh-CN" altLang="en-US"/>
              <a:t>数组，</a:t>
            </a:r>
            <a:r>
              <a:rPr lang="en-US" altLang="zh-CN"/>
              <a:t>Q</a:t>
            </a:r>
            <a:r>
              <a:rPr lang="zh-CN" altLang="en-US"/>
              <a:t>为片段</a:t>
            </a:r>
            <a:r>
              <a:rPr lang="en-US" altLang="zh-CN"/>
              <a:t>0</a:t>
            </a:r>
            <a:r>
              <a:rPr lang="zh-CN" altLang="en-US"/>
              <a:t>的</a:t>
            </a:r>
            <a:r>
              <a:rPr lang="en-US" altLang="zh-CN"/>
              <a:t>18977×3</a:t>
            </a:r>
            <a:r>
              <a:rPr lang="zh-CN" altLang="en-US"/>
              <a:t>数组。点数不同、行顺序任意，没有逐行一一对应关系。颜色只是可视化，不是当前</a:t>
            </a:r>
            <a:r>
              <a:rPr lang="en-US" altLang="zh-CN"/>
              <a:t>setting</a:t>
            </a:r>
            <a:r>
              <a:rPr lang="zh-CN" altLang="en-US"/>
              <a:t>的输入特征。</a:t>
            </a:r>
          </a:p>
          <a:p>
            <a:r>
              <a:rPr lang="zh-CN" altLang="en-US"/>
              <a:t>输出</a:t>
            </a:r>
            <a:r>
              <a:rPr lang="en-US" altLang="zh-CN"/>
              <a:t>R</a:t>
            </a:r>
            <a:r>
              <a:rPr lang="zh-CN" altLang="en-US"/>
              <a:t>属于</a:t>
            </a:r>
            <a:r>
              <a:rPr lang="en-US" altLang="zh-CN"/>
              <a:t>SO(3)</a:t>
            </a:r>
            <a:r>
              <a:rPr lang="zh-CN" altLang="en-US"/>
              <a:t>，满足正交且行列式为</a:t>
            </a:r>
            <a:r>
              <a:rPr lang="en-US" altLang="zh-CN"/>
              <a:t>1</a:t>
            </a:r>
            <a:r>
              <a:rPr lang="zh-CN" altLang="en-US"/>
              <a:t>；</a:t>
            </a:r>
            <a:r>
              <a:rPr lang="en-US" altLang="zh-CN"/>
              <a:t>t</a:t>
            </a:r>
            <a:r>
              <a:rPr lang="zh-CN" altLang="en-US"/>
              <a:t>是</a:t>
            </a:r>
            <a:r>
              <a:rPr lang="en-US" altLang="zh-CN"/>
              <a:t>3</a:t>
            </a:r>
            <a:r>
              <a:rPr lang="zh-CN" altLang="en-US"/>
              <a:t>维米制平移。对每个源点执行</a:t>
            </a:r>
            <a:r>
              <a:rPr lang="en-US" altLang="zh-CN"/>
              <a:t>Rp+t</a:t>
            </a:r>
            <a:r>
              <a:rPr lang="zh-CN" altLang="en-US"/>
              <a:t>进入目标坐标，所有点共用同一变换。</a:t>
            </a:r>
            <a:r>
              <a:rPr lang="en-US" altLang="zh-CN"/>
              <a:t>GT</a:t>
            </a:r>
            <a:r>
              <a:rPr lang="zh-CN" altLang="en-US"/>
              <a:t>是</a:t>
            </a:r>
            <a:r>
              <a:rPr lang="en-US" altLang="zh-CN"/>
              <a:t>4×4</a:t>
            </a:r>
            <a:r>
              <a:rPr lang="zh-CN" altLang="en-US"/>
              <a:t>齐次矩阵，包含旋转和平移，不是每点一个类别。已知尺度，不需要估计缩放；已知来自同一静态场景并存在重叠，不做跨场景检索、是否重叠的二分类、动态物体或非刚体配准。</a:t>
            </a:r>
          </a:p>
          <a:p>
            <a:r>
              <a:rPr lang="zh-CN" altLang="en-US"/>
              <a:t>上方轨迹用于数据集离线构建；下方模型测试时看不到该轨迹、初始相对位姿、</a:t>
            </a:r>
            <a:r>
              <a:rPr lang="en-US" altLang="zh-CN"/>
              <a:t>GT</a:t>
            </a:r>
            <a:r>
              <a:rPr lang="zh-CN" altLang="en-US"/>
              <a:t>对应或重叠标签。</a:t>
            </a:r>
          </a:p>
          <a:p>
            <a:r>
              <a:rPr lang="en-US" altLang="zh-CN"/>
              <a:t>https://github.com/andyzeng/3dmatch-toolbox/blob/master/depth-fusion/fuseSceneFragments.m</a:t>
            </a:r>
          </a:p>
          <a:p>
            <a:r>
              <a:rPr lang="en-US" altLang="zh-CN"/>
              <a:t>https://github.com/andyzeng/3dmatch-toolbox/blob/master/depth-fusion/demo.cu</a:t>
            </a:r>
          </a:p>
          <a:p>
            <a:r>
              <a:rPr lang="en-US" altLang="zh-CN"/>
              <a:t>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0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40</a:t>
            </a:r>
            <a:r>
              <a:rPr lang="zh-CN" altLang="en-US"/>
              <a:t>秒。先指中间：目标</a:t>
            </a:r>
            <a:r>
              <a:rPr lang="en-US" altLang="zh-CN"/>
              <a:t>Q</a:t>
            </a:r>
            <a:r>
              <a:rPr lang="zh-CN" altLang="en-US"/>
              <a:t>和第</a:t>
            </a:r>
            <a:r>
              <a:rPr lang="en-US" altLang="zh-CN"/>
              <a:t>1</a:t>
            </a:r>
            <a:r>
              <a:rPr lang="zh-CN" altLang="en-US"/>
              <a:t>页完全一样，连图片的视角和大小都没变；现在只把源片段换成</a:t>
            </a:r>
            <a:r>
              <a:rPr lang="en-US" altLang="zh-CN"/>
              <a:t>30</a:t>
            </a:r>
            <a:r>
              <a:rPr lang="zh-CN" altLang="en-US"/>
              <a:t>。再看右边，用</a:t>
            </a:r>
            <a:r>
              <a:rPr lang="en-US" altLang="zh-CN"/>
              <a:t>GT</a:t>
            </a:r>
            <a:r>
              <a:rPr lang="zh-CN" altLang="en-US"/>
              <a:t>把两份点云放回同一坐标系后，绿色共同表面明显减少，蓝色和橙色各有大块独有区域。那些区域根本没有真实对应，不能期待把所有点重合。真正的问题是：输入没有绿色标注，要从局部</a:t>
            </a:r>
            <a:r>
              <a:rPr lang="en-US" altLang="zh-CN"/>
              <a:t>XYZ</a:t>
            </a:r>
            <a:r>
              <a:rPr lang="zh-CN" altLang="en-US"/>
              <a:t>里找到少量可靠对应，估计一个对整个源点云适用的</a:t>
            </a:r>
            <a:r>
              <a:rPr lang="en-US" altLang="zh-CN"/>
              <a:t>R,t</a:t>
            </a:r>
            <a:r>
              <a:rPr lang="zh-CN" altLang="en-US"/>
              <a:t>。</a:t>
            </a:r>
          </a:p>
          <a:p>
            <a:r>
              <a:rPr lang="zh-CN" altLang="en-US"/>
              <a:t>这是</a:t>
            </a:r>
            <a:r>
              <a:rPr lang="en-US" altLang="zh-CN"/>
              <a:t>3DLoMatch</a:t>
            </a:r>
            <a:r>
              <a:rPr lang="zh-CN" altLang="en-US"/>
              <a:t>测试</a:t>
            </a:r>
            <a:r>
              <a:rPr lang="en-US" altLang="zh-CN"/>
              <a:t>pair</a:t>
            </a:r>
            <a:r>
              <a:rPr lang="zh-CN" altLang="en-US"/>
              <a:t>，</a:t>
            </a:r>
            <a:r>
              <a:rPr lang="en-US" altLang="zh-CN"/>
              <a:t>7-scenes-redkitchen / source cloud_bin_30 → reference cloud_bin_0</a:t>
            </a:r>
            <a:r>
              <a:rPr lang="zh-CN" altLang="en-US"/>
              <a:t>，源</a:t>
            </a:r>
            <a:r>
              <a:rPr lang="en-US" altLang="zh-CN"/>
              <a:t>11054</a:t>
            </a:r>
            <a:r>
              <a:rPr lang="zh-CN" altLang="en-US"/>
              <a:t>点、目标</a:t>
            </a:r>
            <a:r>
              <a:rPr lang="en-US" altLang="zh-CN"/>
              <a:t>18977</a:t>
            </a:r>
            <a:r>
              <a:rPr lang="zh-CN" altLang="en-US"/>
              <a:t>点，不在</a:t>
            </a:r>
            <a:r>
              <a:rPr lang="en-US" altLang="zh-CN"/>
              <a:t>3DMatch</a:t>
            </a:r>
            <a:r>
              <a:rPr lang="zh-CN" altLang="en-US"/>
              <a:t>配对列表中。</a:t>
            </a:r>
            <a:r>
              <a:rPr lang="en-US" altLang="zh-CN"/>
              <a:t>GeoTransformer</a:t>
            </a:r>
            <a:r>
              <a:rPr lang="zh-CN" altLang="en-US"/>
              <a:t>元数据</a:t>
            </a:r>
            <a:r>
              <a:rPr lang="en-US" altLang="zh-CN"/>
              <a:t>overlap=0.1993072286242296</a:t>
            </a:r>
            <a:r>
              <a:rPr lang="zh-CN" altLang="en-US"/>
              <a:t>；</a:t>
            </a:r>
            <a:r>
              <a:rPr lang="en-US" altLang="zh-CN"/>
              <a:t>PREDATOR</a:t>
            </a:r>
            <a:r>
              <a:rPr lang="zh-CN" altLang="en-US"/>
              <a:t>为</a:t>
            </a:r>
            <a:r>
              <a:rPr lang="en-US" altLang="zh-CN"/>
              <a:t>0.2022</a:t>
            </a:r>
            <a:r>
              <a:rPr lang="zh-CN" altLang="en-US"/>
              <a:t>。固定作者列表，不按另一个字段重新筛选。右图是</a:t>
            </a:r>
            <a:r>
              <a:rPr lang="en-US" altLang="zh-CN"/>
              <a:t>GT</a:t>
            </a:r>
            <a:r>
              <a:rPr lang="zh-CN" altLang="en-US"/>
              <a:t>对齐和解释性标注，既不是作者方法预测，也不是本项目结果。</a:t>
            </a:r>
          </a:p>
          <a:p>
            <a:r>
              <a:rPr lang="zh-CN" altLang="en-US"/>
              <a:t>两页都用同一相机方向、米制缩放、</a:t>
            </a:r>
            <a:r>
              <a:rPr lang="en-US" altLang="zh-CN"/>
              <a:t>GT</a:t>
            </a:r>
            <a:r>
              <a:rPr lang="zh-CN" altLang="en-US"/>
              <a:t>图中心和</a:t>
            </a:r>
            <a:r>
              <a:rPr lang="en-US" altLang="zh-CN"/>
              <a:t>5cm</a:t>
            </a:r>
            <a:r>
              <a:rPr lang="zh-CN" altLang="en-US"/>
              <a:t>邻近标注规则；</a:t>
            </a:r>
            <a:r>
              <a:rPr lang="en-US" altLang="zh-CN"/>
              <a:t>Q</a:t>
            </a:r>
            <a:r>
              <a:rPr lang="zh-CN" altLang="en-US"/>
              <a:t>图逐像素相同。绿色只表达</a:t>
            </a:r>
            <a:r>
              <a:rPr lang="en-US" altLang="zh-CN"/>
              <a:t>GT</a:t>
            </a:r>
            <a:r>
              <a:rPr lang="zh-CN" altLang="en-US"/>
              <a:t>下的邻近表面，不等于</a:t>
            </a:r>
            <a:r>
              <a:rPr lang="en-US" altLang="zh-CN"/>
              <a:t>metadata overlap</a:t>
            </a:r>
            <a:r>
              <a:rPr lang="zh-CN" altLang="en-US"/>
              <a:t>计算口径，不用于输入或候选筛选。完整数组、来源和</a:t>
            </a:r>
            <a:r>
              <a:rPr lang="en-US" altLang="zh-CN"/>
              <a:t>GT</a:t>
            </a:r>
            <a:r>
              <a:rPr lang="zh-CN" altLang="en-US"/>
              <a:t>方向见</a:t>
            </a:r>
            <a:r>
              <a:rPr lang="en-US" altLang="zh-CN"/>
              <a:t>assets/registration/two_examples/examples.json</a:t>
            </a:r>
            <a:r>
              <a:rPr lang="zh-CN" altLang="en-US"/>
              <a:t>。</a:t>
            </a:r>
          </a:p>
          <a:p>
            <a:r>
              <a:rPr lang="zh-CN" altLang="en-US"/>
              <a:t>这是两种典型情形的教学对照，不表示高重叠必定容易、低重叠必定失败，也没有在实验上隔离旋转角度等其他因素。低重叠由视野变化和遮挡共同造成；重复墙面、局部几何相似还会造成对应歧义。错误匹配率取决于特征和采样，不能用</a:t>
            </a:r>
            <a:r>
              <a:rPr lang="en-US" altLang="zh-CN"/>
              <a:t>1-overlap</a:t>
            </a:r>
            <a:r>
              <a:rPr lang="zh-CN" altLang="en-US"/>
              <a:t>替代。</a:t>
            </a:r>
          </a:p>
          <a:p>
            <a:r>
              <a:rPr lang="zh-CN" altLang="en-US"/>
              <a:t>启发：正确对应还必须共同支持同一个刚体变换，因此可以研究几何一致性筛选。不要提前承诺该规则一定改善。</a:t>
            </a:r>
          </a:p>
          <a:p>
            <a:r>
              <a:rPr lang="en-US" altLang="zh-CN"/>
              <a:t>https://github.com/prs-eth/OverlapPredator#datasets-and-pretrained-models</a:t>
            </a:r>
          </a:p>
          <a:p>
            <a:r>
              <a:rPr lang="en-US" altLang="zh-CN"/>
              <a:t>https://github.com/qinzheng93/GeoTransformer#3dmatch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952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</a:t>
            </a:r>
            <a:r>
              <a:rPr lang="en-US" altLang="zh-CN"/>
              <a:t>3DMatch</a:t>
            </a:r>
            <a:r>
              <a:rPr lang="zh-CN" altLang="en-US"/>
              <a:t>这个名字既是原论文的描述子方法，也指其后使用的数据和</a:t>
            </a:r>
            <a:r>
              <a:rPr lang="en-US" altLang="zh-CN"/>
              <a:t>benchmark</a:t>
            </a:r>
            <a:r>
              <a:rPr lang="zh-CN" altLang="en-US"/>
              <a:t>。我们用的是场景</a:t>
            </a:r>
            <a:r>
              <a:rPr lang="en-US" altLang="zh-CN"/>
              <a:t>fragment</a:t>
            </a:r>
            <a:r>
              <a:rPr lang="zh-CN" altLang="en-US"/>
              <a:t>配准任务，不是原论文</a:t>
            </a:r>
            <a:r>
              <a:rPr lang="en-US" altLang="zh-CN"/>
              <a:t>30000</a:t>
            </a:r>
            <a:r>
              <a:rPr lang="zh-CN" altLang="en-US"/>
              <a:t>个局部</a:t>
            </a:r>
            <a:r>
              <a:rPr lang="en-US" altLang="zh-CN"/>
              <a:t>patch</a:t>
            </a:r>
            <a:r>
              <a:rPr lang="zh-CN" altLang="en-US"/>
              <a:t>的二分类任务。</a:t>
            </a:r>
            <a:r>
              <a:rPr lang="en-US" altLang="zh-CN"/>
              <a:t>3DMatch</a:t>
            </a:r>
            <a:r>
              <a:rPr lang="zh-CN" altLang="en-US"/>
              <a:t>汇集真实室内</a:t>
            </a:r>
            <a:r>
              <a:rPr lang="en-US" altLang="zh-CN"/>
              <a:t>RGB-D</a:t>
            </a:r>
            <a:r>
              <a:rPr lang="zh-CN" altLang="en-US"/>
              <a:t>数据；</a:t>
            </a:r>
            <a:r>
              <a:rPr lang="en-US" altLang="zh-CN"/>
              <a:t>3DLoMatch</a:t>
            </a:r>
            <a:r>
              <a:rPr lang="zh-CN" altLang="en-US"/>
              <a:t>由</a:t>
            </a:r>
            <a:r>
              <a:rPr lang="en-US" altLang="zh-CN"/>
              <a:t>PREDATOR</a:t>
            </a:r>
            <a:r>
              <a:rPr lang="zh-CN" altLang="en-US"/>
              <a:t>工作在相同来源的扫描上构造低重叠配对评测，不是另一种传感器，不是不同的一批机器人，也不是我们人工裁掉点云制造的遮挡。</a:t>
            </a:r>
          </a:p>
          <a:p>
            <a:r>
              <a:rPr lang="zh-CN" altLang="en-US"/>
              <a:t>解释</a:t>
            </a:r>
            <a:r>
              <a:rPr lang="en-US" altLang="zh-CN"/>
              <a:t>1,623</a:t>
            </a:r>
            <a:r>
              <a:rPr lang="zh-CN" altLang="en-US"/>
              <a:t>对与</a:t>
            </a:r>
            <a:r>
              <a:rPr lang="en-US" altLang="zh-CN"/>
              <a:t>1,781</a:t>
            </a:r>
            <a:r>
              <a:rPr lang="zh-CN" altLang="en-US"/>
              <a:t>对：一行是同场景的两个片段路径和一个相对</a:t>
            </a:r>
            <a:r>
              <a:rPr lang="en-US" altLang="zh-CN"/>
              <a:t>GT</a:t>
            </a:r>
            <a:r>
              <a:rPr lang="zh-CN" altLang="en-US"/>
              <a:t>，一个片段可反复配给多个其他片段。刚才</a:t>
            </a:r>
            <a:r>
              <a:rPr lang="en-US" altLang="zh-CN"/>
              <a:t>ref0</a:t>
            </a:r>
            <a:r>
              <a:rPr lang="zh-CN" altLang="en-US"/>
              <a:t>分别配</a:t>
            </a:r>
            <a:r>
              <a:rPr lang="en-US" altLang="zh-CN"/>
              <a:t>src12</a:t>
            </a:r>
            <a:r>
              <a:rPr lang="zh-CN" altLang="en-US"/>
              <a:t>和</a:t>
            </a:r>
            <a:r>
              <a:rPr lang="en-US" altLang="zh-CN"/>
              <a:t>src30</a:t>
            </a:r>
            <a:r>
              <a:rPr lang="zh-CN" altLang="en-US"/>
              <a:t>就是两个不同样本。两套测试都覆盖厨房、家庭、酒店、学习室和实验室这</a:t>
            </a:r>
            <a:r>
              <a:rPr lang="en-US" altLang="zh-CN"/>
              <a:t>8</a:t>
            </a:r>
            <a:r>
              <a:rPr lang="zh-CN" altLang="en-US"/>
              <a:t>个独立测试场景。它们是有重叠的静态室内片段对，不代表任意两张扫描，更不代表所有机器人场景的分布。</a:t>
            </a:r>
          </a:p>
          <a:p>
            <a:r>
              <a:rPr lang="zh-CN" altLang="en-US"/>
              <a:t>实测</a:t>
            </a:r>
            <a:r>
              <a:rPr lang="en-US" altLang="zh-CN"/>
              <a:t>8</a:t>
            </a:r>
            <a:r>
              <a:rPr lang="zh-CN" altLang="en-US"/>
              <a:t>测试场景中</a:t>
            </a:r>
            <a:r>
              <a:rPr lang="en-US" altLang="zh-CN"/>
              <a:t>Match1623</a:t>
            </a:r>
            <a:r>
              <a:rPr lang="zh-CN" altLang="en-US"/>
              <a:t>对、</a:t>
            </a:r>
            <a:r>
              <a:rPr lang="en-US" altLang="zh-CN"/>
              <a:t>LoMatch1781</a:t>
            </a:r>
            <a:r>
              <a:rPr lang="zh-CN" altLang="en-US"/>
              <a:t>对，两列表共享</a:t>
            </a:r>
            <a:r>
              <a:rPr lang="en-US" altLang="zh-CN"/>
              <a:t>100</a:t>
            </a:r>
            <a:r>
              <a:rPr lang="zh-CN" altLang="en-US"/>
              <a:t>对，并不互斥；类别为厨房、家庭、酒店、学习室和实验室，配对数明显不均衡，因此主指标按官方场景均值。标称重叠门槛分别</a:t>
            </a:r>
            <a:r>
              <a:rPr lang="en-US" altLang="zh-CN"/>
              <a:t>&gt;30%</a:t>
            </a:r>
            <a:r>
              <a:rPr lang="zh-CN" altLang="en-US"/>
              <a:t>和</a:t>
            </a:r>
            <a:r>
              <a:rPr lang="en-US" altLang="zh-CN"/>
              <a:t>10%–30%</a:t>
            </a:r>
            <a:r>
              <a:rPr lang="zh-CN" altLang="en-US"/>
              <a:t>，不是物理遮挡率；当前不同仓库</a:t>
            </a:r>
            <a:r>
              <a:rPr lang="en-US" altLang="zh-CN"/>
              <a:t>overlap</a:t>
            </a:r>
            <a:r>
              <a:rPr lang="zh-CN" altLang="en-US"/>
              <a:t>字段不同，不重新筛掉边界外</a:t>
            </a:r>
            <a:r>
              <a:rPr lang="en-US" altLang="zh-CN"/>
              <a:t>pair</a:t>
            </a:r>
            <a:r>
              <a:rPr lang="zh-CN" altLang="en-US"/>
              <a:t>。</a:t>
            </a:r>
          </a:p>
          <a:p>
            <a:r>
              <a:rPr lang="en-US" altLang="zh-CN"/>
              <a:t>overlap</a:t>
            </a:r>
            <a:r>
              <a:rPr lang="zh-CN" altLang="en-US"/>
              <a:t>要在正确对齐后才能定义：按给定采样与距离阈值，看一份点集有多少点在另一份点集中存在邻近表面。它一般不是图像交并比，也不保证两个方向比例相同。图上绿色是我们的</a:t>
            </a:r>
            <a:r>
              <a:rPr lang="en-US" altLang="zh-CN"/>
              <a:t>5cm</a:t>
            </a:r>
            <a:r>
              <a:rPr lang="zh-CN" altLang="en-US"/>
              <a:t>可视化辅助，与作者</a:t>
            </a:r>
            <a:r>
              <a:rPr lang="en-US" altLang="zh-CN"/>
              <a:t>metadata overlap</a:t>
            </a:r>
            <a:r>
              <a:rPr lang="zh-CN" altLang="en-US"/>
              <a:t>并非同一计算口径。实际错误匹配率还取决于模型和采样。</a:t>
            </a:r>
          </a:p>
          <a:p>
            <a:r>
              <a:rPr lang="zh-CN" altLang="en-US"/>
              <a:t>原始文献</a:t>
            </a:r>
            <a:r>
              <a:rPr lang="en-US" altLang="zh-CN"/>
              <a:t>54</a:t>
            </a:r>
            <a:r>
              <a:rPr lang="zh-CN" altLang="en-US"/>
              <a:t>训练</a:t>
            </a:r>
            <a:r>
              <a:rPr lang="en-US" altLang="zh-CN"/>
              <a:t>/8</a:t>
            </a:r>
            <a:r>
              <a:rPr lang="zh-CN" altLang="en-US"/>
              <a:t>测试；后续论文</a:t>
            </a:r>
            <a:r>
              <a:rPr lang="en-US" altLang="zh-CN"/>
              <a:t>46/8/8</a:t>
            </a:r>
            <a:r>
              <a:rPr lang="zh-CN" altLang="en-US"/>
              <a:t>。当前</a:t>
            </a:r>
            <a:r>
              <a:rPr lang="en-US" altLang="zh-CN"/>
              <a:t>GeoTransformer</a:t>
            </a:r>
            <a:r>
              <a:rPr lang="zh-CN" altLang="en-US"/>
              <a:t>元数据</a:t>
            </a:r>
            <a:r>
              <a:rPr lang="en-US" altLang="zh-CN"/>
              <a:t>train20642</a:t>
            </a:r>
            <a:r>
              <a:rPr lang="zh-CN" altLang="en-US"/>
              <a:t>对、</a:t>
            </a:r>
            <a:r>
              <a:rPr lang="en-US" altLang="zh-CN"/>
              <a:t>75</a:t>
            </a:r>
            <a:r>
              <a:rPr lang="zh-CN" altLang="en-US"/>
              <a:t>序列名，</a:t>
            </a:r>
            <a:r>
              <a:rPr lang="en-US" altLang="zh-CN"/>
              <a:t>val1331</a:t>
            </a:r>
            <a:r>
              <a:rPr lang="zh-CN" altLang="en-US"/>
              <a:t>对、</a:t>
            </a:r>
            <a:r>
              <a:rPr lang="en-US" altLang="zh-CN"/>
              <a:t>8</a:t>
            </a:r>
            <a:r>
              <a:rPr lang="zh-CN" altLang="en-US"/>
              <a:t>序列名，按原场景档案名称映射为</a:t>
            </a:r>
            <a:r>
              <a:rPr lang="en-US" altLang="zh-CN"/>
              <a:t>48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。</a:t>
            </a:r>
            <a:r>
              <a:rPr lang="en-US" altLang="zh-CN"/>
              <a:t>train/val</a:t>
            </a:r>
            <a:r>
              <a:rPr lang="zh-CN" altLang="en-US"/>
              <a:t>共享</a:t>
            </a:r>
            <a:r>
              <a:rPr lang="en-US" altLang="zh-CN"/>
              <a:t>apt2-kitchen</a:t>
            </a:r>
            <a:r>
              <a:rPr lang="zh-CN" altLang="en-US"/>
              <a:t>的</a:t>
            </a:r>
            <a:r>
              <a:rPr lang="en-US" altLang="zh-CN"/>
              <a:t>75</a:t>
            </a:r>
            <a:r>
              <a:rPr lang="zh-CN" altLang="en-US"/>
              <a:t>对和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fragment</a:t>
            </a:r>
            <a:r>
              <a:rPr lang="zh-CN" altLang="en-US"/>
              <a:t>，</a:t>
            </a:r>
            <a:r>
              <a:rPr lang="en-US" altLang="zh-CN"/>
              <a:t>test</a:t>
            </a:r>
            <a:r>
              <a:rPr lang="zh-CN" altLang="en-US"/>
              <a:t>与二者无路径交叉。本项目先冻结特征，若训练新模块需从</a:t>
            </a:r>
            <a:r>
              <a:rPr lang="en-US" altLang="zh-CN"/>
              <a:t>train</a:t>
            </a:r>
            <a:r>
              <a:rPr lang="zh-CN" altLang="en-US"/>
              <a:t>剔除共享场景；已有权重的历史不能由删除</a:t>
            </a:r>
            <a:r>
              <a:rPr lang="en-US" altLang="zh-CN"/>
              <a:t>manifest</a:t>
            </a:r>
            <a:r>
              <a:rPr lang="zh-CN" altLang="en-US"/>
              <a:t>改变。详见上一版</a:t>
            </a:r>
            <a:r>
              <a:rPr lang="en-US" altLang="zh-CN"/>
              <a:t>dataset_audit_zh.txt</a:t>
            </a:r>
            <a:r>
              <a:rPr lang="zh-CN" altLang="en-US"/>
              <a:t>和</a:t>
            </a:r>
            <a:r>
              <a:rPr lang="en-US" altLang="zh-CN"/>
              <a:t>research/registration_audit.json</a:t>
            </a:r>
            <a:r>
              <a:rPr lang="zh-CN" altLang="en-US"/>
              <a:t>。</a:t>
            </a:r>
          </a:p>
          <a:p>
            <a:r>
              <a:rPr lang="zh-CN" altLang="en-US"/>
              <a:t>不要把</a:t>
            </a:r>
            <a:r>
              <a:rPr lang="en-US" altLang="zh-CN"/>
              <a:t>pair</a:t>
            </a:r>
            <a:r>
              <a:rPr lang="zh-CN" altLang="en-US"/>
              <a:t>随机打散就宣称训练测试独立，因为同一片段甚至完全相同配对可能进入两边。场景不均衡也意味着全体</a:t>
            </a:r>
            <a:r>
              <a:rPr lang="en-US" altLang="zh-CN"/>
              <a:t>pair</a:t>
            </a:r>
            <a:r>
              <a:rPr lang="zh-CN" altLang="en-US"/>
              <a:t>直接平均会更偏向</a:t>
            </a:r>
            <a:r>
              <a:rPr lang="en-US" altLang="zh-CN"/>
              <a:t>RedKitchen</a:t>
            </a:r>
            <a:r>
              <a:rPr lang="zh-CN" altLang="en-US"/>
              <a:t>，官方</a:t>
            </a:r>
            <a:r>
              <a:rPr lang="en-US" altLang="zh-CN"/>
              <a:t>RR</a:t>
            </a:r>
            <a:r>
              <a:rPr lang="zh-CN" altLang="en-US"/>
              <a:t>采用场景等权。</a:t>
            </a:r>
          </a:p>
          <a:p>
            <a:r>
              <a:rPr lang="en-US" altLang="zh-CN"/>
              <a:t>PREDATOR</a:t>
            </a:r>
            <a:r>
              <a:rPr lang="zh-CN" altLang="en-US"/>
              <a:t>预处理压缩包经</a:t>
            </a:r>
            <a:r>
              <a:rPr lang="en-US" altLang="zh-CN"/>
              <a:t>HEAD</a:t>
            </a:r>
            <a:r>
              <a:rPr lang="zh-CN" altLang="en-US"/>
              <a:t>约</a:t>
            </a:r>
            <a:r>
              <a:rPr lang="en-US" altLang="zh-CN"/>
              <a:t>936MB</a:t>
            </a:r>
            <a:r>
              <a:rPr lang="zh-CN" altLang="en-US"/>
              <a:t>；解压大小未测。本次两组教学样例仅按</a:t>
            </a:r>
            <a:r>
              <a:rPr lang="en-US" altLang="zh-CN"/>
              <a:t>HTTP Range</a:t>
            </a:r>
            <a:r>
              <a:rPr lang="zh-CN" altLang="en-US"/>
              <a:t>获取</a:t>
            </a:r>
            <a:r>
              <a:rPr lang="en-US" altLang="zh-CN"/>
              <a:t>ZIP</a:t>
            </a:r>
            <a:r>
              <a:rPr lang="zh-CN" altLang="en-US"/>
              <a:t>目录与</a:t>
            </a:r>
            <a:r>
              <a:rPr lang="en-US" altLang="zh-CN"/>
              <a:t>3</a:t>
            </a:r>
            <a:r>
              <a:rPr lang="zh-CN" altLang="en-US"/>
              <a:t>个片段，共</a:t>
            </a:r>
            <a:r>
              <a:rPr lang="en-US" altLang="zh-CN"/>
              <a:t>1370160</a:t>
            </a:r>
            <a:r>
              <a:rPr lang="zh-CN" altLang="en-US"/>
              <a:t>字节，没有下载完整数据包。</a:t>
            </a:r>
          </a:p>
          <a:p>
            <a:r>
              <a:rPr lang="en-US" altLang="zh-CN"/>
              <a:t>https://github.com/prs-eth/OverlapPredator</a:t>
            </a:r>
          </a:p>
          <a:p>
            <a:r>
              <a:rPr lang="en-US" altLang="zh-CN"/>
              <a:t>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281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秒。先讲数据集构建者和被评测算法拥有不同信息：构建者可用完整</a:t>
            </a:r>
            <a:r>
              <a:rPr lang="en-US" altLang="zh-CN"/>
              <a:t>RGB-D</a:t>
            </a:r>
            <a:r>
              <a:rPr lang="zh-CN" altLang="en-US"/>
              <a:t>序列、已有参考轨迹和离线重建，算法仅得到两个</a:t>
            </a:r>
            <a:r>
              <a:rPr lang="en-US" altLang="zh-CN"/>
              <a:t>fragment</a:t>
            </a:r>
            <a:r>
              <a:rPr lang="zh-CN" altLang="en-US"/>
              <a:t>的</a:t>
            </a:r>
            <a:r>
              <a:rPr lang="en-US" altLang="zh-CN"/>
              <a:t>XYZ</a:t>
            </a:r>
            <a:r>
              <a:rPr lang="zh-CN" altLang="en-US"/>
              <a:t>。</a:t>
            </a:r>
            <a:r>
              <a:rPr lang="en-US" altLang="zh-CN"/>
              <a:t>GT</a:t>
            </a:r>
            <a:r>
              <a:rPr lang="zh-CN" altLang="en-US"/>
              <a:t>不是模型泄露出来的答案，而是单独保存的评价标签。</a:t>
            </a:r>
          </a:p>
          <a:p>
            <a:r>
              <a:rPr lang="zh-CN" altLang="en-US"/>
              <a:t>顺着三个坐标框讲：</a:t>
            </a:r>
            <a:r>
              <a:rPr lang="en-US" altLang="zh-CN"/>
              <a:t>T_WP</a:t>
            </a:r>
            <a:r>
              <a:rPr lang="zh-CN" altLang="en-US"/>
              <a:t>把源片段的局部坐标送到世界；</a:t>
            </a:r>
            <a:r>
              <a:rPr lang="en-US" altLang="zh-CN"/>
              <a:t>inv(T_WQ)</a:t>
            </a:r>
            <a:r>
              <a:rPr lang="zh-CN" altLang="en-US"/>
              <a:t>再把世界坐标送回目标片段的坐标。因此</a:t>
            </a:r>
            <a:r>
              <a:rPr lang="en-US" altLang="zh-CN"/>
              <a:t>T*=inv(T_WQ)T_WP</a:t>
            </a:r>
            <a:r>
              <a:rPr lang="zh-CN" altLang="en-US"/>
              <a:t>。所有</a:t>
            </a:r>
            <a:r>
              <a:rPr lang="en-US" altLang="zh-CN"/>
              <a:t>T</a:t>
            </a:r>
            <a:r>
              <a:rPr lang="zh-CN" altLang="en-US"/>
              <a:t>都是</a:t>
            </a:r>
            <a:r>
              <a:rPr lang="en-US" altLang="zh-CN"/>
              <a:t>4×4</a:t>
            </a:r>
            <a:r>
              <a:rPr lang="zh-CN" altLang="en-US"/>
              <a:t>齐次矩阵，上左</a:t>
            </a:r>
            <a:r>
              <a:rPr lang="en-US" altLang="zh-CN"/>
              <a:t>3×3</a:t>
            </a:r>
            <a:r>
              <a:rPr lang="zh-CN" altLang="en-US"/>
              <a:t>为</a:t>
            </a:r>
            <a:r>
              <a:rPr lang="en-US" altLang="zh-CN"/>
              <a:t>R</a:t>
            </a:r>
            <a:r>
              <a:rPr lang="zh-CN" altLang="en-US"/>
              <a:t>，右上</a:t>
            </a:r>
            <a:r>
              <a:rPr lang="en-US" altLang="zh-CN"/>
              <a:t>3×1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，最后一行为</a:t>
            </a:r>
            <a:r>
              <a:rPr lang="en-US" altLang="zh-CN"/>
              <a:t>0,0,0,1</a:t>
            </a:r>
            <a:r>
              <a:rPr lang="zh-CN" altLang="en-US"/>
              <a:t>。官方</a:t>
            </a:r>
            <a:r>
              <a:rPr lang="en-US" altLang="zh-CN"/>
              <a:t>GT</a:t>
            </a:r>
            <a:r>
              <a:rPr lang="zh-CN" altLang="en-US"/>
              <a:t>代码读取各片段首帧已有位姿，保存</a:t>
            </a:r>
            <a:r>
              <a:rPr lang="en-US" altLang="zh-CN"/>
              <a:t>fragment2→fragment1</a:t>
            </a:r>
            <a:r>
              <a:rPr lang="zh-CN" altLang="en-US"/>
              <a:t>的变换，与本项目</a:t>
            </a:r>
            <a:r>
              <a:rPr lang="en-US" altLang="zh-CN"/>
              <a:t>src→ref</a:t>
            </a:r>
            <a:r>
              <a:rPr lang="zh-CN" altLang="en-US"/>
              <a:t>相同。该参考来自重建，并非绝对无噪声的动捕测量。</a:t>
            </a:r>
          </a:p>
          <a:p>
            <a:r>
              <a:rPr lang="zh-CN" altLang="en-US"/>
              <a:t>模型输出一个预测</a:t>
            </a:r>
            <a:r>
              <a:rPr lang="en-US" altLang="zh-CN"/>
              <a:t>T</a:t>
            </a:r>
            <a:r>
              <a:rPr lang="zh-CN" altLang="en-US"/>
              <a:t>，评价端拿</a:t>
            </a:r>
            <a:r>
              <a:rPr lang="en-US" altLang="zh-CN"/>
              <a:t>GT</a:t>
            </a:r>
            <a:r>
              <a:rPr lang="zh-CN" altLang="en-US"/>
              <a:t>比较。官方标准</a:t>
            </a:r>
            <a:r>
              <a:rPr lang="en-US" altLang="zh-CN"/>
              <a:t>RR</a:t>
            </a:r>
            <a:r>
              <a:rPr lang="zh-CN" altLang="en-US"/>
              <a:t>使用</a:t>
            </a:r>
            <a:r>
              <a:rPr lang="en-US" altLang="zh-CN"/>
              <a:t>gt.info</a:t>
            </a:r>
            <a:r>
              <a:rPr lang="zh-CN" altLang="en-US"/>
              <a:t>里由参考对应几何计算的信息矩阵，对位姿误差做归一化二次型，以其平方根（重对齐</a:t>
            </a:r>
            <a:r>
              <a:rPr lang="en-US" altLang="zh-CN"/>
              <a:t>RMSE</a:t>
            </a:r>
            <a:r>
              <a:rPr lang="zh-CN" altLang="en-US"/>
              <a:t>的近似）</a:t>
            </a:r>
            <a:r>
              <a:rPr lang="en-US" altLang="zh-CN"/>
              <a:t>&lt;0.2m</a:t>
            </a:r>
            <a:r>
              <a:rPr lang="zh-CN" altLang="en-US"/>
              <a:t>判成功。实现代码比较平方误差</a:t>
            </a:r>
            <a:r>
              <a:rPr lang="en-US" altLang="zh-CN"/>
              <a:t>&lt;0.2²</a:t>
            </a:r>
            <a:r>
              <a:rPr lang="zh-CN" altLang="en-US"/>
              <a:t>。这不是</a:t>
            </a:r>
            <a:r>
              <a:rPr lang="en-US" altLang="zh-CN"/>
              <a:t>t</a:t>
            </a:r>
            <a:r>
              <a:rPr lang="zh-CN" altLang="en-US"/>
              <a:t>的范数、</a:t>
            </a:r>
            <a:r>
              <a:rPr lang="en-US" altLang="zh-CN"/>
              <a:t>R/t</a:t>
            </a:r>
            <a:r>
              <a:rPr lang="zh-CN" altLang="en-US"/>
              <a:t>元素</a:t>
            </a:r>
            <a:r>
              <a:rPr lang="en-US" altLang="zh-CN"/>
              <a:t>RMSE</a:t>
            </a:r>
            <a:r>
              <a:rPr lang="zh-CN" altLang="en-US"/>
              <a:t>或普通最近邻</a:t>
            </a:r>
            <a:r>
              <a:rPr lang="en-US" altLang="zh-CN"/>
              <a:t>Chamfer</a:t>
            </a:r>
            <a:r>
              <a:rPr lang="zh-CN" altLang="en-US"/>
              <a:t>，也不是所有点要在</a:t>
            </a:r>
            <a:r>
              <a:rPr lang="en-US" altLang="zh-CN"/>
              <a:t>20cm</a:t>
            </a:r>
            <a:r>
              <a:rPr lang="zh-CN" altLang="en-US"/>
              <a:t>内逐个重合。</a:t>
            </a:r>
          </a:p>
          <a:p>
            <a:r>
              <a:rPr lang="zh-CN" altLang="en-US"/>
              <a:t>关键计数：作者</a:t>
            </a:r>
            <a:r>
              <a:rPr lang="en-US" altLang="zh-CN"/>
              <a:t>RR</a:t>
            </a:r>
            <a:r>
              <a:rPr lang="zh-CN" altLang="en-US"/>
              <a:t>协议排除直接相邻的</a:t>
            </a:r>
            <a:r>
              <a:rPr lang="en-US" altLang="zh-CN"/>
              <a:t>fragment</a:t>
            </a:r>
            <a:r>
              <a:rPr lang="zh-CN" altLang="en-US"/>
              <a:t>（</a:t>
            </a:r>
            <a:r>
              <a:rPr lang="en-US" altLang="zh-CN"/>
              <a:t>frag_id1&gt;frag_id0+1</a:t>
            </a:r>
            <a:r>
              <a:rPr lang="zh-CN" altLang="en-US"/>
              <a:t>），然后在每个场景内求成功比例，再把</a:t>
            </a:r>
            <a:r>
              <a:rPr lang="en-US" altLang="zh-CN"/>
              <a:t>8</a:t>
            </a:r>
            <a:r>
              <a:rPr lang="zh-CN" altLang="en-US"/>
              <a:t>个场景等权平均。第</a:t>
            </a:r>
            <a:r>
              <a:rPr lang="en-US" altLang="zh-CN"/>
              <a:t>4</a:t>
            </a:r>
            <a:r>
              <a:rPr lang="zh-CN" altLang="en-US"/>
              <a:t>页</a:t>
            </a:r>
            <a:r>
              <a:rPr lang="en-US" altLang="zh-CN"/>
              <a:t>1623/1781</a:t>
            </a:r>
            <a:r>
              <a:rPr lang="zh-CN" altLang="en-US"/>
              <a:t>是加载配对列表的规模，不可直接用它们做全局</a:t>
            </a:r>
            <a:r>
              <a:rPr lang="en-US" altLang="zh-CN"/>
              <a:t>RR</a:t>
            </a:r>
            <a:r>
              <a:rPr lang="zh-CN" altLang="en-US"/>
              <a:t>分母。固定</a:t>
            </a:r>
            <a:r>
              <a:rPr lang="en-US" altLang="zh-CN"/>
              <a:t>metadata</a:t>
            </a:r>
            <a:r>
              <a:rPr lang="zh-CN" altLang="en-US"/>
              <a:t>实测有效对为</a:t>
            </a:r>
            <a:r>
              <a:rPr lang="en-US" altLang="zh-CN"/>
              <a:t>Match1279</a:t>
            </a:r>
            <a:r>
              <a:rPr lang="zh-CN" altLang="en-US"/>
              <a:t>、</a:t>
            </a:r>
            <a:r>
              <a:rPr lang="en-US" altLang="zh-CN"/>
              <a:t>LoMatch1726</a:t>
            </a:r>
            <a:r>
              <a:rPr lang="zh-CN" altLang="en-US"/>
              <a:t>。两教学样本</a:t>
            </a:r>
            <a:r>
              <a:rPr lang="en-US" altLang="zh-CN"/>
              <a:t>12→0</a:t>
            </a:r>
            <a:r>
              <a:rPr lang="zh-CN" altLang="en-US"/>
              <a:t>和</a:t>
            </a:r>
            <a:r>
              <a:rPr lang="en-US" altLang="zh-CN"/>
              <a:t>30→0</a:t>
            </a:r>
            <a:r>
              <a:rPr lang="zh-CN" altLang="en-US"/>
              <a:t>均为非相邻片段，均在有效列表中。各场景计数与证据见</a:t>
            </a:r>
            <a:r>
              <a:rPr lang="en-US" altLang="zh-CN"/>
              <a:t>research/rr_protocol_audit.json</a:t>
            </a:r>
            <a:r>
              <a:rPr lang="zh-CN" altLang="en-US"/>
              <a:t>。</a:t>
            </a:r>
          </a:p>
          <a:p>
            <a:r>
              <a:rPr lang="zh-CN" altLang="en-US"/>
              <a:t>不变的是评价目标：</a:t>
            </a:r>
            <a:r>
              <a:rPr lang="en-US" altLang="zh-CN"/>
              <a:t>Match</a:t>
            </a:r>
            <a:r>
              <a:rPr lang="zh-CN" altLang="en-US"/>
              <a:t>与</a:t>
            </a:r>
            <a:r>
              <a:rPr lang="en-US" altLang="zh-CN"/>
              <a:t>LoMatch</a:t>
            </a:r>
            <a:r>
              <a:rPr lang="zh-CN" altLang="en-US"/>
              <a:t>分别报告官方</a:t>
            </a:r>
            <a:r>
              <a:rPr lang="en-US" altLang="zh-CN"/>
              <a:t>RR</a:t>
            </a:r>
            <a:r>
              <a:rPr lang="zh-CN" altLang="en-US"/>
              <a:t>和耗时。如果另报</a:t>
            </a:r>
            <a:r>
              <a:rPr lang="en-US" altLang="zh-CN"/>
              <a:t>RRE/RTE</a:t>
            </a:r>
            <a:r>
              <a:rPr lang="zh-CN" altLang="en-US"/>
              <a:t>，需注明作者实现仅对成功配准样本统计这些量。</a:t>
            </a:r>
            <a:r>
              <a:rPr lang="en-US" altLang="zh-CN"/>
              <a:t>GT</a:t>
            </a:r>
            <a:r>
              <a:rPr lang="zh-CN" altLang="en-US"/>
              <a:t>、参考对应和</a:t>
            </a:r>
            <a:r>
              <a:rPr lang="en-US" altLang="zh-CN"/>
              <a:t>overlap</a:t>
            </a:r>
            <a:r>
              <a:rPr lang="zh-CN" altLang="en-US"/>
              <a:t>标记都不用于测试时筛选。</a:t>
            </a:r>
          </a:p>
          <a:p>
            <a:r>
              <a:rPr lang="en-US" altLang="zh-CN"/>
              <a:t>https://github.com/andyzeng/3dmatch-toolbox/blob/master/evaluation/geometric-registration/getGtInfoLog.m</a:t>
            </a:r>
          </a:p>
          <a:p>
            <a:r>
              <a:rPr lang="en-US" altLang="zh-CN"/>
              <a:t>https://github.com/qinzheng93/GeoTransformer/blob/e7a135af4c318ff3b8d7f6c963df094d7e4ea540/experiments/geotransformer.3dmatch.stage4.gse.k3.max.oacl.stage2.sinkhorn/eval.py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867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收束约</a:t>
            </a:r>
            <a:r>
              <a:rPr lang="en-US" altLang="zh-CN"/>
              <a:t>40</a:t>
            </a:r>
            <a:r>
              <a:rPr lang="zh-CN" altLang="en-US"/>
              <a:t>秒。前五页已把输入、输出、困难、数据和目标闭合；现在只提出可验证的课程实验，不承诺一个尚未实现的新方法。先复现</a:t>
            </a:r>
            <a:r>
              <a:rPr lang="en-US" altLang="zh-CN"/>
              <a:t>PREDATOR</a:t>
            </a:r>
            <a:r>
              <a:rPr lang="zh-CN" altLang="en-US"/>
              <a:t>特征与</a:t>
            </a:r>
            <a:r>
              <a:rPr lang="en-US" altLang="zh-CN"/>
              <a:t>RANSAC</a:t>
            </a:r>
            <a:r>
              <a:rPr lang="zh-CN" altLang="en-US"/>
              <a:t>，然后缓存固定的候选对应池。在受控对照里，原匹配评分与几何一致性评分各自排序后取</a:t>
            </a:r>
            <a:r>
              <a:rPr lang="en-US" altLang="zh-CN"/>
              <a:t>Top-K</a:t>
            </a:r>
            <a:r>
              <a:rPr lang="zh-CN" altLang="en-US"/>
              <a:t>进入同一个</a:t>
            </a:r>
            <a:r>
              <a:rPr lang="en-US" altLang="zh-CN"/>
              <a:t>RANSAC</a:t>
            </a:r>
            <a:r>
              <a:rPr lang="zh-CN" altLang="en-US"/>
              <a:t>；</a:t>
            </a:r>
            <a:r>
              <a:rPr lang="en-US" altLang="zh-CN"/>
              <a:t>K</a:t>
            </a:r>
            <a:r>
              <a:rPr lang="zh-CN" altLang="en-US"/>
              <a:t>在开发集预先固定。池不足</a:t>
            </a:r>
            <a:r>
              <a:rPr lang="en-US" altLang="zh-CN"/>
              <a:t>K</a:t>
            </a:r>
            <a:r>
              <a:rPr lang="zh-CN" altLang="en-US"/>
              <a:t>时双方统一取</a:t>
            </a:r>
            <a:r>
              <a:rPr lang="en-US" altLang="zh-CN"/>
              <a:t>min(K,</a:t>
            </a:r>
            <a:r>
              <a:rPr lang="zh-CN" altLang="en-US"/>
              <a:t>池大小</a:t>
            </a:r>
            <a:r>
              <a:rPr lang="en-US" altLang="zh-CN"/>
              <a:t>)</a:t>
            </a:r>
            <a:r>
              <a:rPr lang="zh-CN" altLang="en-US"/>
              <a:t>，不重复补点。避免用硬阈值剔除导致两边对应预算不同。论文原始评测另行复现，不把我们这个受控选择协议冒称论文默认设置。规则和阈值在开发集选，测试只评价。</a:t>
            </a:r>
          </a:p>
          <a:p>
            <a:r>
              <a:rPr lang="zh-CN" altLang="en-US"/>
              <a:t>点间距离在刚体变换下保持不变，允许用多个对应共同支持一个几何解释。但重复结构也可能错误地保持局部距离，所以成功与否需实验。</a:t>
            </a:r>
            <a:r>
              <a:rPr lang="en-US" altLang="zh-CN"/>
              <a:t>GeoTransformer</a:t>
            </a:r>
            <a:r>
              <a:rPr lang="zh-CN" altLang="en-US"/>
              <a:t>等已利用几何关系，不能把加入几何一致性笼统当作原创贡献。课程贡献可以是可复现的受控比较与失败分析，明确什么时候有用、什么时候无用。</a:t>
            </a:r>
          </a:p>
          <a:p>
            <a:r>
              <a:rPr lang="en-US" altLang="zh-CN"/>
              <a:t>https://github.com/prs-eth/OverlapPredator</a:t>
            </a:r>
          </a:p>
          <a:p>
            <a:r>
              <a:rPr lang="zh-CN" altLang="en-US"/>
              <a:t>课程联系：</a:t>
            </a:r>
            <a:r>
              <a:rPr lang="en-US" altLang="zh-CN"/>
              <a:t>Lecture2 R/t</a:t>
            </a:r>
            <a:r>
              <a:rPr lang="zh-CN" altLang="en-US"/>
              <a:t>，</a:t>
            </a:r>
            <a:r>
              <a:rPr lang="en-US" altLang="zh-CN"/>
              <a:t>Lecture3</a:t>
            </a:r>
            <a:r>
              <a:rPr lang="zh-CN" altLang="en-US"/>
              <a:t>匹配与一致性验证，</a:t>
            </a:r>
            <a:r>
              <a:rPr lang="en-US" altLang="zh-CN"/>
              <a:t>Lecture4–5</a:t>
            </a:r>
            <a:r>
              <a:rPr lang="zh-CN" altLang="en-US"/>
              <a:t>局部点云特征。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73AAE-F065-42A0-9982-73C7F44EE7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91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D15E5-FD8B-C6B7-E53A-F49D8DC02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74EA0C-A646-8F26-7F8B-6BB8FCC1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A5098-5F07-7181-BEA8-11BE61D6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1B19F-72A7-F6B1-496B-CDCF9BCE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D9FB2-F227-69B2-D222-98F78F99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6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78FA5-F298-052F-0306-DE79CA7E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E211BE-198E-84B5-9BF8-DEEE705A5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0CB10-ACCF-B4EB-A976-BC6640BD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06666-113C-1169-4865-883ED40D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3F371D-6B10-68F4-8CAC-7DBECAE4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53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AC21A-80F2-6218-13D2-BFD15B25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1F0AD4-21E9-1F62-B4D2-920DAE63B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D2EA1-1661-1761-9DF9-B469DF07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49949-B550-BEAE-5659-377F5300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C0A906-796E-006F-9ACD-918FFD55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26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774ED-B5C3-B253-765D-010E20DE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4099BB-D2F2-1F3A-36C7-B217C9AC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CC5FB6-4D63-D087-D76C-CAC8B66E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EBEBA2-8439-12FD-66A3-A5BB6127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64F713-EF0F-32E7-9936-8C5718D3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ED093-1017-6012-026E-06FE0E5E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48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101F4-F8F8-AF87-0E04-4FEB4142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D8773B-02BE-9949-A0B0-EF86563FE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4D8E05-2E8B-853B-7F8E-6A02F8DD0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779CCF-8E5D-A16A-FB4C-7FE43AA97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49D1D-BAC1-5451-E4A5-696F75DB7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17F950-236C-F4B8-2BDD-E0AC5055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EB4F95-C78C-0D1B-11E0-B7D1CFC8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3EB935-FE1C-AB0E-B260-7A9BB9D2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17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91292-B3A7-9DEB-6225-310F3318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CCF622-1456-B7C0-5793-48814EAD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52C261-028E-B9A5-1DC8-3104D0C4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FE5E69-8456-7584-CB67-E0FA0191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F0A8F2-807B-904F-39C7-6C0A1FAC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F4738C-F150-714D-7A42-1530C3E0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4CCAB5-5F74-BEFB-A1EC-1F48A4F9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43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93FAB-AB2E-8764-FF43-3CE15EDB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ED7142-FE66-77CC-76B5-A367593A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0D5B90-C9F4-A444-DAFA-3FF0E8C92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3C6E7-A965-08DA-9F27-3CEA636E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1894A-3E59-D5A6-5FDB-B9C78FB1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881075-EA79-ABB1-CE41-EC996851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2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6DD85-D34C-C832-699A-6F1B9687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34068F-615F-09DC-BD73-5C04F17916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D09B7A-9891-9EC7-8C01-80BF73904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DCCA9-9BA7-917B-7AD8-66245F91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7D9C4A-21A7-9D20-B570-87271E7A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0C641-F715-78AE-FCAB-1F811B20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584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72847-3B73-7CB9-8798-29E2E34A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E9150D-FAA9-DD9F-0D0B-B0174E14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5F47DA-8FB2-A373-5DFB-99B59C12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DE71B-947A-8F27-39BE-76211F61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8D1E45-6913-AF94-9974-DECE0B92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29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65429C-0C0A-C4F2-CA7A-7AC9F260D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7DF4B8-4B9B-E25B-7195-DB9312DB1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2C822-6A61-D51D-8177-63F1EF83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F3D48-02D3-5144-C85C-C2A15B5C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3BB2C-DCF6-3F5D-4E8F-6E54C6CB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5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CCD6FC-8C1A-9D7E-B62C-AF1CF419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EEDEE-0124-F926-2E8D-DBFFAAE0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D3F38-0A1C-42DD-C1EA-77F765A83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EA13A-38A6-4884-A297-BE05C8B99F63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C7DD1-AFF0-A9B1-00F9-F6182906E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269033-B9E8-B1B1-7AD9-94C73906C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5BA6E-6F74-4E19-BCC8-1D3F5CEC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74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qinzheng93/GeoTransformer#3dmatch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yzeng/3dmatch-toolbox/tree/master/depth-fus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qinzheng93/GeoTransformer#3dmatch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s-eth/OverlapPredato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inzheng93/GeoTransformer/blob/e7a135af4c318ff3b8d7f6c963df094d7e4ea540/geotransformer/datasets/registration/threedmatch/utils.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s-eth/OverlapPredato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BD57BC-F791-0EFC-94FB-FE86B864106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A6F1A6-4EEF-7612-BE63-5A0BA9246F78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/  MOTIVATION · EXAMPLE 1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8E504E-6E6C-E402-CCE0-1ECDC6F10F54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D4FA02-1625-FAFE-9896-E3267E8DBACC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机器人换一个视角，地图就需要重新对齐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EB96CC-B0DB-D1B4-0891-F3C6E070E6E9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：同一厨房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3DMatch ·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≈ 61%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（共同表面较多）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28463A-B1CA-3BAE-7FC7-489850382E99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917957-88F7-97B3-4221-DCFC0E9ABBF4}"/>
              </a:ext>
            </a:extLst>
          </p:cNvPr>
          <p:cNvSpPr txBox="1"/>
          <p:nvPr/>
        </p:nvSpPr>
        <p:spPr>
          <a:xfrm>
            <a:off x="5080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输入：源点云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78378-6579-D09E-7383-703321781C87}"/>
              </a:ext>
            </a:extLst>
          </p:cNvPr>
          <p:cNvSpPr txBox="1"/>
          <p:nvPr/>
        </p:nvSpPr>
        <p:spPr>
          <a:xfrm>
            <a:off x="43815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输入：目标点云 </a:t>
            </a:r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2B4BCD-5F20-4D1D-30F4-075DECF23BB3}"/>
              </a:ext>
            </a:extLst>
          </p:cNvPr>
          <p:cNvSpPr txBox="1"/>
          <p:nvPr/>
        </p:nvSpPr>
        <p:spPr>
          <a:xfrm>
            <a:off x="8255000" y="2171699"/>
            <a:ext cx="342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对齐：</a:t>
            </a:r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Q</a:t>
            </a:r>
            <a:endParaRPr lang="zh-CN" altLang="en-US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BEB0440-DFF3-DC9C-76C8-3A6478579A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556719"/>
            <a:ext cx="3619500" cy="25319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F49CB85-0159-76F2-9D4A-8F804D48BE2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2556719"/>
            <a:ext cx="3619500" cy="25319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1D224BB-E08C-04CD-28C2-20EE53178CD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556719"/>
            <a:ext cx="3619500" cy="253196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4B331A3-6930-5C31-E808-F3946716D698}"/>
              </a:ext>
            </a:extLst>
          </p:cNvPr>
          <p:cNvSpPr txBox="1"/>
          <p:nvPr/>
        </p:nvSpPr>
        <p:spPr>
          <a:xfrm>
            <a:off x="3975100" y="3568699"/>
            <a:ext cx="355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sz="23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65F75CD-51F9-AE85-A360-F6D5AAF70843}"/>
              </a:ext>
            </a:extLst>
          </p:cNvPr>
          <p:cNvCxnSpPr/>
          <p:nvPr/>
        </p:nvCxnSpPr>
        <p:spPr>
          <a:xfrm>
            <a:off x="7874000" y="3759200"/>
            <a:ext cx="2921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38E321D-3DCE-88B2-C7E3-917AD383B7BF}"/>
              </a:ext>
            </a:extLst>
          </p:cNvPr>
          <p:cNvSpPr txBox="1"/>
          <p:nvPr/>
        </p:nvSpPr>
        <p:spPr>
          <a:xfrm>
            <a:off x="508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· 16,341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468B02-C129-B64A-F6CF-0891EBB65221}"/>
              </a:ext>
            </a:extLst>
          </p:cNvPr>
          <p:cNvSpPr txBox="1"/>
          <p:nvPr/>
        </p:nvSpPr>
        <p:spPr>
          <a:xfrm>
            <a:off x="43815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· 18,977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参考坐标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0EB9E5-C181-2ED5-F84B-D9A3ED46A9FE}"/>
              </a:ext>
            </a:extLst>
          </p:cNvPr>
          <p:cNvSpPr txBox="1"/>
          <p:nvPr/>
        </p:nvSpPr>
        <p:spPr>
          <a:xfrm>
            <a:off x="8255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</a:t>
            </a:r>
            <a:r>
              <a:rPr lang="en-US" altLang="zh-CN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辅助标出的共同表面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793010-0AFC-C85D-E534-9EF14C29987C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AAB2A16-DB72-7ED5-4AC8-14013104896C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共用一个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R,t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；只要求共同表面对齐，无需所有点重合。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276E626-1918-C94D-1D7B-3931DF71C890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6"/>
            <a:extLst>
              <a:ext uri="{FF2B5EF4-FFF2-40B4-BE49-F238E27FC236}">
                <a16:creationId xmlns:a16="http://schemas.microsoft.com/office/drawing/2014/main" id="{334C6A37-B2A3-4B3B-31DD-52ABCA110E18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 12→0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GeoTransformer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元数据；绿色：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对齐后的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cm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邻近标注，非输入或预测。</a:t>
            </a:r>
          </a:p>
        </p:txBody>
      </p:sp>
    </p:spTree>
    <p:extLst>
      <p:ext uri="{BB962C8B-B14F-4D97-AF65-F5344CB8AC3E}">
        <p14:creationId xmlns:p14="http://schemas.microsoft.com/office/powerpoint/2010/main" val="85407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248377-E1AA-8560-A7BE-CB437BD6A00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E545C3-A0E6-0441-0C05-8DE746B201B6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/  DATA FORMATION · INPUT · OUTPUT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42B157-ABA7-E7DC-79FF-69E9FF457586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80F02B-C9E0-7B8D-98A1-C32B124D0455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一条样本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两个局部片段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257C82-5FB6-5AD1-F074-BE4A9EDFD9C4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同一静态场景、尺度一致、有部分重叠；配准模型从两份局部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2B0A1B-059B-8001-09A1-855FBDB31B9E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83B7BA-2600-A4CD-2951-CDBB81BC89B8}"/>
              </a:ext>
            </a:extLst>
          </p:cNvPr>
          <p:cNvSpPr/>
          <p:nvPr/>
        </p:nvSpPr>
        <p:spPr>
          <a:xfrm>
            <a:off x="508000" y="2209800"/>
            <a:ext cx="31115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C0FAE3-173D-19AE-072B-BB794ECDA230}"/>
              </a:ext>
            </a:extLst>
          </p:cNvPr>
          <p:cNvSpPr txBox="1"/>
          <p:nvPr/>
        </p:nvSpPr>
        <p:spPr>
          <a:xfrm>
            <a:off x="723900" y="2362199"/>
            <a:ext cx="26797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RGB-D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E98C61-8A01-8515-7B14-5ED09E73C372}"/>
              </a:ext>
            </a:extLst>
          </p:cNvPr>
          <p:cNvSpPr txBox="1"/>
          <p:nvPr/>
        </p:nvSpPr>
        <p:spPr>
          <a:xfrm>
            <a:off x="723900" y="2819399"/>
            <a:ext cx="26797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深度图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+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相机内参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
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每帧的参考位姿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7B4CD81-F8A6-E3B8-2D70-FEBE52710BC9}"/>
              </a:ext>
            </a:extLst>
          </p:cNvPr>
          <p:cNvCxnSpPr/>
          <p:nvPr/>
        </p:nvCxnSpPr>
        <p:spPr>
          <a:xfrm>
            <a:off x="3746500" y="2857500"/>
            <a:ext cx="4953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F7FEA56-2E99-B4F5-206E-291EB76F3614}"/>
              </a:ext>
            </a:extLst>
          </p:cNvPr>
          <p:cNvSpPr/>
          <p:nvPr/>
        </p:nvSpPr>
        <p:spPr>
          <a:xfrm>
            <a:off x="4381500" y="2209800"/>
            <a:ext cx="33655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B4FD97-D337-ACC8-AF17-88F21ECE9C4F}"/>
              </a:ext>
            </a:extLst>
          </p:cNvPr>
          <p:cNvSpPr txBox="1"/>
          <p:nvPr/>
        </p:nvSpPr>
        <p:spPr>
          <a:xfrm>
            <a:off x="4597400" y="2362199"/>
            <a:ext cx="29337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帧融合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45D957-7E65-1617-91D7-FD5ED5B489D0}"/>
              </a:ext>
            </a:extLst>
          </p:cNvPr>
          <p:cNvSpPr txBox="1"/>
          <p:nvPr/>
        </p:nvSpPr>
        <p:spPr>
          <a:xfrm>
            <a:off x="4597400" y="2819399"/>
            <a:ext cx="29337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按已有轨迹对齐深度
得到实际观测到的局部表面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9B93C1-1F28-2EC2-8C92-766D9C2D79F3}"/>
              </a:ext>
            </a:extLst>
          </p:cNvPr>
          <p:cNvCxnSpPr/>
          <p:nvPr/>
        </p:nvCxnSpPr>
        <p:spPr>
          <a:xfrm>
            <a:off x="7874000" y="2857500"/>
            <a:ext cx="4953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412B1EB-489A-94F2-69E6-C595C5A2E549}"/>
              </a:ext>
            </a:extLst>
          </p:cNvPr>
          <p:cNvSpPr/>
          <p:nvPr/>
        </p:nvSpPr>
        <p:spPr>
          <a:xfrm>
            <a:off x="8509000" y="2209800"/>
            <a:ext cx="3175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509BCC-4123-DBDE-2F70-E777EE3DB3CD}"/>
              </a:ext>
            </a:extLst>
          </p:cNvPr>
          <p:cNvSpPr txBox="1"/>
          <p:nvPr/>
        </p:nvSpPr>
        <p:spPr>
          <a:xfrm>
            <a:off x="8724900" y="2362199"/>
            <a:ext cx="2743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fragment</a:t>
            </a:r>
            <a:endParaRPr lang="zh-CN" altLang="en-US" sz="19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DB43CB-E861-AAFB-F784-D662BFC68167}"/>
              </a:ext>
            </a:extLst>
          </p:cNvPr>
          <p:cNvSpPr txBox="1"/>
          <p:nvPr/>
        </p:nvSpPr>
        <p:spPr>
          <a:xfrm>
            <a:off x="8724900" y="2819399"/>
            <a:ext cx="27432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米制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点集
以该段首帧为局部坐标系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416E97-9711-02E1-D2DD-0B9C957BAAA2}"/>
              </a:ext>
            </a:extLst>
          </p:cNvPr>
          <p:cNvSpPr/>
          <p:nvPr/>
        </p:nvSpPr>
        <p:spPr>
          <a:xfrm>
            <a:off x="508000" y="3733800"/>
            <a:ext cx="64770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8E69F4-7D1C-C36C-CFCF-12EC75F5BD8E}"/>
              </a:ext>
            </a:extLst>
          </p:cNvPr>
          <p:cNvSpPr txBox="1"/>
          <p:nvPr/>
        </p:nvSpPr>
        <p:spPr>
          <a:xfrm>
            <a:off x="736600" y="38988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模型输入：配对列表中的两个片段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6233E5-C831-DD89-F4B8-9D5C9DF65519}"/>
              </a:ext>
            </a:extLst>
          </p:cNvPr>
          <p:cNvSpPr txBox="1"/>
          <p:nvPr/>
        </p:nvSpPr>
        <p:spPr>
          <a:xfrm>
            <a:off x="736600" y="43560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16,341 × 3</a:t>
            </a:r>
            <a:endParaRPr lang="zh-CN" altLang="en-US" sz="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E41173-1BDA-2563-AF01-6A91E689D83E}"/>
              </a:ext>
            </a:extLst>
          </p:cNvPr>
          <p:cNvSpPr txBox="1"/>
          <p:nvPr/>
        </p:nvSpPr>
        <p:spPr>
          <a:xfrm>
            <a:off x="736600" y="47878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18,977 × 3</a:t>
            </a:r>
            <a:endParaRPr lang="zh-CN" altLang="en-US" sz="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AC0CD0-5069-B29A-92AE-A3A36935778B}"/>
              </a:ext>
            </a:extLst>
          </p:cNvPr>
          <p:cNvSpPr/>
          <p:nvPr/>
        </p:nvSpPr>
        <p:spPr>
          <a:xfrm>
            <a:off x="7366000" y="3733800"/>
            <a:ext cx="43180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AE1640-04FE-9679-24FC-127931A6B1EA}"/>
              </a:ext>
            </a:extLst>
          </p:cNvPr>
          <p:cNvSpPr txBox="1"/>
          <p:nvPr/>
        </p:nvSpPr>
        <p:spPr>
          <a:xfrm>
            <a:off x="7594600" y="3898899"/>
            <a:ext cx="3860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标签：模型看不到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FC54040-E640-C8AB-B195-B463029C8515}"/>
              </a:ext>
            </a:extLst>
          </p:cNvPr>
          <p:cNvSpPr txBox="1"/>
          <p:nvPr/>
        </p:nvSpPr>
        <p:spPr>
          <a:xfrm>
            <a:off x="7594600" y="4356099"/>
            <a:ext cx="386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</a:t>
            </a:r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× 4 </a:t>
            </a:r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刚体变换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B169D5C-15AA-BA01-A482-3DC64F0F5F58}"/>
              </a:ext>
            </a:extLst>
          </p:cNvPr>
          <p:cNvSpPr txBox="1"/>
          <p:nvPr/>
        </p:nvSpPr>
        <p:spPr>
          <a:xfrm>
            <a:off x="7594600" y="4825999"/>
            <a:ext cx="38608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坐标映射到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4DE01C-F4EA-9A8A-B762-543FE15A197B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249FBDC-087C-6DD4-2CC2-9D4945D262B3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模型：两份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→ R∈SO(3), t∈ℝ³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；对整个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p↦Rp+t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58F434F-3531-CB9F-7F47-2ABC3CD09DE9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hlinkClick r:id="rId3"/>
            <a:extLst>
              <a:ext uri="{FF2B5EF4-FFF2-40B4-BE49-F238E27FC236}">
                <a16:creationId xmlns:a16="http://schemas.microsoft.com/office/drawing/2014/main" id="{C1588062-3316-896D-37B6-092795DBA257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上方是数据集离线准备。点集每行是一个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的行号不表示对应。参考位姿和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不作为测试输入。</a:t>
            </a:r>
          </a:p>
        </p:txBody>
      </p:sp>
    </p:spTree>
    <p:extLst>
      <p:ext uri="{BB962C8B-B14F-4D97-AF65-F5344CB8AC3E}">
        <p14:creationId xmlns:p14="http://schemas.microsoft.com/office/powerpoint/2010/main" val="70975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8B050D-84D1-A279-D41D-39C28C08D2B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AB97D-EE6B-D07C-7B8C-9690317454BA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/  WHY IT IS HARD · EXAMPLE 2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240E8B-76C7-F18B-0EE4-27FC8B86F55A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72242A-F5A4-A9ED-3BC4-EE0BE5B99020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只换一个片段，共同表面就大幅减少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0C6D57-3632-000A-75DF-94A47AC37BDB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：同一厨房、同一参考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· 3DLoMatch ·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≈ 20%</a:t>
            </a:r>
            <a:endParaRPr lang="zh-CN" altLang="en-US" sz="16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148307-AC3A-C451-F59C-5B29D8F11DE4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3BCCAE-D5D0-E690-95D6-BEEC3CB126EE}"/>
              </a:ext>
            </a:extLst>
          </p:cNvPr>
          <p:cNvSpPr txBox="1"/>
          <p:nvPr/>
        </p:nvSpPr>
        <p:spPr>
          <a:xfrm>
            <a:off x="5080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输入：源点云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6F7277-6E4D-5E36-12F2-446BC3D1AFDA}"/>
              </a:ext>
            </a:extLst>
          </p:cNvPr>
          <p:cNvSpPr txBox="1"/>
          <p:nvPr/>
        </p:nvSpPr>
        <p:spPr>
          <a:xfrm>
            <a:off x="43815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输入：目标点云 </a:t>
            </a:r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AB2BF9-C2EA-2E07-617A-7FB5255776FF}"/>
              </a:ext>
            </a:extLst>
          </p:cNvPr>
          <p:cNvSpPr txBox="1"/>
          <p:nvPr/>
        </p:nvSpPr>
        <p:spPr>
          <a:xfrm>
            <a:off x="8255000" y="2171699"/>
            <a:ext cx="342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对齐：</a:t>
            </a:r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Q</a:t>
            </a:r>
            <a:endParaRPr lang="zh-CN" altLang="en-US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6EEE0F-0AD7-0C7B-6895-E3BEF86603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556719"/>
            <a:ext cx="3619500" cy="25319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848829-C53E-6AC3-7039-040FB9632C8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2556719"/>
            <a:ext cx="3619500" cy="25319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25D5457-B26C-BE07-7A1A-D52AACB3403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556719"/>
            <a:ext cx="3619500" cy="253196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CB88FEA-4C32-28BB-DE84-5938AF014190}"/>
              </a:ext>
            </a:extLst>
          </p:cNvPr>
          <p:cNvSpPr txBox="1"/>
          <p:nvPr/>
        </p:nvSpPr>
        <p:spPr>
          <a:xfrm>
            <a:off x="3975100" y="3568699"/>
            <a:ext cx="355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sz="23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680CDA8-34D6-5D18-FDB3-C3C3B1565598}"/>
              </a:ext>
            </a:extLst>
          </p:cNvPr>
          <p:cNvCxnSpPr/>
          <p:nvPr/>
        </p:nvCxnSpPr>
        <p:spPr>
          <a:xfrm>
            <a:off x="7874000" y="3759200"/>
            <a:ext cx="2921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8909DB8-4CA5-75B0-7854-A4C9C56AF588}"/>
              </a:ext>
            </a:extLst>
          </p:cNvPr>
          <p:cNvSpPr txBox="1"/>
          <p:nvPr/>
        </p:nvSpPr>
        <p:spPr>
          <a:xfrm>
            <a:off x="508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· 11,054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B208EA-7C2F-0255-FFD2-1FEFC0B08D9D}"/>
              </a:ext>
            </a:extLst>
          </p:cNvPr>
          <p:cNvSpPr txBox="1"/>
          <p:nvPr/>
        </p:nvSpPr>
        <p:spPr>
          <a:xfrm>
            <a:off x="43815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仍是片段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与第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页完全相同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AFB0E1-B1CB-128D-6346-52267303BB2E}"/>
              </a:ext>
            </a:extLst>
          </p:cNvPr>
          <p:cNvSpPr txBox="1"/>
          <p:nvPr/>
        </p:nvSpPr>
        <p:spPr>
          <a:xfrm>
            <a:off x="8255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</a:t>
            </a:r>
            <a:r>
              <a:rPr lang="en-US" altLang="zh-CN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辅助标出的共同表面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7263A6-A6C7-8539-1424-58889444D4AA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9027EE-7890-BC99-5330-0A92B819F875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只有共同表面能提供真实对应；大片非重叠区域不该强行匹配。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9D4A91D-BF8F-B3D0-CC83-06403DBBF2AF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6"/>
            <a:extLst>
              <a:ext uri="{FF2B5EF4-FFF2-40B4-BE49-F238E27FC236}">
                <a16:creationId xmlns:a16="http://schemas.microsoft.com/office/drawing/2014/main" id="{4F531FA3-BFEF-D0A3-2D20-FB2C64BFA3BE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 30→0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GeoTransformer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元数据；绿色：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对齐后的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cm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邻近标注，非输入或预测。</a:t>
            </a:r>
          </a:p>
        </p:txBody>
      </p:sp>
    </p:spTree>
    <p:extLst>
      <p:ext uri="{BB962C8B-B14F-4D97-AF65-F5344CB8AC3E}">
        <p14:creationId xmlns:p14="http://schemas.microsoft.com/office/powerpoint/2010/main" val="391014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7679C3-7144-B995-99D5-57FC22AD9D1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8DC71E-B8F2-8113-151E-B15717F91A84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/  DATASET · DISTRIBUTION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BD2B2-0E04-CEC4-A611-7D85B2EDACC5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B6C41-7CA5-7DE3-BB94-DB5FC2E8DA1C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同一批场景，组成两份难度不同的测试列表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FB0B94-1C8E-BFC8-3136-9347AF170A99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1,623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1,781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数的是“片段对”；一个片段可以参与多个配准样本。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E2FA0A-C704-C02A-1FB6-F880103C112B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A149BF-106F-6471-4AC6-EFB1A220A82C}"/>
              </a:ext>
            </a:extLst>
          </p:cNvPr>
          <p:cNvSpPr/>
          <p:nvPr/>
        </p:nvSpPr>
        <p:spPr>
          <a:xfrm>
            <a:off x="508000" y="2209800"/>
            <a:ext cx="33655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249058-7609-7600-BC3D-FB04AE1119C0}"/>
              </a:ext>
            </a:extLst>
          </p:cNvPr>
          <p:cNvSpPr txBox="1"/>
          <p:nvPr/>
        </p:nvSpPr>
        <p:spPr>
          <a:xfrm>
            <a:off x="723900" y="2336799"/>
            <a:ext cx="2933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同一批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个测试场景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3C6C1D-9A9B-4143-F260-FA78EB9D2762}"/>
              </a:ext>
            </a:extLst>
          </p:cNvPr>
          <p:cNvSpPr txBox="1"/>
          <p:nvPr/>
        </p:nvSpPr>
        <p:spPr>
          <a:xfrm>
            <a:off x="723900" y="2806699"/>
            <a:ext cx="29337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厨房、家庭、酒店、学习室、实验室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FC58FF-D55D-FDFD-48C3-B13BC0E54775}"/>
              </a:ext>
            </a:extLst>
          </p:cNvPr>
          <p:cNvCxnSpPr/>
          <p:nvPr/>
        </p:nvCxnSpPr>
        <p:spPr>
          <a:xfrm flipV="1">
            <a:off x="4013200" y="2451100"/>
            <a:ext cx="419100" cy="241300"/>
          </a:xfrm>
          <a:prstGeom prst="line">
            <a:avLst/>
          </a:prstGeom>
          <a:ln w="2159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6E181E4-B6E0-92DC-CA92-22499A750391}"/>
              </a:ext>
            </a:extLst>
          </p:cNvPr>
          <p:cNvCxnSpPr/>
          <p:nvPr/>
        </p:nvCxnSpPr>
        <p:spPr>
          <a:xfrm>
            <a:off x="4013200" y="2730500"/>
            <a:ext cx="419100" cy="292100"/>
          </a:xfrm>
          <a:prstGeom prst="line">
            <a:avLst/>
          </a:prstGeom>
          <a:ln w="2159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59E69019-6D1E-9749-0154-740930ABF410}"/>
              </a:ext>
            </a:extLst>
          </p:cNvPr>
          <p:cNvSpPr/>
          <p:nvPr/>
        </p:nvSpPr>
        <p:spPr>
          <a:xfrm>
            <a:off x="4572000" y="2159000"/>
            <a:ext cx="7112000" cy="5334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A8CF97-B443-017D-6B0A-A3DE212F3046}"/>
              </a:ext>
            </a:extLst>
          </p:cNvPr>
          <p:cNvSpPr txBox="1"/>
          <p:nvPr/>
        </p:nvSpPr>
        <p:spPr>
          <a:xfrm>
            <a:off x="4775200" y="2273299"/>
            <a:ext cx="6705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3DMatch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1,623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标称重叠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&gt;30%</a:t>
            </a:r>
            <a:endParaRPr lang="zh-CN" altLang="en-US" sz="19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0D9678-3C03-5491-923D-92FD0D168E2F}"/>
              </a:ext>
            </a:extLst>
          </p:cNvPr>
          <p:cNvSpPr/>
          <p:nvPr/>
        </p:nvSpPr>
        <p:spPr>
          <a:xfrm>
            <a:off x="4572000" y="2832100"/>
            <a:ext cx="7112000" cy="5334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99F56E-19F1-09C2-7C98-250AA4F4AA31}"/>
              </a:ext>
            </a:extLst>
          </p:cNvPr>
          <p:cNvSpPr txBox="1"/>
          <p:nvPr/>
        </p:nvSpPr>
        <p:spPr>
          <a:xfrm>
            <a:off x="4775200" y="2946399"/>
            <a:ext cx="6705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1,781 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 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10%–30%</a:t>
            </a:r>
            <a:endParaRPr lang="zh-CN" altLang="en-US" sz="1900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ED7783-D999-F4BF-8860-225D01C856CC}"/>
              </a:ext>
            </a:extLst>
          </p:cNvPr>
          <p:cNvSpPr txBox="1"/>
          <p:nvPr/>
        </p:nvSpPr>
        <p:spPr>
          <a:xfrm>
            <a:off x="508000" y="3530599"/>
            <a:ext cx="596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实测配对分布：各场景不均衡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E55667-D8AD-3AEA-AE25-D3928C7C299D}"/>
              </a:ext>
            </a:extLst>
          </p:cNvPr>
          <p:cNvSpPr txBox="1"/>
          <p:nvPr/>
        </p:nvSpPr>
        <p:spPr>
          <a:xfrm>
            <a:off x="7416800" y="3530599"/>
            <a:ext cx="4267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刚才的两例，就是两条配对记录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456E07-6B3A-8E7D-03A7-66DF68820968}"/>
              </a:ext>
            </a:extLst>
          </p:cNvPr>
          <p:cNvSpPr txBox="1"/>
          <p:nvPr/>
        </p:nvSpPr>
        <p:spPr>
          <a:xfrm>
            <a:off x="508000" y="39624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8A4828-1EFB-FDBA-CD93-314254C20BEB}"/>
              </a:ext>
            </a:extLst>
          </p:cNvPr>
          <p:cNvSpPr/>
          <p:nvPr/>
        </p:nvSpPr>
        <p:spPr>
          <a:xfrm>
            <a:off x="2260600" y="3975100"/>
            <a:ext cx="25704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CF6C67-CE0A-544A-11E0-D849FD7FCB64}"/>
              </a:ext>
            </a:extLst>
          </p:cNvPr>
          <p:cNvSpPr/>
          <p:nvPr/>
        </p:nvSpPr>
        <p:spPr>
          <a:xfrm>
            <a:off x="2260600" y="4051300"/>
            <a:ext cx="26670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7EF0A9-DFD3-7AA3-D7DF-EB71BAD8D362}"/>
              </a:ext>
            </a:extLst>
          </p:cNvPr>
          <p:cNvSpPr txBox="1"/>
          <p:nvPr/>
        </p:nvSpPr>
        <p:spPr>
          <a:xfrm>
            <a:off x="5143500" y="39624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506 / 525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7865B0-37B7-BF38-7491-75F584309545}"/>
              </a:ext>
            </a:extLst>
          </p:cNvPr>
          <p:cNvSpPr txBox="1"/>
          <p:nvPr/>
        </p:nvSpPr>
        <p:spPr>
          <a:xfrm>
            <a:off x="508000" y="41465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AT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9B127A-0D06-F828-FC60-1CF6AF1A050A}"/>
              </a:ext>
            </a:extLst>
          </p:cNvPr>
          <p:cNvSpPr/>
          <p:nvPr/>
        </p:nvSpPr>
        <p:spPr>
          <a:xfrm>
            <a:off x="2260600" y="4159250"/>
            <a:ext cx="7924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B7F207-2215-B1EA-5741-802CDC5BF039}"/>
              </a:ext>
            </a:extLst>
          </p:cNvPr>
          <p:cNvSpPr/>
          <p:nvPr/>
        </p:nvSpPr>
        <p:spPr>
          <a:xfrm>
            <a:off x="2260600" y="4235450"/>
            <a:ext cx="146812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8739B23-346C-F839-CD51-85BE102FBF19}"/>
              </a:ext>
            </a:extLst>
          </p:cNvPr>
          <p:cNvSpPr txBox="1"/>
          <p:nvPr/>
        </p:nvSpPr>
        <p:spPr>
          <a:xfrm>
            <a:off x="5143500" y="41465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156 / 289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A3FBF5-5CF3-3E18-6542-2DA7627D0F5F}"/>
              </a:ext>
            </a:extLst>
          </p:cNvPr>
          <p:cNvSpPr txBox="1"/>
          <p:nvPr/>
        </p:nvSpPr>
        <p:spPr>
          <a:xfrm>
            <a:off x="508000" y="43307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MD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A12260-54E6-2C8C-70E6-5D233B498130}"/>
              </a:ext>
            </a:extLst>
          </p:cNvPr>
          <p:cNvSpPr/>
          <p:nvPr/>
        </p:nvSpPr>
        <p:spPr>
          <a:xfrm>
            <a:off x="2260600" y="4343400"/>
            <a:ext cx="105664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8FE034-2EF1-9C0D-08E2-EF990B431ED1}"/>
              </a:ext>
            </a:extLst>
          </p:cNvPr>
          <p:cNvSpPr/>
          <p:nvPr/>
        </p:nvSpPr>
        <p:spPr>
          <a:xfrm>
            <a:off x="2260600" y="4419600"/>
            <a:ext cx="11684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0D5AF94-33BE-9F56-307B-7CFFC291175A}"/>
              </a:ext>
            </a:extLst>
          </p:cNvPr>
          <p:cNvSpPr txBox="1"/>
          <p:nvPr/>
        </p:nvSpPr>
        <p:spPr>
          <a:xfrm>
            <a:off x="5143500" y="43307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208 / 230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C8D00F-1C00-B16A-448B-69120EA0A034}"/>
              </a:ext>
            </a:extLst>
          </p:cNvPr>
          <p:cNvSpPr txBox="1"/>
          <p:nvPr/>
        </p:nvSpPr>
        <p:spPr>
          <a:xfrm>
            <a:off x="508000" y="45148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UC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C4954B2-79F5-02C5-E423-B95FA7F45A3E}"/>
              </a:ext>
            </a:extLst>
          </p:cNvPr>
          <p:cNvSpPr/>
          <p:nvPr/>
        </p:nvSpPr>
        <p:spPr>
          <a:xfrm>
            <a:off x="2260600" y="4527550"/>
            <a:ext cx="11480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731EA0-427A-28B4-6B80-0E0E0DEA6B77}"/>
              </a:ext>
            </a:extLst>
          </p:cNvPr>
          <p:cNvSpPr/>
          <p:nvPr/>
        </p:nvSpPr>
        <p:spPr>
          <a:xfrm>
            <a:off x="2260600" y="4603750"/>
            <a:ext cx="110744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10BCE0-B543-63ED-EBAD-39F705354D21}"/>
              </a:ext>
            </a:extLst>
          </p:cNvPr>
          <p:cNvSpPr txBox="1"/>
          <p:nvPr/>
        </p:nvSpPr>
        <p:spPr>
          <a:xfrm>
            <a:off x="5143500" y="45148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226 / 218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A75DC0-6BAD-FE95-6327-436274EA52C8}"/>
              </a:ext>
            </a:extLst>
          </p:cNvPr>
          <p:cNvSpPr txBox="1"/>
          <p:nvPr/>
        </p:nvSpPr>
        <p:spPr>
          <a:xfrm>
            <a:off x="508000" y="46990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1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9E8EF6-4A94-D73C-B3A5-755E9C953A66}"/>
              </a:ext>
            </a:extLst>
          </p:cNvPr>
          <p:cNvSpPr/>
          <p:nvPr/>
        </p:nvSpPr>
        <p:spPr>
          <a:xfrm>
            <a:off x="2260600" y="4711700"/>
            <a:ext cx="52832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904F61-E774-C87F-85DE-39F7B7C5C759}"/>
              </a:ext>
            </a:extLst>
          </p:cNvPr>
          <p:cNvSpPr/>
          <p:nvPr/>
        </p:nvSpPr>
        <p:spPr>
          <a:xfrm>
            <a:off x="2260600" y="4787900"/>
            <a:ext cx="80264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D43A12B-96EB-7FE6-1F58-160F5832A41E}"/>
              </a:ext>
            </a:extLst>
          </p:cNvPr>
          <p:cNvSpPr txBox="1"/>
          <p:nvPr/>
        </p:nvSpPr>
        <p:spPr>
          <a:xfrm>
            <a:off x="5143500" y="46990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104 / 158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90C5CEF-36F8-407E-FDAE-FDDB110C4403}"/>
              </a:ext>
            </a:extLst>
          </p:cNvPr>
          <p:cNvSpPr txBox="1"/>
          <p:nvPr/>
        </p:nvSpPr>
        <p:spPr>
          <a:xfrm>
            <a:off x="508000" y="48831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3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276A1E-234E-C37A-985A-B08ECEA42168}"/>
              </a:ext>
            </a:extLst>
          </p:cNvPr>
          <p:cNvSpPr/>
          <p:nvPr/>
        </p:nvSpPr>
        <p:spPr>
          <a:xfrm>
            <a:off x="2260600" y="4895850"/>
            <a:ext cx="27432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C081C7-2592-8D19-C209-92E0C490E46A}"/>
              </a:ext>
            </a:extLst>
          </p:cNvPr>
          <p:cNvSpPr/>
          <p:nvPr/>
        </p:nvSpPr>
        <p:spPr>
          <a:xfrm>
            <a:off x="2260600" y="4972050"/>
            <a:ext cx="24892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282729C-25C1-E0B0-E4F1-3231D80B69D8}"/>
              </a:ext>
            </a:extLst>
          </p:cNvPr>
          <p:cNvSpPr txBox="1"/>
          <p:nvPr/>
        </p:nvSpPr>
        <p:spPr>
          <a:xfrm>
            <a:off x="5143500" y="48831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49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A62D8D7-9C5D-BBA2-48AB-36AB8AC9CAB1}"/>
              </a:ext>
            </a:extLst>
          </p:cNvPr>
          <p:cNvSpPr txBox="1"/>
          <p:nvPr/>
        </p:nvSpPr>
        <p:spPr>
          <a:xfrm>
            <a:off x="508000" y="50673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Studyroom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556F91-545A-1F3F-E980-0463B120C836}"/>
              </a:ext>
            </a:extLst>
          </p:cNvPr>
          <p:cNvSpPr/>
          <p:nvPr/>
        </p:nvSpPr>
        <p:spPr>
          <a:xfrm>
            <a:off x="2260600" y="5080000"/>
            <a:ext cx="148336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947DA5D-344F-CB7F-00B4-B505D80C81FB}"/>
              </a:ext>
            </a:extLst>
          </p:cNvPr>
          <p:cNvSpPr/>
          <p:nvPr/>
        </p:nvSpPr>
        <p:spPr>
          <a:xfrm>
            <a:off x="2260600" y="5156200"/>
            <a:ext cx="12192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648AB1-B66D-D315-D9F4-47312033E312}"/>
              </a:ext>
            </a:extLst>
          </p:cNvPr>
          <p:cNvSpPr txBox="1"/>
          <p:nvPr/>
        </p:nvSpPr>
        <p:spPr>
          <a:xfrm>
            <a:off x="5143500" y="50673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292 / 240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889F798-482D-FFC7-98A3-E4FECE8DB216}"/>
              </a:ext>
            </a:extLst>
          </p:cNvPr>
          <p:cNvSpPr txBox="1"/>
          <p:nvPr/>
        </p:nvSpPr>
        <p:spPr>
          <a:xfrm>
            <a:off x="508000" y="52514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Lab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E6D789-7714-8412-1971-629C44760C6A}"/>
              </a:ext>
            </a:extLst>
          </p:cNvPr>
          <p:cNvSpPr/>
          <p:nvPr/>
        </p:nvSpPr>
        <p:spPr>
          <a:xfrm>
            <a:off x="2260600" y="5264150"/>
            <a:ext cx="39116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A250BEF-CD02-AC9C-DE69-C55697FF2FE9}"/>
              </a:ext>
            </a:extLst>
          </p:cNvPr>
          <p:cNvSpPr/>
          <p:nvPr/>
        </p:nvSpPr>
        <p:spPr>
          <a:xfrm>
            <a:off x="2260600" y="5340350"/>
            <a:ext cx="36576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DFDA0D-BC67-621C-03F5-4273BA1DCC02}"/>
              </a:ext>
            </a:extLst>
          </p:cNvPr>
          <p:cNvSpPr txBox="1"/>
          <p:nvPr/>
        </p:nvSpPr>
        <p:spPr>
          <a:xfrm>
            <a:off x="5143500" y="52514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 / 72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0B5703-10DF-1A30-D3EA-5CCF0991A94F}"/>
              </a:ext>
            </a:extLst>
          </p:cNvPr>
          <p:cNvSpPr txBox="1"/>
          <p:nvPr/>
        </p:nvSpPr>
        <p:spPr>
          <a:xfrm>
            <a:off x="7416800" y="4025899"/>
            <a:ext cx="426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→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：样例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07F48DF-ECCE-E2DA-467F-27CA3BAA63C8}"/>
              </a:ext>
            </a:extLst>
          </p:cNvPr>
          <p:cNvSpPr txBox="1"/>
          <p:nvPr/>
        </p:nvSpPr>
        <p:spPr>
          <a:xfrm>
            <a:off x="7416800" y="4533899"/>
            <a:ext cx="426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→ </a:t>
            </a:r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：样例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C40E31D-29A7-FCBD-639D-46CFE8FD4A24}"/>
              </a:ext>
            </a:extLst>
          </p:cNvPr>
          <p:cNvSpPr txBox="1"/>
          <p:nvPr/>
        </p:nvSpPr>
        <p:spPr>
          <a:xfrm>
            <a:off x="7416800" y="5041899"/>
            <a:ext cx="426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沿用相同来源的扫描片段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D23DFD9-0A36-A03F-7A4B-D7561644AA9F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7CDCCFE-35DC-4BF1-5526-E1D81E22D871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片段可重复出现；训练与验证关注场景隔离，测试保留作者配对列表。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33AA44D-2C3C-620E-FF54-9525B88BB69B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hlinkClick r:id="rId3"/>
            <a:extLst>
              <a:ext uri="{FF2B5EF4-FFF2-40B4-BE49-F238E27FC236}">
                <a16:creationId xmlns:a16="http://schemas.microsoft.com/office/drawing/2014/main" id="{2C35F2C8-DAD6-DC5C-074C-903BFD23099E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蓝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绿为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 / LoMatch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。当前列表共享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对；标称区间与不同发布版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字段不能混用重筛。</a:t>
            </a:r>
          </a:p>
        </p:txBody>
      </p:sp>
    </p:spTree>
    <p:extLst>
      <p:ext uri="{BB962C8B-B14F-4D97-AF65-F5344CB8AC3E}">
        <p14:creationId xmlns:p14="http://schemas.microsoft.com/office/powerpoint/2010/main" val="269872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FD47B7-F8CD-B02D-1688-C3065240D9A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0F2D2D-9D2C-1C55-E8A9-D72ECF5D5632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 /  GROUND TRUTH · TARGET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BFB80F-7357-03E4-497B-EAE7787F37A2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207E25-A4A8-F045-D9B7-23E4674B84BB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构建者有参考轨迹，模型只看两份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</a:t>
            </a:r>
            <a:endParaRPr lang="zh-CN" altLang="en-US" sz="29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029C6B-9A2A-F164-94A8-5003FB83FA0A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先映射到世界，再映射回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；两次变换合成这条样本的正确答案。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05F1B-4E32-A64E-B0E4-5C9F9BED2A8D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BC5C40-C060-93A5-1D58-6D05188FAEEC}"/>
              </a:ext>
            </a:extLst>
          </p:cNvPr>
          <p:cNvSpPr/>
          <p:nvPr/>
        </p:nvSpPr>
        <p:spPr>
          <a:xfrm>
            <a:off x="508000" y="2235200"/>
            <a:ext cx="26035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47F8E5-D393-B994-1FDC-A724BB4D3431}"/>
              </a:ext>
            </a:extLst>
          </p:cNvPr>
          <p:cNvSpPr txBox="1"/>
          <p:nvPr/>
        </p:nvSpPr>
        <p:spPr>
          <a:xfrm>
            <a:off x="736600" y="2387599"/>
            <a:ext cx="2146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21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420042-E38D-D95B-8F04-2FEEF4EF9650}"/>
              </a:ext>
            </a:extLst>
          </p:cNvPr>
          <p:cNvSpPr txBox="1"/>
          <p:nvPr/>
        </p:nvSpPr>
        <p:spPr>
          <a:xfrm>
            <a:off x="736600" y="2857499"/>
            <a:ext cx="21463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源片段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D2557E-90C3-D52C-2183-B8F23AC5375B}"/>
              </a:ext>
            </a:extLst>
          </p:cNvPr>
          <p:cNvSpPr txBox="1"/>
          <p:nvPr/>
        </p:nvSpPr>
        <p:spPr>
          <a:xfrm>
            <a:off x="3225800" y="2247899"/>
            <a:ext cx="13843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T_W←P</a:t>
            </a:r>
            <a:endParaRPr lang="zh-CN" altLang="en-US" sz="17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2BA81F-323C-BF1C-498B-94744192B771}"/>
              </a:ext>
            </a:extLst>
          </p:cNvPr>
          <p:cNvCxnSpPr/>
          <p:nvPr/>
        </p:nvCxnSpPr>
        <p:spPr>
          <a:xfrm>
            <a:off x="3251200" y="2806700"/>
            <a:ext cx="13589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6545184-C068-8271-1885-AF3A9E077F82}"/>
              </a:ext>
            </a:extLst>
          </p:cNvPr>
          <p:cNvSpPr/>
          <p:nvPr/>
        </p:nvSpPr>
        <p:spPr>
          <a:xfrm>
            <a:off x="4762500" y="2235200"/>
            <a:ext cx="26035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10FA01-1E71-BB8C-D48A-174E01A9BDF3}"/>
              </a:ext>
            </a:extLst>
          </p:cNvPr>
          <p:cNvSpPr txBox="1"/>
          <p:nvPr/>
        </p:nvSpPr>
        <p:spPr>
          <a:xfrm>
            <a:off x="4991100" y="2387599"/>
            <a:ext cx="2146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世界坐标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BBEA34-12FA-12D6-F0F5-A167ED1D885E}"/>
              </a:ext>
            </a:extLst>
          </p:cNvPr>
          <p:cNvSpPr txBox="1"/>
          <p:nvPr/>
        </p:nvSpPr>
        <p:spPr>
          <a:xfrm>
            <a:off x="4991100" y="2857499"/>
            <a:ext cx="21463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已有场景重建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8FA421-7B50-6EBC-0385-CD50A5AF21AD}"/>
              </a:ext>
            </a:extLst>
          </p:cNvPr>
          <p:cNvSpPr txBox="1"/>
          <p:nvPr/>
        </p:nvSpPr>
        <p:spPr>
          <a:xfrm>
            <a:off x="7480300" y="2247899"/>
            <a:ext cx="14859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(T_W←Q)⁻¹</a:t>
            </a:r>
            <a:endParaRPr lang="zh-CN" altLang="en-US" sz="16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7B718F-AF28-F635-EB3C-84F04BDA46EF}"/>
              </a:ext>
            </a:extLst>
          </p:cNvPr>
          <p:cNvCxnSpPr/>
          <p:nvPr/>
        </p:nvCxnSpPr>
        <p:spPr>
          <a:xfrm>
            <a:off x="7505700" y="2806700"/>
            <a:ext cx="13589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6FAEE36-7E10-D99C-1818-6A7D7E9FE098}"/>
              </a:ext>
            </a:extLst>
          </p:cNvPr>
          <p:cNvSpPr/>
          <p:nvPr/>
        </p:nvSpPr>
        <p:spPr>
          <a:xfrm>
            <a:off x="9017000" y="2235200"/>
            <a:ext cx="26670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8F6EF7-B57A-F039-1CB3-067884B75807}"/>
              </a:ext>
            </a:extLst>
          </p:cNvPr>
          <p:cNvSpPr txBox="1"/>
          <p:nvPr/>
        </p:nvSpPr>
        <p:spPr>
          <a:xfrm>
            <a:off x="9245600" y="2387599"/>
            <a:ext cx="2209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F6CA37-9FAE-771D-6FDB-82877FA68B10}"/>
              </a:ext>
            </a:extLst>
          </p:cNvPr>
          <p:cNvSpPr txBox="1"/>
          <p:nvPr/>
        </p:nvSpPr>
        <p:spPr>
          <a:xfrm>
            <a:off x="9245600" y="2857499"/>
            <a:ext cx="22098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目标片段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071445-C050-6554-0969-D7AEEE8FB6A8}"/>
              </a:ext>
            </a:extLst>
          </p:cNvPr>
          <p:cNvSpPr txBox="1"/>
          <p:nvPr/>
        </p:nvSpPr>
        <p:spPr>
          <a:xfrm>
            <a:off x="508000" y="35305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 = (T_W←Q)⁻¹ T_W←P     ·     4×4</a:t>
            </a:r>
            <a:r>
              <a:rPr lang="zh-CN" altLang="en-US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，源 → 目标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6573FE6-B047-9619-2417-97C34009079B}"/>
              </a:ext>
            </a:extLst>
          </p:cNvPr>
          <p:cNvCxnSpPr/>
          <p:nvPr/>
        </p:nvCxnSpPr>
        <p:spPr>
          <a:xfrm>
            <a:off x="508000" y="41402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E322210-3EE9-D73A-00E0-83A952147A71}"/>
              </a:ext>
            </a:extLst>
          </p:cNvPr>
          <p:cNvSpPr txBox="1"/>
          <p:nvPr/>
        </p:nvSpPr>
        <p:spPr>
          <a:xfrm>
            <a:off x="508000" y="4330699"/>
            <a:ext cx="584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每条有效测试样本：成功还是失败？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7A9B73-0E8C-DA25-924C-66D1CBE02D4E}"/>
              </a:ext>
            </a:extLst>
          </p:cNvPr>
          <p:cNvSpPr txBox="1"/>
          <p:nvPr/>
        </p:nvSpPr>
        <p:spPr>
          <a:xfrm>
            <a:off x="508000" y="4787899"/>
            <a:ext cx="5842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预测与 </a:t>
            </a:r>
            <a:r>
              <a:rPr lang="en-US" altLang="zh-CN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的官方变换误差 </a:t>
            </a:r>
            <a:r>
              <a:rPr lang="en-US" altLang="zh-CN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&lt;0.2 m</a:t>
            </a:r>
            <a:endParaRPr lang="zh-CN" altLang="en-US" sz="20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500A59-6764-85A4-9B45-19A906E43EAA}"/>
              </a:ext>
            </a:extLst>
          </p:cNvPr>
          <p:cNvSpPr txBox="1"/>
          <p:nvPr/>
        </p:nvSpPr>
        <p:spPr>
          <a:xfrm>
            <a:off x="7086600" y="4330699"/>
            <a:ext cx="4597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Registration Recall </a:t>
            </a:r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怎么汇总？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90B90-0532-CB2F-C121-936A4C2259CC}"/>
              </a:ext>
            </a:extLst>
          </p:cNvPr>
          <p:cNvSpPr txBox="1"/>
          <p:nvPr/>
        </p:nvSpPr>
        <p:spPr>
          <a:xfrm>
            <a:off x="7086600" y="4787899"/>
            <a:ext cx="4597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排除直接相邻片段后，逐场景计算
成功比例，再对 </a:t>
            </a:r>
            <a:r>
              <a:rPr lang="en-US" altLang="zh-CN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个场景等权平均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E7FB5B-55EE-C939-DEE0-57E0F7455C19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4B3E98-AF18-ACD4-AB37-431381980BD5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用来判定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R,t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是否正确；没有要求两片点云的所有表面都重合。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A4CA1F9-DD27-196E-C7FB-D318D19A5792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hlinkClick r:id="rId3"/>
            <a:extLst>
              <a:ext uri="{FF2B5EF4-FFF2-40B4-BE49-F238E27FC236}">
                <a16:creationId xmlns:a16="http://schemas.microsoft.com/office/drawing/2014/main" id="{3A85C09E-2CBE-8225-4997-AC8B855BF15B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有效对：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 1,279 / LoMatch 1,726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。误差按官方信息矩阵协议计算；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来自重建参考位姿。</a:t>
            </a:r>
          </a:p>
        </p:txBody>
      </p:sp>
    </p:spTree>
    <p:extLst>
      <p:ext uri="{BB962C8B-B14F-4D97-AF65-F5344CB8AC3E}">
        <p14:creationId xmlns:p14="http://schemas.microsoft.com/office/powerpoint/2010/main" val="425472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F16068-C20A-479F-90E9-FAA89DCB73F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3CF52C-6C63-A6C0-2487-E2BC128A3BFB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 /  HYPOTHESIS · NEXT STEP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8A4AF5-F5EF-3C9F-D406-EDBE170ED1BC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A44523-5429-AC14-F652-F62F57C81907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固定特征与求解器，检验哪种对应更可靠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FBE62D-7045-2903-A9AF-B03077C3CB04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假设：把更多预算用于几何一致的对应，能提高低重叠配准成功率。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0983F7-219B-01F8-1021-C800DAF66E73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36165F-C22B-1372-4AE7-8EDA8D12E25A}"/>
              </a:ext>
            </a:extLst>
          </p:cNvPr>
          <p:cNvSpPr/>
          <p:nvPr/>
        </p:nvSpPr>
        <p:spPr>
          <a:xfrm>
            <a:off x="508000" y="2247900"/>
            <a:ext cx="28321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65B51F-397E-EEE8-082C-5C2C5D06BF8B}"/>
              </a:ext>
            </a:extLst>
          </p:cNvPr>
          <p:cNvSpPr txBox="1"/>
          <p:nvPr/>
        </p:nvSpPr>
        <p:spPr>
          <a:xfrm>
            <a:off x="635000" y="2298699"/>
            <a:ext cx="2578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冻结点云特征 → 候选对应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77D5B5-ED58-71FE-51EF-6EBAC9A8D41A}"/>
              </a:ext>
            </a:extLst>
          </p:cNvPr>
          <p:cNvCxnSpPr/>
          <p:nvPr/>
        </p:nvCxnSpPr>
        <p:spPr>
          <a:xfrm>
            <a:off x="3492500" y="24257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4D9443F-0D8F-AEF9-A111-913DAAC0BCEB}"/>
              </a:ext>
            </a:extLst>
          </p:cNvPr>
          <p:cNvSpPr/>
          <p:nvPr/>
        </p:nvSpPr>
        <p:spPr>
          <a:xfrm>
            <a:off x="4102100" y="2247900"/>
            <a:ext cx="34925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4195DF-6608-F379-024C-4746D7C13CBF}"/>
              </a:ext>
            </a:extLst>
          </p:cNvPr>
          <p:cNvSpPr txBox="1"/>
          <p:nvPr/>
        </p:nvSpPr>
        <p:spPr>
          <a:xfrm>
            <a:off x="4229100" y="2298699"/>
            <a:ext cx="3238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只改变：对应筛选规则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F9BD09-EC19-BA02-656D-CB48967E9D70}"/>
              </a:ext>
            </a:extLst>
          </p:cNvPr>
          <p:cNvCxnSpPr/>
          <p:nvPr/>
        </p:nvCxnSpPr>
        <p:spPr>
          <a:xfrm>
            <a:off x="7747000" y="24257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A84EB3E-98AE-5DE2-233A-4E8C2FE152F9}"/>
              </a:ext>
            </a:extLst>
          </p:cNvPr>
          <p:cNvSpPr/>
          <p:nvPr/>
        </p:nvSpPr>
        <p:spPr>
          <a:xfrm>
            <a:off x="8356600" y="2247900"/>
            <a:ext cx="33274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C766C1-F919-0FD1-C150-78769189149E}"/>
              </a:ext>
            </a:extLst>
          </p:cNvPr>
          <p:cNvSpPr txBox="1"/>
          <p:nvPr/>
        </p:nvSpPr>
        <p:spPr>
          <a:xfrm>
            <a:off x="8483600" y="2298699"/>
            <a:ext cx="307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 </a:t>
            </a:r>
            <a:r>
              <a:rPr lang="en-US" altLang="zh-CN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RANSAC → R, t</a:t>
            </a:r>
            <a:endParaRPr lang="zh-CN" altLang="en-US" sz="1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4D8B69-885E-F899-99DC-DC6130043061}"/>
              </a:ext>
            </a:extLst>
          </p:cNvPr>
          <p:cNvSpPr txBox="1"/>
          <p:nvPr/>
        </p:nvSpPr>
        <p:spPr>
          <a:xfrm>
            <a:off x="508000" y="3098799"/>
            <a:ext cx="5384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几何启发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09EC10-0122-CF4E-971A-8DDB8ADFD8BB}"/>
              </a:ext>
            </a:extLst>
          </p:cNvPr>
          <p:cNvSpPr txBox="1"/>
          <p:nvPr/>
        </p:nvSpPr>
        <p:spPr>
          <a:xfrm>
            <a:off x="508000" y="3708399"/>
            <a:ext cx="5384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‖pᵢ − pⱼ‖ ≈ ‖qᵢ − qⱼ‖</a:t>
            </a:r>
            <a:endParaRPr lang="zh-CN" altLang="en-US" sz="27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566EAC-909F-579F-E81D-EEC157F12BF5}"/>
              </a:ext>
            </a:extLst>
          </p:cNvPr>
          <p:cNvSpPr txBox="1"/>
          <p:nvPr/>
        </p:nvSpPr>
        <p:spPr>
          <a:xfrm>
            <a:off x="508000" y="4508499"/>
            <a:ext cx="53848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刚体变换保持点间距离
由多个对应之间的一致性辅助筛选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B648B8F-57FE-CF02-F0DD-250B6B93260A}"/>
              </a:ext>
            </a:extLst>
          </p:cNvPr>
          <p:cNvCxnSpPr/>
          <p:nvPr/>
        </p:nvCxnSpPr>
        <p:spPr>
          <a:xfrm>
            <a:off x="6159500" y="3111500"/>
            <a:ext cx="0" cy="208280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8B95845-FF8A-23C6-8B94-F30AB43965D8}"/>
              </a:ext>
            </a:extLst>
          </p:cNvPr>
          <p:cNvSpPr txBox="1"/>
          <p:nvPr/>
        </p:nvSpPr>
        <p:spPr>
          <a:xfrm>
            <a:off x="6578600" y="3098799"/>
            <a:ext cx="5105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最小对照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E56D51-0112-E89B-EE8B-93F9CEA0B14C}"/>
              </a:ext>
            </a:extLst>
          </p:cNvPr>
          <p:cNvSpPr txBox="1"/>
          <p:nvPr/>
        </p:nvSpPr>
        <p:spPr>
          <a:xfrm>
            <a:off x="6578600" y="3670299"/>
            <a:ext cx="51054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同一候选池，按两种评分各取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
同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RANSAC 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预算、同测试列表
主看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LoMatch RR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，也检查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
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先复现，再按失败类型确定规则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5975D5-B534-108E-7E57-4DCA0A2FB4B0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3D0E14-7D51-A14C-7520-B57DFD868009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预期产出：一个可复现基线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一项受控对照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低重叠失败案例分析。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D163D7E-51B1-5FCB-B92C-F8AAA50D109C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3"/>
            <a:extLst>
              <a:ext uri="{FF2B5EF4-FFF2-40B4-BE49-F238E27FC236}">
                <a16:creationId xmlns:a16="http://schemas.microsoft.com/office/drawing/2014/main" id="{9714ABAE-B5B0-6060-D03B-F38E710F904E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拟以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PREDATOR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RANSAC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起步；几何一致性是已有思想，效果与具体改进需要实验检验。</a:t>
            </a:r>
          </a:p>
        </p:txBody>
      </p:sp>
    </p:spTree>
    <p:extLst>
      <p:ext uri="{BB962C8B-B14F-4D97-AF65-F5344CB8AC3E}">
        <p14:creationId xmlns:p14="http://schemas.microsoft.com/office/powerpoint/2010/main" val="106585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5032</Words>
  <Application>Microsoft Office PowerPoint</Application>
  <PresentationFormat>自定义</PresentationFormat>
  <Paragraphs>163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景寒 刘</dc:creator>
  <cp:lastModifiedBy>景寒 刘</cp:lastModifiedBy>
  <cp:revision>1</cp:revision>
  <dcterms:created xsi:type="dcterms:W3CDTF">2026-10-15T18:01:43Z</dcterms:created>
  <dcterms:modified xsi:type="dcterms:W3CDTF">2026-10-15T18:01:43Z</dcterms:modified>
</cp:coreProperties>
</file>