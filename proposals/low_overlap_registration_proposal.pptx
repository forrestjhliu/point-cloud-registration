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F90E1-A1F2-4202-8311-C8CFB46FF44C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3AF69-189D-4F4A-915E-82AB2F08FD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13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开场约</a:t>
            </a:r>
            <a:r>
              <a:rPr lang="en-US" altLang="zh-CN"/>
              <a:t>40</a:t>
            </a:r>
            <a:r>
              <a:rPr lang="zh-CN" altLang="en-US"/>
              <a:t>秒。先指左、中两图：这就是算法拿到的两块局部地图，蓝色是源</a:t>
            </a:r>
            <a:r>
              <a:rPr lang="en-US" altLang="zh-CN"/>
              <a:t>P</a:t>
            </a:r>
            <a:r>
              <a:rPr lang="zh-CN" altLang="en-US"/>
              <a:t>，橙色是目标</a:t>
            </a:r>
            <a:r>
              <a:rPr lang="en-US" altLang="zh-CN"/>
              <a:t>Q</a:t>
            </a:r>
            <a:r>
              <a:rPr lang="zh-CN" altLang="en-US"/>
              <a:t>，各有自己的坐标系。机器人换视角以后，看到的表面和坐标都会变化；同一厨房的两份局部地图需要放到一起。再指右图：这是用数据集</a:t>
            </a:r>
            <a:r>
              <a:rPr lang="en-US" altLang="zh-CN"/>
              <a:t>GT</a:t>
            </a:r>
            <a:r>
              <a:rPr lang="zh-CN" altLang="en-US"/>
              <a:t>演示正确答案，把整个</a:t>
            </a:r>
            <a:r>
              <a:rPr lang="en-US" altLang="zh-CN"/>
              <a:t>P</a:t>
            </a:r>
            <a:r>
              <a:rPr lang="zh-CN" altLang="en-US"/>
              <a:t>刚体移动到</a:t>
            </a:r>
            <a:r>
              <a:rPr lang="en-US" altLang="zh-CN"/>
              <a:t>Q</a:t>
            </a:r>
            <a:r>
              <a:rPr lang="zh-CN" altLang="en-US"/>
              <a:t>坐标系，绿色是两份扫描中都观测到的邻近表面。模型实际输出一个</a:t>
            </a:r>
            <a:r>
              <a:rPr lang="en-US" altLang="zh-CN"/>
              <a:t>R,t</a:t>
            </a:r>
            <a:r>
              <a:rPr lang="zh-CN" altLang="en-US"/>
              <a:t>，不输出这张图，不创造新表面，也不要求所有点都有对应。</a:t>
            </a:r>
          </a:p>
          <a:p>
            <a:r>
              <a:rPr lang="zh-CN" altLang="en-US"/>
              <a:t>这是真实</a:t>
            </a:r>
            <a:r>
              <a:rPr lang="en-US" altLang="zh-CN"/>
              <a:t>3DMatch</a:t>
            </a:r>
            <a:r>
              <a:rPr lang="zh-CN" altLang="en-US"/>
              <a:t>测试</a:t>
            </a:r>
            <a:r>
              <a:rPr lang="en-US" altLang="zh-CN"/>
              <a:t>pair</a:t>
            </a:r>
            <a:r>
              <a:rPr lang="zh-CN" altLang="en-US"/>
              <a:t>，</a:t>
            </a:r>
            <a:r>
              <a:rPr lang="en-US" altLang="zh-CN"/>
              <a:t>7-scenes-redkitchen / source cloud_bin_12 → reference cloud_bin_0</a:t>
            </a:r>
            <a:r>
              <a:rPr lang="zh-CN" altLang="en-US"/>
              <a:t>，源</a:t>
            </a:r>
            <a:r>
              <a:rPr lang="en-US" altLang="zh-CN"/>
              <a:t>16341</a:t>
            </a:r>
            <a:r>
              <a:rPr lang="zh-CN" altLang="en-US"/>
              <a:t>点、目标</a:t>
            </a:r>
            <a:r>
              <a:rPr lang="en-US" altLang="zh-CN"/>
              <a:t>18977</a:t>
            </a:r>
            <a:r>
              <a:rPr lang="zh-CN" altLang="en-US"/>
              <a:t>点。点云从</a:t>
            </a:r>
            <a:r>
              <a:rPr lang="en-US" altLang="zh-CN"/>
              <a:t>PREDATOR</a:t>
            </a:r>
            <a:r>
              <a:rPr lang="zh-CN" altLang="en-US"/>
              <a:t>预处理</a:t>
            </a:r>
            <a:r>
              <a:rPr lang="en-US" altLang="zh-CN"/>
              <a:t>ZIP</a:t>
            </a:r>
            <a:r>
              <a:rPr lang="zh-CN" altLang="en-US"/>
              <a:t>按</a:t>
            </a:r>
            <a:r>
              <a:rPr lang="en-US" altLang="zh-CN"/>
              <a:t>HTTP Range</a:t>
            </a:r>
            <a:r>
              <a:rPr lang="zh-CN" altLang="en-US"/>
              <a:t>提取，并验证成员长度与</a:t>
            </a:r>
            <a:r>
              <a:rPr lang="en-US" altLang="zh-CN"/>
              <a:t>CRC32</a:t>
            </a:r>
            <a:r>
              <a:rPr lang="zh-CN" altLang="en-US"/>
              <a:t>；</a:t>
            </a:r>
            <a:r>
              <a:rPr lang="en-US" altLang="zh-CN"/>
              <a:t>GT</a:t>
            </a:r>
            <a:r>
              <a:rPr lang="zh-CN" altLang="en-US"/>
              <a:t>与两个作者仓库的</a:t>
            </a:r>
            <a:r>
              <a:rPr lang="en-US" altLang="zh-CN"/>
              <a:t>metadata</a:t>
            </a:r>
            <a:r>
              <a:rPr lang="zh-CN" altLang="en-US"/>
              <a:t>逐元素一致。第</a:t>
            </a:r>
            <a:r>
              <a:rPr lang="en-US" altLang="zh-CN"/>
              <a:t>3</a:t>
            </a:r>
            <a:r>
              <a:rPr lang="zh-CN" altLang="en-US"/>
              <a:t>页保持同一</a:t>
            </a:r>
            <a:r>
              <a:rPr lang="en-US" altLang="zh-CN"/>
              <a:t>reference0</a:t>
            </a:r>
            <a:r>
              <a:rPr lang="zh-CN" altLang="en-US"/>
              <a:t>，换成</a:t>
            </a:r>
            <a:r>
              <a:rPr lang="en-US" altLang="zh-CN"/>
              <a:t>source30</a:t>
            </a:r>
            <a:r>
              <a:rPr lang="zh-CN" altLang="en-US"/>
              <a:t>，形成教学对照。两组示例不是随机统计样本，也不构成算法性能实验。</a:t>
            </a:r>
          </a:p>
          <a:p>
            <a:r>
              <a:rPr lang="zh-CN" altLang="en-US"/>
              <a:t>百分比统一使用</a:t>
            </a:r>
            <a:r>
              <a:rPr lang="en-US" altLang="zh-CN"/>
              <a:t>GeoTransformer</a:t>
            </a:r>
            <a:r>
              <a:rPr lang="zh-CN" altLang="en-US"/>
              <a:t>固定版本</a:t>
            </a:r>
            <a:r>
              <a:rPr lang="en-US" altLang="zh-CN"/>
              <a:t>e7a135af4c318ff3b8d7f6c963df094d7e4ea540</a:t>
            </a:r>
            <a:r>
              <a:rPr lang="zh-CN" altLang="en-US"/>
              <a:t>的</a:t>
            </a:r>
            <a:r>
              <a:rPr lang="en-US" altLang="zh-CN"/>
              <a:t>overlap</a:t>
            </a:r>
            <a:r>
              <a:rPr lang="zh-CN" altLang="en-US"/>
              <a:t>字段，实际值</a:t>
            </a:r>
            <a:r>
              <a:rPr lang="en-US" altLang="zh-CN"/>
              <a:t>0.6135477441390187</a:t>
            </a:r>
            <a:r>
              <a:rPr lang="zh-CN" altLang="en-US"/>
              <a:t>。</a:t>
            </a:r>
            <a:r>
              <a:rPr lang="en-US" altLang="zh-CN"/>
              <a:t>PREDATOR</a:t>
            </a:r>
            <a:r>
              <a:rPr lang="zh-CN" altLang="en-US"/>
              <a:t>同一</a:t>
            </a:r>
            <a:r>
              <a:rPr lang="en-US" altLang="zh-CN"/>
              <a:t>pair</a:t>
            </a:r>
            <a:r>
              <a:rPr lang="zh-CN" altLang="en-US"/>
              <a:t>的字段为</a:t>
            </a:r>
            <a:r>
              <a:rPr lang="en-US" altLang="zh-CN"/>
              <a:t>0.4522490812153838</a:t>
            </a:r>
            <a:r>
              <a:rPr lang="zh-CN" altLang="en-US"/>
              <a:t>，作者字段口径不同；</a:t>
            </a:r>
            <a:r>
              <a:rPr lang="en-US" altLang="zh-CN"/>
              <a:t>pair</a:t>
            </a:r>
            <a:r>
              <a:rPr lang="zh-CN" altLang="en-US"/>
              <a:t>身份和</a:t>
            </a:r>
            <a:r>
              <a:rPr lang="en-US" altLang="zh-CN"/>
              <a:t>GT</a:t>
            </a:r>
            <a:r>
              <a:rPr lang="zh-CN" altLang="en-US"/>
              <a:t>一致。不要把这些百分比叫遮挡率、图中绿色面积比例或正确匹配比例。</a:t>
            </a:r>
          </a:p>
          <a:p>
            <a:r>
              <a:rPr lang="zh-CN" altLang="en-US"/>
              <a:t>绿色按</a:t>
            </a:r>
            <a:r>
              <a:rPr lang="en-US" altLang="zh-CN"/>
              <a:t>GT</a:t>
            </a:r>
            <a:r>
              <a:rPr lang="zh-CN" altLang="en-US"/>
              <a:t>对齐后双向最近邻距离</a:t>
            </a:r>
            <a:r>
              <a:rPr lang="en-US" altLang="zh-CN"/>
              <a:t>&lt;0.05m</a:t>
            </a:r>
            <a:r>
              <a:rPr lang="zh-CN" altLang="en-US"/>
              <a:t>逐点标注，仅帮助看见共同表面，不是</a:t>
            </a:r>
            <a:r>
              <a:rPr lang="en-US" altLang="zh-CN"/>
              <a:t>benchmark overlap</a:t>
            </a:r>
            <a:r>
              <a:rPr lang="zh-CN" altLang="en-US"/>
              <a:t>的重算，不给模型。输入保持原始</a:t>
            </a:r>
            <a:r>
              <a:rPr lang="en-US" altLang="zh-CN"/>
              <a:t>XYZ</a:t>
            </a:r>
            <a:r>
              <a:rPr lang="zh-CN" altLang="en-US"/>
              <a:t>；颜色与点法向明暗只服务渲染。所有面板米制缩放和投影视角相同，输入各自居中；两页</a:t>
            </a:r>
            <a:r>
              <a:rPr lang="en-US" altLang="zh-CN"/>
              <a:t>Q</a:t>
            </a:r>
            <a:r>
              <a:rPr lang="zh-CN" altLang="en-US"/>
              <a:t>图片完全相同，两页</a:t>
            </a:r>
            <a:r>
              <a:rPr lang="en-US" altLang="zh-CN"/>
              <a:t>GT</a:t>
            </a:r>
            <a:r>
              <a:rPr lang="zh-CN" altLang="en-US"/>
              <a:t>图使用相同显示中心。模型未运行。</a:t>
            </a:r>
          </a:p>
          <a:p>
            <a:r>
              <a:rPr lang="zh-CN" altLang="en-US"/>
              <a:t>课程联系：</a:t>
            </a:r>
            <a:r>
              <a:rPr lang="en-US" altLang="zh-CN"/>
              <a:t>Lecture2</a:t>
            </a:r>
            <a:r>
              <a:rPr lang="zh-CN" altLang="en-US"/>
              <a:t>刚体变换；</a:t>
            </a:r>
            <a:r>
              <a:rPr lang="en-US" altLang="zh-CN"/>
              <a:t>Lecture3</a:t>
            </a:r>
            <a:r>
              <a:rPr lang="zh-CN" altLang="en-US"/>
              <a:t>对应关系与一致性验证；</a:t>
            </a:r>
            <a:r>
              <a:rPr lang="en-US" altLang="zh-CN"/>
              <a:t>Lecture4–5</a:t>
            </a:r>
            <a:r>
              <a:rPr lang="zh-CN" altLang="en-US"/>
              <a:t>点云特征。</a:t>
            </a:r>
          </a:p>
          <a:p>
            <a:r>
              <a:rPr lang="zh-CN" altLang="en-US"/>
              <a:t>来源：</a:t>
            </a:r>
            <a:r>
              <a:rPr lang="en-US" altLang="zh-CN"/>
              <a:t>https://github.com/prs-eth/OverlapPredator#datasets-and-pretrained-models</a:t>
            </a:r>
          </a:p>
          <a:p>
            <a:r>
              <a:rPr lang="zh-CN" altLang="en-US"/>
              <a:t>配对元数据：</a:t>
            </a:r>
            <a:r>
              <a:rPr lang="en-US" altLang="zh-CN"/>
              <a:t>https://github.com/qinzheng93/GeoTransformer#3dmatch</a:t>
            </a:r>
          </a:p>
          <a:p>
            <a:r>
              <a:rPr lang="zh-CN" altLang="en-US"/>
              <a:t>完整来源、</a:t>
            </a:r>
            <a:r>
              <a:rPr lang="en-US" altLang="zh-CN"/>
              <a:t>GT</a:t>
            </a:r>
            <a:r>
              <a:rPr lang="zh-CN" altLang="en-US"/>
              <a:t>、</a:t>
            </a:r>
            <a:r>
              <a:rPr lang="en-US" altLang="zh-CN"/>
              <a:t>hash</a:t>
            </a:r>
            <a:r>
              <a:rPr lang="zh-CN" altLang="en-US"/>
              <a:t>和下载记录：</a:t>
            </a:r>
            <a:r>
              <a:rPr lang="en-US" altLang="zh-CN"/>
              <a:t>assets/registration/two_examples/examples.json</a:t>
            </a:r>
            <a:r>
              <a:rPr lang="zh-CN" altLang="en-US"/>
              <a:t>；渲染规则：</a:t>
            </a:r>
            <a:r>
              <a:rPr lang="en-US" altLang="zh-CN"/>
              <a:t>render_manifest.json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3AF69-189D-4F4A-915E-82AB2F08FD7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90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60</a:t>
            </a:r>
            <a:r>
              <a:rPr lang="zh-CN" altLang="en-US"/>
              <a:t>秒。按帧→片段→样本三个层次讲。最原始的是人在室内移动</a:t>
            </a:r>
            <a:r>
              <a:rPr lang="en-US" altLang="zh-CN"/>
              <a:t>RGB-D</a:t>
            </a:r>
            <a:r>
              <a:rPr lang="zh-CN" altLang="en-US"/>
              <a:t>相机拍下的序列，包含颜色、深度、内参和已有参考位姿。一个有效深度像素</a:t>
            </a:r>
            <a:r>
              <a:rPr lang="en-US" altLang="zh-CN"/>
              <a:t>(u,v,d)</a:t>
            </a:r>
            <a:r>
              <a:rPr lang="zh-CN" altLang="en-US"/>
              <a:t>可按</a:t>
            </a:r>
            <a:r>
              <a:rPr lang="en-US" altLang="zh-CN"/>
              <a:t>p=d K^-1[u,v,1]</a:t>
            </a:r>
            <a:r>
              <a:rPr lang="zh-CN" altLang="en-US"/>
              <a:t>反投影为三维点。原始深度文件以毫米保存，计算时转换成米。参考位姿由已有重建提供，不是本项目预测的输入。</a:t>
            </a:r>
          </a:p>
          <a:p>
            <a:r>
              <a:rPr lang="zh-CN" altLang="en-US"/>
              <a:t>官方</a:t>
            </a:r>
            <a:r>
              <a:rPr lang="en-US" altLang="zh-CN"/>
              <a:t>fuseSceneFragments.m</a:t>
            </a:r>
            <a:r>
              <a:rPr lang="zh-CN" altLang="en-US"/>
              <a:t>每</a:t>
            </a:r>
            <a:r>
              <a:rPr lang="en-US" altLang="zh-CN"/>
              <a:t>50</a:t>
            </a:r>
            <a:r>
              <a:rPr lang="zh-CN" altLang="en-US"/>
              <a:t>帧融合一次；</a:t>
            </a:r>
            <a:r>
              <a:rPr lang="en-US" altLang="zh-CN"/>
              <a:t>demo.cu</a:t>
            </a:r>
            <a:r>
              <a:rPr lang="zh-CN" altLang="en-US"/>
              <a:t>将该段第一帧选为局部坐标基准，利用</a:t>
            </a:r>
            <a:r>
              <a:rPr lang="en-US" altLang="zh-CN"/>
              <a:t>inv(T_world_base)T_world_frame</a:t>
            </a:r>
            <a:r>
              <a:rPr lang="zh-CN" altLang="en-US"/>
              <a:t>把其余帧变换进来，再通过</a:t>
            </a:r>
            <a:r>
              <a:rPr lang="en-US" altLang="zh-CN"/>
              <a:t>TSDF</a:t>
            </a:r>
            <a:r>
              <a:rPr lang="zh-CN" altLang="en-US"/>
              <a:t>融合并提取局部表面点。</a:t>
            </a:r>
            <a:r>
              <a:rPr lang="en-US" altLang="zh-CN"/>
              <a:t>fragment</a:t>
            </a:r>
            <a:r>
              <a:rPr lang="zh-CN" altLang="en-US"/>
              <a:t>的世界位姿保存该首帧</a:t>
            </a:r>
            <a:r>
              <a:rPr lang="en-US" altLang="zh-CN"/>
              <a:t>camera-to-world</a:t>
            </a:r>
            <a:r>
              <a:rPr lang="zh-CN" altLang="en-US"/>
              <a:t>矩阵。每个片段仍只包含那段时间真正观测到的表面，不是完整房间或物体。它也不是一张深度图，也不是原论文另一个局部</a:t>
            </a:r>
            <a:r>
              <a:rPr lang="en-US" altLang="zh-CN"/>
              <a:t>patch</a:t>
            </a:r>
            <a:r>
              <a:rPr lang="zh-CN" altLang="en-US"/>
              <a:t>分类任务里的小立方体。</a:t>
            </a:r>
          </a:p>
          <a:p>
            <a:r>
              <a:rPr lang="zh-CN" altLang="en-US"/>
              <a:t>我们不用重新做这些准备工作，直接读作者发布的预处理点云。一个配准样本由</a:t>
            </a:r>
            <a:r>
              <a:rPr lang="en-US" altLang="zh-CN"/>
              <a:t>P</a:t>
            </a:r>
            <a:r>
              <a:rPr lang="zh-CN" altLang="en-US"/>
              <a:t>、</a:t>
            </a:r>
            <a:r>
              <a:rPr lang="en-US" altLang="zh-CN"/>
              <a:t>Q</a:t>
            </a:r>
            <a:r>
              <a:rPr lang="zh-CN" altLang="en-US"/>
              <a:t>和正确答案</a:t>
            </a:r>
            <a:r>
              <a:rPr lang="en-US" altLang="zh-CN"/>
              <a:t>T*</a:t>
            </a:r>
            <a:r>
              <a:rPr lang="zh-CN" altLang="en-US"/>
              <a:t>组成，但只有</a:t>
            </a:r>
            <a:r>
              <a:rPr lang="en-US" altLang="zh-CN"/>
              <a:t>P</a:t>
            </a:r>
            <a:r>
              <a:rPr lang="zh-CN" altLang="en-US"/>
              <a:t>和</a:t>
            </a:r>
            <a:r>
              <a:rPr lang="en-US" altLang="zh-CN"/>
              <a:t>Q</a:t>
            </a:r>
            <a:r>
              <a:rPr lang="zh-CN" altLang="en-US"/>
              <a:t>输入模型。以第</a:t>
            </a:r>
            <a:r>
              <a:rPr lang="en-US" altLang="zh-CN"/>
              <a:t>1</a:t>
            </a:r>
            <a:r>
              <a:rPr lang="zh-CN" altLang="en-US"/>
              <a:t>页为例，</a:t>
            </a:r>
            <a:r>
              <a:rPr lang="en-US" altLang="zh-CN"/>
              <a:t>P</a:t>
            </a:r>
            <a:r>
              <a:rPr lang="zh-CN" altLang="en-US"/>
              <a:t>为片段</a:t>
            </a:r>
            <a:r>
              <a:rPr lang="en-US" altLang="zh-CN"/>
              <a:t>12</a:t>
            </a:r>
            <a:r>
              <a:rPr lang="zh-CN" altLang="en-US"/>
              <a:t>的</a:t>
            </a:r>
            <a:r>
              <a:rPr lang="en-US" altLang="zh-CN"/>
              <a:t>16341×3</a:t>
            </a:r>
            <a:r>
              <a:rPr lang="zh-CN" altLang="en-US"/>
              <a:t>数组，</a:t>
            </a:r>
            <a:r>
              <a:rPr lang="en-US" altLang="zh-CN"/>
              <a:t>Q</a:t>
            </a:r>
            <a:r>
              <a:rPr lang="zh-CN" altLang="en-US"/>
              <a:t>为片段</a:t>
            </a:r>
            <a:r>
              <a:rPr lang="en-US" altLang="zh-CN"/>
              <a:t>0</a:t>
            </a:r>
            <a:r>
              <a:rPr lang="zh-CN" altLang="en-US"/>
              <a:t>的</a:t>
            </a:r>
            <a:r>
              <a:rPr lang="en-US" altLang="zh-CN"/>
              <a:t>18977×3</a:t>
            </a:r>
            <a:r>
              <a:rPr lang="zh-CN" altLang="en-US"/>
              <a:t>数组。点数不同、行顺序任意，没有逐行一一对应关系。颜色只是可视化，不是当前</a:t>
            </a:r>
            <a:r>
              <a:rPr lang="en-US" altLang="zh-CN"/>
              <a:t>setting</a:t>
            </a:r>
            <a:r>
              <a:rPr lang="zh-CN" altLang="en-US"/>
              <a:t>的输入特征。</a:t>
            </a:r>
          </a:p>
          <a:p>
            <a:r>
              <a:rPr lang="zh-CN" altLang="en-US"/>
              <a:t>输出</a:t>
            </a:r>
            <a:r>
              <a:rPr lang="en-US" altLang="zh-CN"/>
              <a:t>R</a:t>
            </a:r>
            <a:r>
              <a:rPr lang="zh-CN" altLang="en-US"/>
              <a:t>属于</a:t>
            </a:r>
            <a:r>
              <a:rPr lang="en-US" altLang="zh-CN"/>
              <a:t>SO(3)</a:t>
            </a:r>
            <a:r>
              <a:rPr lang="zh-CN" altLang="en-US"/>
              <a:t>，满足正交且行列式为</a:t>
            </a:r>
            <a:r>
              <a:rPr lang="en-US" altLang="zh-CN"/>
              <a:t>1</a:t>
            </a:r>
            <a:r>
              <a:rPr lang="zh-CN" altLang="en-US"/>
              <a:t>；</a:t>
            </a:r>
            <a:r>
              <a:rPr lang="en-US" altLang="zh-CN"/>
              <a:t>t</a:t>
            </a:r>
            <a:r>
              <a:rPr lang="zh-CN" altLang="en-US"/>
              <a:t>是</a:t>
            </a:r>
            <a:r>
              <a:rPr lang="en-US" altLang="zh-CN"/>
              <a:t>3</a:t>
            </a:r>
            <a:r>
              <a:rPr lang="zh-CN" altLang="en-US"/>
              <a:t>维米制平移。对每个源点执行</a:t>
            </a:r>
            <a:r>
              <a:rPr lang="en-US" altLang="zh-CN"/>
              <a:t>Rp+t</a:t>
            </a:r>
            <a:r>
              <a:rPr lang="zh-CN" altLang="en-US"/>
              <a:t>进入目标坐标，所有点共用同一变换。</a:t>
            </a:r>
            <a:r>
              <a:rPr lang="en-US" altLang="zh-CN"/>
              <a:t>GT</a:t>
            </a:r>
            <a:r>
              <a:rPr lang="zh-CN" altLang="en-US"/>
              <a:t>是</a:t>
            </a:r>
            <a:r>
              <a:rPr lang="en-US" altLang="zh-CN"/>
              <a:t>4×4</a:t>
            </a:r>
            <a:r>
              <a:rPr lang="zh-CN" altLang="en-US"/>
              <a:t>齐次矩阵，包含旋转和平移，不是每点一个类别。已知尺度，不需要估计缩放；已知来自同一静态场景并存在重叠，不做跨场景检索、是否重叠的二分类、动态物体或非刚体配准。</a:t>
            </a:r>
          </a:p>
          <a:p>
            <a:r>
              <a:rPr lang="zh-CN" altLang="en-US"/>
              <a:t>上方轨迹用于数据集离线构建；下方模型测试时看不到该轨迹、初始相对位姿、</a:t>
            </a:r>
            <a:r>
              <a:rPr lang="en-US" altLang="zh-CN"/>
              <a:t>GT</a:t>
            </a:r>
            <a:r>
              <a:rPr lang="zh-CN" altLang="en-US"/>
              <a:t>对应或重叠标签。</a:t>
            </a:r>
          </a:p>
          <a:p>
            <a:r>
              <a:rPr lang="en-US" altLang="zh-CN"/>
              <a:t>https://github.com/andyzeng/3dmatch-toolbox/blob/master/depth-fusion/fuseSceneFragments.m</a:t>
            </a:r>
          </a:p>
          <a:p>
            <a:r>
              <a:rPr lang="en-US" altLang="zh-CN"/>
              <a:t>https://github.com/andyzeng/3dmatch-toolbox/blob/master/depth-fusion/demo.cu</a:t>
            </a:r>
          </a:p>
          <a:p>
            <a:r>
              <a:rPr lang="en-US" altLang="zh-CN"/>
              <a:t>https://github.com/qinzheng93/GeoTransformer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3AF69-189D-4F4A-915E-82AB2F08FD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649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40</a:t>
            </a:r>
            <a:r>
              <a:rPr lang="zh-CN" altLang="en-US"/>
              <a:t>秒。先指中间：目标</a:t>
            </a:r>
            <a:r>
              <a:rPr lang="en-US" altLang="zh-CN"/>
              <a:t>Q</a:t>
            </a:r>
            <a:r>
              <a:rPr lang="zh-CN" altLang="en-US"/>
              <a:t>和第</a:t>
            </a:r>
            <a:r>
              <a:rPr lang="en-US" altLang="zh-CN"/>
              <a:t>1</a:t>
            </a:r>
            <a:r>
              <a:rPr lang="zh-CN" altLang="en-US"/>
              <a:t>页完全一样，连图片的视角和大小都没变；现在只把源片段换成</a:t>
            </a:r>
            <a:r>
              <a:rPr lang="en-US" altLang="zh-CN"/>
              <a:t>30</a:t>
            </a:r>
            <a:r>
              <a:rPr lang="zh-CN" altLang="en-US"/>
              <a:t>。再看右边，用</a:t>
            </a:r>
            <a:r>
              <a:rPr lang="en-US" altLang="zh-CN"/>
              <a:t>GT</a:t>
            </a:r>
            <a:r>
              <a:rPr lang="zh-CN" altLang="en-US"/>
              <a:t>把两份点云放回同一坐标系后，绿色共同表面明显减少，蓝色和橙色各有大块独有区域。那些区域根本没有真实对应，不能期待把所有点重合。真正的问题是：输入没有绿色标注，要从局部</a:t>
            </a:r>
            <a:r>
              <a:rPr lang="en-US" altLang="zh-CN"/>
              <a:t>XYZ</a:t>
            </a:r>
            <a:r>
              <a:rPr lang="zh-CN" altLang="en-US"/>
              <a:t>里找到少量可靠对应，估计一个对整个源点云适用的</a:t>
            </a:r>
            <a:r>
              <a:rPr lang="en-US" altLang="zh-CN"/>
              <a:t>R,t</a:t>
            </a:r>
            <a:r>
              <a:rPr lang="zh-CN" altLang="en-US"/>
              <a:t>。</a:t>
            </a:r>
          </a:p>
          <a:p>
            <a:r>
              <a:rPr lang="zh-CN" altLang="en-US"/>
              <a:t>这是</a:t>
            </a:r>
            <a:r>
              <a:rPr lang="en-US" altLang="zh-CN"/>
              <a:t>3DLoMatch</a:t>
            </a:r>
            <a:r>
              <a:rPr lang="zh-CN" altLang="en-US"/>
              <a:t>测试</a:t>
            </a:r>
            <a:r>
              <a:rPr lang="en-US" altLang="zh-CN"/>
              <a:t>pair</a:t>
            </a:r>
            <a:r>
              <a:rPr lang="zh-CN" altLang="en-US"/>
              <a:t>，</a:t>
            </a:r>
            <a:r>
              <a:rPr lang="en-US" altLang="zh-CN"/>
              <a:t>7-scenes-redkitchen / source cloud_bin_30 → reference cloud_bin_0</a:t>
            </a:r>
            <a:r>
              <a:rPr lang="zh-CN" altLang="en-US"/>
              <a:t>，源</a:t>
            </a:r>
            <a:r>
              <a:rPr lang="en-US" altLang="zh-CN"/>
              <a:t>11054</a:t>
            </a:r>
            <a:r>
              <a:rPr lang="zh-CN" altLang="en-US"/>
              <a:t>点、目标</a:t>
            </a:r>
            <a:r>
              <a:rPr lang="en-US" altLang="zh-CN"/>
              <a:t>18977</a:t>
            </a:r>
            <a:r>
              <a:rPr lang="zh-CN" altLang="en-US"/>
              <a:t>点，不在</a:t>
            </a:r>
            <a:r>
              <a:rPr lang="en-US" altLang="zh-CN"/>
              <a:t>3DMatch</a:t>
            </a:r>
            <a:r>
              <a:rPr lang="zh-CN" altLang="en-US"/>
              <a:t>配对列表中。</a:t>
            </a:r>
            <a:r>
              <a:rPr lang="en-US" altLang="zh-CN"/>
              <a:t>GeoTransformer</a:t>
            </a:r>
            <a:r>
              <a:rPr lang="zh-CN" altLang="en-US"/>
              <a:t>元数据</a:t>
            </a:r>
            <a:r>
              <a:rPr lang="en-US" altLang="zh-CN"/>
              <a:t>overlap=0.1993072286242296</a:t>
            </a:r>
            <a:r>
              <a:rPr lang="zh-CN" altLang="en-US"/>
              <a:t>；</a:t>
            </a:r>
            <a:r>
              <a:rPr lang="en-US" altLang="zh-CN"/>
              <a:t>PREDATOR</a:t>
            </a:r>
            <a:r>
              <a:rPr lang="zh-CN" altLang="en-US"/>
              <a:t>为</a:t>
            </a:r>
            <a:r>
              <a:rPr lang="en-US" altLang="zh-CN"/>
              <a:t>0.2022</a:t>
            </a:r>
            <a:r>
              <a:rPr lang="zh-CN" altLang="en-US"/>
              <a:t>。固定作者列表，不按另一个字段重新筛选。右图是</a:t>
            </a:r>
            <a:r>
              <a:rPr lang="en-US" altLang="zh-CN"/>
              <a:t>GT</a:t>
            </a:r>
            <a:r>
              <a:rPr lang="zh-CN" altLang="en-US"/>
              <a:t>对齐和解释性标注，既不是作者方法预测，也不是本项目结果。</a:t>
            </a:r>
          </a:p>
          <a:p>
            <a:r>
              <a:rPr lang="zh-CN" altLang="en-US"/>
              <a:t>两页都用同一相机方向、米制缩放、</a:t>
            </a:r>
            <a:r>
              <a:rPr lang="en-US" altLang="zh-CN"/>
              <a:t>GT</a:t>
            </a:r>
            <a:r>
              <a:rPr lang="zh-CN" altLang="en-US"/>
              <a:t>图中心和</a:t>
            </a:r>
            <a:r>
              <a:rPr lang="en-US" altLang="zh-CN"/>
              <a:t>5cm</a:t>
            </a:r>
            <a:r>
              <a:rPr lang="zh-CN" altLang="en-US"/>
              <a:t>邻近标注规则；</a:t>
            </a:r>
            <a:r>
              <a:rPr lang="en-US" altLang="zh-CN"/>
              <a:t>Q</a:t>
            </a:r>
            <a:r>
              <a:rPr lang="zh-CN" altLang="en-US"/>
              <a:t>图逐像素相同。绿色只表达</a:t>
            </a:r>
            <a:r>
              <a:rPr lang="en-US" altLang="zh-CN"/>
              <a:t>GT</a:t>
            </a:r>
            <a:r>
              <a:rPr lang="zh-CN" altLang="en-US"/>
              <a:t>下的邻近表面，不等于</a:t>
            </a:r>
            <a:r>
              <a:rPr lang="en-US" altLang="zh-CN"/>
              <a:t>metadata overlap</a:t>
            </a:r>
            <a:r>
              <a:rPr lang="zh-CN" altLang="en-US"/>
              <a:t>计算口径，不用于输入或候选筛选。完整数组、来源和</a:t>
            </a:r>
            <a:r>
              <a:rPr lang="en-US" altLang="zh-CN"/>
              <a:t>GT</a:t>
            </a:r>
            <a:r>
              <a:rPr lang="zh-CN" altLang="en-US"/>
              <a:t>方向见</a:t>
            </a:r>
            <a:r>
              <a:rPr lang="en-US" altLang="zh-CN"/>
              <a:t>assets/registration/two_examples/examples.json</a:t>
            </a:r>
            <a:r>
              <a:rPr lang="zh-CN" altLang="en-US"/>
              <a:t>。</a:t>
            </a:r>
          </a:p>
          <a:p>
            <a:r>
              <a:rPr lang="zh-CN" altLang="en-US"/>
              <a:t>这是两种典型情形的教学对照，不表示高重叠必定容易、低重叠必定失败，也没有在实验上隔离旋转角度等其他因素。低重叠由视野变化和遮挡共同造成；重复墙面、局部几何相似还会造成对应歧义。错误匹配率取决于特征和采样，不能用</a:t>
            </a:r>
            <a:r>
              <a:rPr lang="en-US" altLang="zh-CN"/>
              <a:t>1-overlap</a:t>
            </a:r>
            <a:r>
              <a:rPr lang="zh-CN" altLang="en-US"/>
              <a:t>替代。</a:t>
            </a:r>
          </a:p>
          <a:p>
            <a:r>
              <a:rPr lang="zh-CN" altLang="en-US"/>
              <a:t>启发：正确对应还必须共同支持同一个刚体变换，因此可以研究几何一致性筛选。不要提前承诺该规则一定改善。</a:t>
            </a:r>
          </a:p>
          <a:p>
            <a:r>
              <a:rPr lang="en-US" altLang="zh-CN"/>
              <a:t>https://github.com/prs-eth/OverlapPredator#datasets-and-pretrained-models</a:t>
            </a:r>
          </a:p>
          <a:p>
            <a:r>
              <a:rPr lang="en-US" altLang="zh-CN"/>
              <a:t>https://github.com/qinzheng93/GeoTransformer#3dmatch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3AF69-189D-4F4A-915E-82AB2F08FD7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00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60</a:t>
            </a:r>
            <a:r>
              <a:rPr lang="zh-CN" altLang="en-US"/>
              <a:t>秒。</a:t>
            </a:r>
            <a:r>
              <a:rPr lang="en-US" altLang="zh-CN"/>
              <a:t>3DMatch</a:t>
            </a:r>
            <a:r>
              <a:rPr lang="zh-CN" altLang="en-US"/>
              <a:t>这个名字既是原论文的描述子方法，也指其后使用的数据和</a:t>
            </a:r>
            <a:r>
              <a:rPr lang="en-US" altLang="zh-CN"/>
              <a:t>benchmark</a:t>
            </a:r>
            <a:r>
              <a:rPr lang="zh-CN" altLang="en-US"/>
              <a:t>。我们用的是场景</a:t>
            </a:r>
            <a:r>
              <a:rPr lang="en-US" altLang="zh-CN"/>
              <a:t>fragment</a:t>
            </a:r>
            <a:r>
              <a:rPr lang="zh-CN" altLang="en-US"/>
              <a:t>配准任务，不是原论文</a:t>
            </a:r>
            <a:r>
              <a:rPr lang="en-US" altLang="zh-CN"/>
              <a:t>30000</a:t>
            </a:r>
            <a:r>
              <a:rPr lang="zh-CN" altLang="en-US"/>
              <a:t>个局部</a:t>
            </a:r>
            <a:r>
              <a:rPr lang="en-US" altLang="zh-CN"/>
              <a:t>patch</a:t>
            </a:r>
            <a:r>
              <a:rPr lang="zh-CN" altLang="en-US"/>
              <a:t>的二分类任务。</a:t>
            </a:r>
            <a:r>
              <a:rPr lang="en-US" altLang="zh-CN"/>
              <a:t>3DMatch</a:t>
            </a:r>
            <a:r>
              <a:rPr lang="zh-CN" altLang="en-US"/>
              <a:t>汇集真实室内</a:t>
            </a:r>
            <a:r>
              <a:rPr lang="en-US" altLang="zh-CN"/>
              <a:t>RGB-D</a:t>
            </a:r>
            <a:r>
              <a:rPr lang="zh-CN" altLang="en-US"/>
              <a:t>数据；</a:t>
            </a:r>
            <a:r>
              <a:rPr lang="en-US" altLang="zh-CN"/>
              <a:t>3DLoMatch</a:t>
            </a:r>
            <a:r>
              <a:rPr lang="zh-CN" altLang="en-US"/>
              <a:t>由</a:t>
            </a:r>
            <a:r>
              <a:rPr lang="en-US" altLang="zh-CN"/>
              <a:t>PREDATOR</a:t>
            </a:r>
            <a:r>
              <a:rPr lang="zh-CN" altLang="en-US"/>
              <a:t>工作在相同来源的扫描上构造低重叠配对评测，不是另一种传感器，不是不同的一批机器人，也不是我们人工裁掉点云制造的遮挡。</a:t>
            </a:r>
          </a:p>
          <a:p>
            <a:r>
              <a:rPr lang="zh-CN" altLang="en-US"/>
              <a:t>解释</a:t>
            </a:r>
            <a:r>
              <a:rPr lang="en-US" altLang="zh-CN"/>
              <a:t>1,623</a:t>
            </a:r>
            <a:r>
              <a:rPr lang="zh-CN" altLang="en-US"/>
              <a:t>对与</a:t>
            </a:r>
            <a:r>
              <a:rPr lang="en-US" altLang="zh-CN"/>
              <a:t>1,781</a:t>
            </a:r>
            <a:r>
              <a:rPr lang="zh-CN" altLang="en-US"/>
              <a:t>对：一行是同场景的两个片段路径和一个相对</a:t>
            </a:r>
            <a:r>
              <a:rPr lang="en-US" altLang="zh-CN"/>
              <a:t>GT</a:t>
            </a:r>
            <a:r>
              <a:rPr lang="zh-CN" altLang="en-US"/>
              <a:t>，一个片段可反复配给多个其他片段。刚才</a:t>
            </a:r>
            <a:r>
              <a:rPr lang="en-US" altLang="zh-CN"/>
              <a:t>ref0</a:t>
            </a:r>
            <a:r>
              <a:rPr lang="zh-CN" altLang="en-US"/>
              <a:t>分别配</a:t>
            </a:r>
            <a:r>
              <a:rPr lang="en-US" altLang="zh-CN"/>
              <a:t>src12</a:t>
            </a:r>
            <a:r>
              <a:rPr lang="zh-CN" altLang="en-US"/>
              <a:t>和</a:t>
            </a:r>
            <a:r>
              <a:rPr lang="en-US" altLang="zh-CN"/>
              <a:t>src30</a:t>
            </a:r>
            <a:r>
              <a:rPr lang="zh-CN" altLang="en-US"/>
              <a:t>就是两个不同样本。两套测试都覆盖厨房、家庭、酒店、学习室和实验室这</a:t>
            </a:r>
            <a:r>
              <a:rPr lang="en-US" altLang="zh-CN"/>
              <a:t>8</a:t>
            </a:r>
            <a:r>
              <a:rPr lang="zh-CN" altLang="en-US"/>
              <a:t>个独立测试场景。它们是有重叠的静态室内片段对，不代表任意两张扫描，更不代表所有机器人场景的分布。</a:t>
            </a:r>
          </a:p>
          <a:p>
            <a:r>
              <a:rPr lang="zh-CN" altLang="en-US"/>
              <a:t>实测</a:t>
            </a:r>
            <a:r>
              <a:rPr lang="en-US" altLang="zh-CN"/>
              <a:t>8</a:t>
            </a:r>
            <a:r>
              <a:rPr lang="zh-CN" altLang="en-US"/>
              <a:t>测试场景中</a:t>
            </a:r>
            <a:r>
              <a:rPr lang="en-US" altLang="zh-CN"/>
              <a:t>Match1623</a:t>
            </a:r>
            <a:r>
              <a:rPr lang="zh-CN" altLang="en-US"/>
              <a:t>对、</a:t>
            </a:r>
            <a:r>
              <a:rPr lang="en-US" altLang="zh-CN"/>
              <a:t>LoMatch1781</a:t>
            </a:r>
            <a:r>
              <a:rPr lang="zh-CN" altLang="en-US"/>
              <a:t>对，两列表共享</a:t>
            </a:r>
            <a:r>
              <a:rPr lang="en-US" altLang="zh-CN"/>
              <a:t>100</a:t>
            </a:r>
            <a:r>
              <a:rPr lang="zh-CN" altLang="en-US"/>
              <a:t>对，并不互斥；类别为厨房、家庭、酒店、学习室和实验室，配对数明显不均衡，因此主指标按官方场景均值。标称重叠门槛分别</a:t>
            </a:r>
            <a:r>
              <a:rPr lang="en-US" altLang="zh-CN"/>
              <a:t>&gt;30%</a:t>
            </a:r>
            <a:r>
              <a:rPr lang="zh-CN" altLang="en-US"/>
              <a:t>和</a:t>
            </a:r>
            <a:r>
              <a:rPr lang="en-US" altLang="zh-CN"/>
              <a:t>10%–30%</a:t>
            </a:r>
            <a:r>
              <a:rPr lang="zh-CN" altLang="en-US"/>
              <a:t>，不是物理遮挡率；当前不同仓库</a:t>
            </a:r>
            <a:r>
              <a:rPr lang="en-US" altLang="zh-CN"/>
              <a:t>overlap</a:t>
            </a:r>
            <a:r>
              <a:rPr lang="zh-CN" altLang="en-US"/>
              <a:t>字段不同，不重新筛掉边界外</a:t>
            </a:r>
            <a:r>
              <a:rPr lang="en-US" altLang="zh-CN"/>
              <a:t>pair</a:t>
            </a:r>
            <a:r>
              <a:rPr lang="zh-CN" altLang="en-US"/>
              <a:t>。</a:t>
            </a:r>
          </a:p>
          <a:p>
            <a:r>
              <a:rPr lang="en-US" altLang="zh-CN"/>
              <a:t>overlap</a:t>
            </a:r>
            <a:r>
              <a:rPr lang="zh-CN" altLang="en-US"/>
              <a:t>要在正确对齐后才能定义：按给定采样与距离阈值，看一份点集有多少点在另一份点集中存在邻近表面。它一般不是图像交并比，也不保证两个方向比例相同。图上绿色是我们的</a:t>
            </a:r>
            <a:r>
              <a:rPr lang="en-US" altLang="zh-CN"/>
              <a:t>5cm</a:t>
            </a:r>
            <a:r>
              <a:rPr lang="zh-CN" altLang="en-US"/>
              <a:t>可视化辅助，与作者</a:t>
            </a:r>
            <a:r>
              <a:rPr lang="en-US" altLang="zh-CN"/>
              <a:t>metadata overlap</a:t>
            </a:r>
            <a:r>
              <a:rPr lang="zh-CN" altLang="en-US"/>
              <a:t>并非同一计算口径。实际错误匹配率还取决于模型和采样。</a:t>
            </a:r>
          </a:p>
          <a:p>
            <a:r>
              <a:rPr lang="zh-CN" altLang="en-US"/>
              <a:t>原始文献</a:t>
            </a:r>
            <a:r>
              <a:rPr lang="en-US" altLang="zh-CN"/>
              <a:t>54</a:t>
            </a:r>
            <a:r>
              <a:rPr lang="zh-CN" altLang="en-US"/>
              <a:t>训练</a:t>
            </a:r>
            <a:r>
              <a:rPr lang="en-US" altLang="zh-CN"/>
              <a:t>/8</a:t>
            </a:r>
            <a:r>
              <a:rPr lang="zh-CN" altLang="en-US"/>
              <a:t>测试；后续论文</a:t>
            </a:r>
            <a:r>
              <a:rPr lang="en-US" altLang="zh-CN"/>
              <a:t>46/8/8</a:t>
            </a:r>
            <a:r>
              <a:rPr lang="zh-CN" altLang="en-US"/>
              <a:t>。当前</a:t>
            </a:r>
            <a:r>
              <a:rPr lang="en-US" altLang="zh-CN"/>
              <a:t>GeoTransformer</a:t>
            </a:r>
            <a:r>
              <a:rPr lang="zh-CN" altLang="en-US"/>
              <a:t>元数据</a:t>
            </a:r>
            <a:r>
              <a:rPr lang="en-US" altLang="zh-CN"/>
              <a:t>train20642</a:t>
            </a:r>
            <a:r>
              <a:rPr lang="zh-CN" altLang="en-US"/>
              <a:t>对、</a:t>
            </a:r>
            <a:r>
              <a:rPr lang="en-US" altLang="zh-CN"/>
              <a:t>75</a:t>
            </a:r>
            <a:r>
              <a:rPr lang="zh-CN" altLang="en-US"/>
              <a:t>序列名，</a:t>
            </a:r>
            <a:r>
              <a:rPr lang="en-US" altLang="zh-CN"/>
              <a:t>val1331</a:t>
            </a:r>
            <a:r>
              <a:rPr lang="zh-CN" altLang="en-US"/>
              <a:t>对、</a:t>
            </a:r>
            <a:r>
              <a:rPr lang="en-US" altLang="zh-CN"/>
              <a:t>8</a:t>
            </a:r>
            <a:r>
              <a:rPr lang="zh-CN" altLang="en-US"/>
              <a:t>序列名，按原场景档案名称映射为</a:t>
            </a:r>
            <a:r>
              <a:rPr lang="en-US" altLang="zh-CN"/>
              <a:t>48</a:t>
            </a:r>
            <a:r>
              <a:rPr lang="zh-CN" altLang="en-US"/>
              <a:t>和</a:t>
            </a:r>
            <a:r>
              <a:rPr lang="en-US" altLang="zh-CN"/>
              <a:t>6</a:t>
            </a:r>
            <a:r>
              <a:rPr lang="zh-CN" altLang="en-US"/>
              <a:t>。</a:t>
            </a:r>
            <a:r>
              <a:rPr lang="en-US" altLang="zh-CN"/>
              <a:t>train/val</a:t>
            </a:r>
            <a:r>
              <a:rPr lang="zh-CN" altLang="en-US"/>
              <a:t>共享</a:t>
            </a:r>
            <a:r>
              <a:rPr lang="en-US" altLang="zh-CN"/>
              <a:t>apt2-kitchen</a:t>
            </a:r>
            <a:r>
              <a:rPr lang="zh-CN" altLang="en-US"/>
              <a:t>的</a:t>
            </a:r>
            <a:r>
              <a:rPr lang="en-US" altLang="zh-CN"/>
              <a:t>75</a:t>
            </a:r>
            <a:r>
              <a:rPr lang="zh-CN" altLang="en-US"/>
              <a:t>对和</a:t>
            </a:r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fragment</a:t>
            </a:r>
            <a:r>
              <a:rPr lang="zh-CN" altLang="en-US"/>
              <a:t>，</a:t>
            </a:r>
            <a:r>
              <a:rPr lang="en-US" altLang="zh-CN"/>
              <a:t>test</a:t>
            </a:r>
            <a:r>
              <a:rPr lang="zh-CN" altLang="en-US"/>
              <a:t>与二者无路径交叉。本项目先冻结特征，若训练新模块需从</a:t>
            </a:r>
            <a:r>
              <a:rPr lang="en-US" altLang="zh-CN"/>
              <a:t>train</a:t>
            </a:r>
            <a:r>
              <a:rPr lang="zh-CN" altLang="en-US"/>
              <a:t>剔除共享场景；已有权重的历史不能由删除</a:t>
            </a:r>
            <a:r>
              <a:rPr lang="en-US" altLang="zh-CN"/>
              <a:t>manifest</a:t>
            </a:r>
            <a:r>
              <a:rPr lang="zh-CN" altLang="en-US"/>
              <a:t>改变。详见上一版</a:t>
            </a:r>
            <a:r>
              <a:rPr lang="en-US" altLang="zh-CN"/>
              <a:t>dataset_audit_zh.txt</a:t>
            </a:r>
            <a:r>
              <a:rPr lang="zh-CN" altLang="en-US"/>
              <a:t>和</a:t>
            </a:r>
            <a:r>
              <a:rPr lang="en-US" altLang="zh-CN"/>
              <a:t>research/registration_audit.json</a:t>
            </a:r>
            <a:r>
              <a:rPr lang="zh-CN" altLang="en-US"/>
              <a:t>。</a:t>
            </a:r>
          </a:p>
          <a:p>
            <a:r>
              <a:rPr lang="zh-CN" altLang="en-US"/>
              <a:t>不要把</a:t>
            </a:r>
            <a:r>
              <a:rPr lang="en-US" altLang="zh-CN"/>
              <a:t>pair</a:t>
            </a:r>
            <a:r>
              <a:rPr lang="zh-CN" altLang="en-US"/>
              <a:t>随机打散就宣称训练测试独立，因为同一片段甚至完全相同配对可能进入两边。场景不均衡也意味着全体</a:t>
            </a:r>
            <a:r>
              <a:rPr lang="en-US" altLang="zh-CN"/>
              <a:t>pair</a:t>
            </a:r>
            <a:r>
              <a:rPr lang="zh-CN" altLang="en-US"/>
              <a:t>直接平均会更偏向</a:t>
            </a:r>
            <a:r>
              <a:rPr lang="en-US" altLang="zh-CN"/>
              <a:t>RedKitchen</a:t>
            </a:r>
            <a:r>
              <a:rPr lang="zh-CN" altLang="en-US"/>
              <a:t>，官方</a:t>
            </a:r>
            <a:r>
              <a:rPr lang="en-US" altLang="zh-CN"/>
              <a:t>RR</a:t>
            </a:r>
            <a:r>
              <a:rPr lang="zh-CN" altLang="en-US"/>
              <a:t>采用场景等权。</a:t>
            </a:r>
          </a:p>
          <a:p>
            <a:r>
              <a:rPr lang="en-US" altLang="zh-CN"/>
              <a:t>PREDATOR</a:t>
            </a:r>
            <a:r>
              <a:rPr lang="zh-CN" altLang="en-US"/>
              <a:t>预处理压缩包经</a:t>
            </a:r>
            <a:r>
              <a:rPr lang="en-US" altLang="zh-CN"/>
              <a:t>HEAD</a:t>
            </a:r>
            <a:r>
              <a:rPr lang="zh-CN" altLang="en-US"/>
              <a:t>约</a:t>
            </a:r>
            <a:r>
              <a:rPr lang="en-US" altLang="zh-CN"/>
              <a:t>936MB</a:t>
            </a:r>
            <a:r>
              <a:rPr lang="zh-CN" altLang="en-US"/>
              <a:t>；解压大小未测。本次两组教学样例仅按</a:t>
            </a:r>
            <a:r>
              <a:rPr lang="en-US" altLang="zh-CN"/>
              <a:t>HTTP Range</a:t>
            </a:r>
            <a:r>
              <a:rPr lang="zh-CN" altLang="en-US"/>
              <a:t>获取</a:t>
            </a:r>
            <a:r>
              <a:rPr lang="en-US" altLang="zh-CN"/>
              <a:t>ZIP</a:t>
            </a:r>
            <a:r>
              <a:rPr lang="zh-CN" altLang="en-US"/>
              <a:t>目录与</a:t>
            </a:r>
            <a:r>
              <a:rPr lang="en-US" altLang="zh-CN"/>
              <a:t>3</a:t>
            </a:r>
            <a:r>
              <a:rPr lang="zh-CN" altLang="en-US"/>
              <a:t>个片段，共</a:t>
            </a:r>
            <a:r>
              <a:rPr lang="en-US" altLang="zh-CN"/>
              <a:t>1370160</a:t>
            </a:r>
            <a:r>
              <a:rPr lang="zh-CN" altLang="en-US"/>
              <a:t>字节，没有下载完整数据包。</a:t>
            </a:r>
          </a:p>
          <a:p>
            <a:r>
              <a:rPr lang="en-US" altLang="zh-CN"/>
              <a:t>https://github.com/prs-eth/OverlapPredator</a:t>
            </a:r>
          </a:p>
          <a:p>
            <a:r>
              <a:rPr lang="en-US" altLang="zh-CN"/>
              <a:t>https://github.com/qinzheng93/GeoTransformer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3AF69-189D-4F4A-915E-82AB2F08FD7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52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约</a:t>
            </a:r>
            <a:r>
              <a:rPr lang="en-US" altLang="zh-CN"/>
              <a:t>60</a:t>
            </a:r>
            <a:r>
              <a:rPr lang="zh-CN" altLang="en-US"/>
              <a:t>秒。先讲数据集构建者和被评测算法拥有不同信息：构建者可用完整</a:t>
            </a:r>
            <a:r>
              <a:rPr lang="en-US" altLang="zh-CN"/>
              <a:t>RGB-D</a:t>
            </a:r>
            <a:r>
              <a:rPr lang="zh-CN" altLang="en-US"/>
              <a:t>序列、已有参考轨迹和离线重建，算法仅得到两个</a:t>
            </a:r>
            <a:r>
              <a:rPr lang="en-US" altLang="zh-CN"/>
              <a:t>fragment</a:t>
            </a:r>
            <a:r>
              <a:rPr lang="zh-CN" altLang="en-US"/>
              <a:t>的</a:t>
            </a:r>
            <a:r>
              <a:rPr lang="en-US" altLang="zh-CN"/>
              <a:t>XYZ</a:t>
            </a:r>
            <a:r>
              <a:rPr lang="zh-CN" altLang="en-US"/>
              <a:t>。</a:t>
            </a:r>
            <a:r>
              <a:rPr lang="en-US" altLang="zh-CN"/>
              <a:t>GT</a:t>
            </a:r>
            <a:r>
              <a:rPr lang="zh-CN" altLang="en-US"/>
              <a:t>不是模型泄露出来的答案，而是单独保存的评价标签。</a:t>
            </a:r>
          </a:p>
          <a:p>
            <a:r>
              <a:rPr lang="zh-CN" altLang="en-US"/>
              <a:t>顺着三个坐标框讲：</a:t>
            </a:r>
            <a:r>
              <a:rPr lang="en-US" altLang="zh-CN"/>
              <a:t>T_WP</a:t>
            </a:r>
            <a:r>
              <a:rPr lang="zh-CN" altLang="en-US"/>
              <a:t>把源片段的局部坐标送到世界；</a:t>
            </a:r>
            <a:r>
              <a:rPr lang="en-US" altLang="zh-CN"/>
              <a:t>inv(T_WQ)</a:t>
            </a:r>
            <a:r>
              <a:rPr lang="zh-CN" altLang="en-US"/>
              <a:t>再把世界坐标送回目标片段的坐标。因此</a:t>
            </a:r>
            <a:r>
              <a:rPr lang="en-US" altLang="zh-CN"/>
              <a:t>T*=inv(T_WQ)T_WP</a:t>
            </a:r>
            <a:r>
              <a:rPr lang="zh-CN" altLang="en-US"/>
              <a:t>。所有</a:t>
            </a:r>
            <a:r>
              <a:rPr lang="en-US" altLang="zh-CN"/>
              <a:t>T</a:t>
            </a:r>
            <a:r>
              <a:rPr lang="zh-CN" altLang="en-US"/>
              <a:t>都是</a:t>
            </a:r>
            <a:r>
              <a:rPr lang="en-US" altLang="zh-CN"/>
              <a:t>4×4</a:t>
            </a:r>
            <a:r>
              <a:rPr lang="zh-CN" altLang="en-US"/>
              <a:t>齐次矩阵，上左</a:t>
            </a:r>
            <a:r>
              <a:rPr lang="en-US" altLang="zh-CN"/>
              <a:t>3×3</a:t>
            </a:r>
            <a:r>
              <a:rPr lang="zh-CN" altLang="en-US"/>
              <a:t>为</a:t>
            </a:r>
            <a:r>
              <a:rPr lang="en-US" altLang="zh-CN"/>
              <a:t>R</a:t>
            </a:r>
            <a:r>
              <a:rPr lang="zh-CN" altLang="en-US"/>
              <a:t>，右上</a:t>
            </a:r>
            <a:r>
              <a:rPr lang="en-US" altLang="zh-CN"/>
              <a:t>3×1</a:t>
            </a:r>
            <a:r>
              <a:rPr lang="zh-CN" altLang="en-US"/>
              <a:t>为</a:t>
            </a:r>
            <a:r>
              <a:rPr lang="en-US" altLang="zh-CN"/>
              <a:t>t</a:t>
            </a:r>
            <a:r>
              <a:rPr lang="zh-CN" altLang="en-US"/>
              <a:t>，最后一行为</a:t>
            </a:r>
            <a:r>
              <a:rPr lang="en-US" altLang="zh-CN"/>
              <a:t>0,0,0,1</a:t>
            </a:r>
            <a:r>
              <a:rPr lang="zh-CN" altLang="en-US"/>
              <a:t>。官方</a:t>
            </a:r>
            <a:r>
              <a:rPr lang="en-US" altLang="zh-CN"/>
              <a:t>GT</a:t>
            </a:r>
            <a:r>
              <a:rPr lang="zh-CN" altLang="en-US"/>
              <a:t>代码读取各片段首帧已有位姿，保存</a:t>
            </a:r>
            <a:r>
              <a:rPr lang="en-US" altLang="zh-CN"/>
              <a:t>fragment2→fragment1</a:t>
            </a:r>
            <a:r>
              <a:rPr lang="zh-CN" altLang="en-US"/>
              <a:t>的变换，与本项目</a:t>
            </a:r>
            <a:r>
              <a:rPr lang="en-US" altLang="zh-CN"/>
              <a:t>src→ref</a:t>
            </a:r>
            <a:r>
              <a:rPr lang="zh-CN" altLang="en-US"/>
              <a:t>相同。该参考来自重建，并非绝对无噪声的动捕测量。</a:t>
            </a:r>
          </a:p>
          <a:p>
            <a:r>
              <a:rPr lang="zh-CN" altLang="en-US"/>
              <a:t>模型输出一个预测</a:t>
            </a:r>
            <a:r>
              <a:rPr lang="en-US" altLang="zh-CN"/>
              <a:t>T</a:t>
            </a:r>
            <a:r>
              <a:rPr lang="zh-CN" altLang="en-US"/>
              <a:t>，评价端拿</a:t>
            </a:r>
            <a:r>
              <a:rPr lang="en-US" altLang="zh-CN"/>
              <a:t>GT</a:t>
            </a:r>
            <a:r>
              <a:rPr lang="zh-CN" altLang="en-US"/>
              <a:t>比较。官方标准</a:t>
            </a:r>
            <a:r>
              <a:rPr lang="en-US" altLang="zh-CN"/>
              <a:t>RR</a:t>
            </a:r>
            <a:r>
              <a:rPr lang="zh-CN" altLang="en-US"/>
              <a:t>使用</a:t>
            </a:r>
            <a:r>
              <a:rPr lang="en-US" altLang="zh-CN"/>
              <a:t>gt.info</a:t>
            </a:r>
            <a:r>
              <a:rPr lang="zh-CN" altLang="en-US"/>
              <a:t>里由参考对应几何计算的信息矩阵，对位姿误差做归一化二次型，以其平方根（重对齐</a:t>
            </a:r>
            <a:r>
              <a:rPr lang="en-US" altLang="zh-CN"/>
              <a:t>RMSE</a:t>
            </a:r>
            <a:r>
              <a:rPr lang="zh-CN" altLang="en-US"/>
              <a:t>的近似）</a:t>
            </a:r>
            <a:r>
              <a:rPr lang="en-US" altLang="zh-CN"/>
              <a:t>&lt;0.2m</a:t>
            </a:r>
            <a:r>
              <a:rPr lang="zh-CN" altLang="en-US"/>
              <a:t>判成功。实现代码比较平方误差</a:t>
            </a:r>
            <a:r>
              <a:rPr lang="en-US" altLang="zh-CN"/>
              <a:t>&lt;0.2²</a:t>
            </a:r>
            <a:r>
              <a:rPr lang="zh-CN" altLang="en-US"/>
              <a:t>。这不是</a:t>
            </a:r>
            <a:r>
              <a:rPr lang="en-US" altLang="zh-CN"/>
              <a:t>t</a:t>
            </a:r>
            <a:r>
              <a:rPr lang="zh-CN" altLang="en-US"/>
              <a:t>的范数、</a:t>
            </a:r>
            <a:r>
              <a:rPr lang="en-US" altLang="zh-CN"/>
              <a:t>R/t</a:t>
            </a:r>
            <a:r>
              <a:rPr lang="zh-CN" altLang="en-US"/>
              <a:t>元素</a:t>
            </a:r>
            <a:r>
              <a:rPr lang="en-US" altLang="zh-CN"/>
              <a:t>RMSE</a:t>
            </a:r>
            <a:r>
              <a:rPr lang="zh-CN" altLang="en-US"/>
              <a:t>或普通最近邻</a:t>
            </a:r>
            <a:r>
              <a:rPr lang="en-US" altLang="zh-CN"/>
              <a:t>Chamfer</a:t>
            </a:r>
            <a:r>
              <a:rPr lang="zh-CN" altLang="en-US"/>
              <a:t>，也不是所有点要在</a:t>
            </a:r>
            <a:r>
              <a:rPr lang="en-US" altLang="zh-CN"/>
              <a:t>20cm</a:t>
            </a:r>
            <a:r>
              <a:rPr lang="zh-CN" altLang="en-US"/>
              <a:t>内逐个重合。</a:t>
            </a:r>
          </a:p>
          <a:p>
            <a:r>
              <a:rPr lang="zh-CN" altLang="en-US"/>
              <a:t>关键计数：作者</a:t>
            </a:r>
            <a:r>
              <a:rPr lang="en-US" altLang="zh-CN"/>
              <a:t>RR</a:t>
            </a:r>
            <a:r>
              <a:rPr lang="zh-CN" altLang="en-US"/>
              <a:t>协议排除直接相邻的</a:t>
            </a:r>
            <a:r>
              <a:rPr lang="en-US" altLang="zh-CN"/>
              <a:t>fragment</a:t>
            </a:r>
            <a:r>
              <a:rPr lang="zh-CN" altLang="en-US"/>
              <a:t>（</a:t>
            </a:r>
            <a:r>
              <a:rPr lang="en-US" altLang="zh-CN"/>
              <a:t>frag_id1&gt;frag_id0+1</a:t>
            </a:r>
            <a:r>
              <a:rPr lang="zh-CN" altLang="en-US"/>
              <a:t>），然后在每个场景内求成功比例，再把</a:t>
            </a:r>
            <a:r>
              <a:rPr lang="en-US" altLang="zh-CN"/>
              <a:t>8</a:t>
            </a:r>
            <a:r>
              <a:rPr lang="zh-CN" altLang="en-US"/>
              <a:t>个场景等权平均。第</a:t>
            </a:r>
            <a:r>
              <a:rPr lang="en-US" altLang="zh-CN"/>
              <a:t>4</a:t>
            </a:r>
            <a:r>
              <a:rPr lang="zh-CN" altLang="en-US"/>
              <a:t>页</a:t>
            </a:r>
            <a:r>
              <a:rPr lang="en-US" altLang="zh-CN"/>
              <a:t>1623/1781</a:t>
            </a:r>
            <a:r>
              <a:rPr lang="zh-CN" altLang="en-US"/>
              <a:t>是加载配对列表的规模，不可直接用它们做全局</a:t>
            </a:r>
            <a:r>
              <a:rPr lang="en-US" altLang="zh-CN"/>
              <a:t>RR</a:t>
            </a:r>
            <a:r>
              <a:rPr lang="zh-CN" altLang="en-US"/>
              <a:t>分母。固定</a:t>
            </a:r>
            <a:r>
              <a:rPr lang="en-US" altLang="zh-CN"/>
              <a:t>metadata</a:t>
            </a:r>
            <a:r>
              <a:rPr lang="zh-CN" altLang="en-US"/>
              <a:t>实测有效对为</a:t>
            </a:r>
            <a:r>
              <a:rPr lang="en-US" altLang="zh-CN"/>
              <a:t>Match1279</a:t>
            </a:r>
            <a:r>
              <a:rPr lang="zh-CN" altLang="en-US"/>
              <a:t>、</a:t>
            </a:r>
            <a:r>
              <a:rPr lang="en-US" altLang="zh-CN"/>
              <a:t>LoMatch1726</a:t>
            </a:r>
            <a:r>
              <a:rPr lang="zh-CN" altLang="en-US"/>
              <a:t>。两教学样本</a:t>
            </a:r>
            <a:r>
              <a:rPr lang="en-US" altLang="zh-CN"/>
              <a:t>12→0</a:t>
            </a:r>
            <a:r>
              <a:rPr lang="zh-CN" altLang="en-US"/>
              <a:t>和</a:t>
            </a:r>
            <a:r>
              <a:rPr lang="en-US" altLang="zh-CN"/>
              <a:t>30→0</a:t>
            </a:r>
            <a:r>
              <a:rPr lang="zh-CN" altLang="en-US"/>
              <a:t>均为非相邻片段，均在有效列表中。各场景计数与证据见</a:t>
            </a:r>
            <a:r>
              <a:rPr lang="en-US" altLang="zh-CN"/>
              <a:t>research/rr_protocol_audit.json</a:t>
            </a:r>
            <a:r>
              <a:rPr lang="zh-CN" altLang="en-US"/>
              <a:t>。</a:t>
            </a:r>
          </a:p>
          <a:p>
            <a:r>
              <a:rPr lang="zh-CN" altLang="en-US"/>
              <a:t>不变的是评价目标：</a:t>
            </a:r>
            <a:r>
              <a:rPr lang="en-US" altLang="zh-CN"/>
              <a:t>Match</a:t>
            </a:r>
            <a:r>
              <a:rPr lang="zh-CN" altLang="en-US"/>
              <a:t>与</a:t>
            </a:r>
            <a:r>
              <a:rPr lang="en-US" altLang="zh-CN"/>
              <a:t>LoMatch</a:t>
            </a:r>
            <a:r>
              <a:rPr lang="zh-CN" altLang="en-US"/>
              <a:t>分别报告官方</a:t>
            </a:r>
            <a:r>
              <a:rPr lang="en-US" altLang="zh-CN"/>
              <a:t>RR</a:t>
            </a:r>
            <a:r>
              <a:rPr lang="zh-CN" altLang="en-US"/>
              <a:t>和耗时。如果另报</a:t>
            </a:r>
            <a:r>
              <a:rPr lang="en-US" altLang="zh-CN"/>
              <a:t>RRE/RTE</a:t>
            </a:r>
            <a:r>
              <a:rPr lang="zh-CN" altLang="en-US"/>
              <a:t>，需注明作者实现仅对成功配准样本统计这些量。</a:t>
            </a:r>
            <a:r>
              <a:rPr lang="en-US" altLang="zh-CN"/>
              <a:t>GT</a:t>
            </a:r>
            <a:r>
              <a:rPr lang="zh-CN" altLang="en-US"/>
              <a:t>、参考对应和</a:t>
            </a:r>
            <a:r>
              <a:rPr lang="en-US" altLang="zh-CN"/>
              <a:t>overlap</a:t>
            </a:r>
            <a:r>
              <a:rPr lang="zh-CN" altLang="en-US"/>
              <a:t>标记都不用于测试时筛选。</a:t>
            </a:r>
          </a:p>
          <a:p>
            <a:r>
              <a:rPr lang="en-US" altLang="zh-CN"/>
              <a:t>https://github.com/andyzeng/3dmatch-toolbox/blob/master/evaluation/geometric-registration/getGtInfoLog.m</a:t>
            </a:r>
          </a:p>
          <a:p>
            <a:r>
              <a:rPr lang="en-US" altLang="zh-CN"/>
              <a:t>https://github.com/qinzheng93/GeoTransformer/blob/e7a135af4c318ff3b8d7f6c963df094d7e4ea540/experiments/geotransformer.3dmatch.stage4.gse.k3.max.oacl.stage2.sinkhorn/eval.py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3AF69-189D-4F4A-915E-82AB2F08FD7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03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收束约</a:t>
            </a:r>
            <a:r>
              <a:rPr lang="en-US" altLang="zh-CN"/>
              <a:t>40</a:t>
            </a:r>
            <a:r>
              <a:rPr lang="zh-CN" altLang="en-US"/>
              <a:t>秒。前五页已把输入、输出、困难、数据和目标闭合；现在只提出可验证的课程实验，不承诺一个尚未实现的新方法。先复现</a:t>
            </a:r>
            <a:r>
              <a:rPr lang="en-US" altLang="zh-CN"/>
              <a:t>PREDATOR</a:t>
            </a:r>
            <a:r>
              <a:rPr lang="zh-CN" altLang="en-US"/>
              <a:t>特征与</a:t>
            </a:r>
            <a:r>
              <a:rPr lang="en-US" altLang="zh-CN"/>
              <a:t>RANSAC</a:t>
            </a:r>
            <a:r>
              <a:rPr lang="zh-CN" altLang="en-US"/>
              <a:t>，然后缓存固定的候选对应池。在受控对照里，原匹配评分与几何一致性评分各自排序后取</a:t>
            </a:r>
            <a:r>
              <a:rPr lang="en-US" altLang="zh-CN"/>
              <a:t>Top-K</a:t>
            </a:r>
            <a:r>
              <a:rPr lang="zh-CN" altLang="en-US"/>
              <a:t>进入同一个</a:t>
            </a:r>
            <a:r>
              <a:rPr lang="en-US" altLang="zh-CN"/>
              <a:t>RANSAC</a:t>
            </a:r>
            <a:r>
              <a:rPr lang="zh-CN" altLang="en-US"/>
              <a:t>；</a:t>
            </a:r>
            <a:r>
              <a:rPr lang="en-US" altLang="zh-CN"/>
              <a:t>K</a:t>
            </a:r>
            <a:r>
              <a:rPr lang="zh-CN" altLang="en-US"/>
              <a:t>在开发集预先固定。池不足</a:t>
            </a:r>
            <a:r>
              <a:rPr lang="en-US" altLang="zh-CN"/>
              <a:t>K</a:t>
            </a:r>
            <a:r>
              <a:rPr lang="zh-CN" altLang="en-US"/>
              <a:t>时双方统一取</a:t>
            </a:r>
            <a:r>
              <a:rPr lang="en-US" altLang="zh-CN"/>
              <a:t>min(K,</a:t>
            </a:r>
            <a:r>
              <a:rPr lang="zh-CN" altLang="en-US"/>
              <a:t>池大小</a:t>
            </a:r>
            <a:r>
              <a:rPr lang="en-US" altLang="zh-CN"/>
              <a:t>)</a:t>
            </a:r>
            <a:r>
              <a:rPr lang="zh-CN" altLang="en-US"/>
              <a:t>，不重复补点。避免用硬阈值剔除导致两边对应预算不同。论文原始评测另行复现，不把我们这个受控选择协议冒称论文默认设置。规则和阈值在开发集选，测试只评价。</a:t>
            </a:r>
          </a:p>
          <a:p>
            <a:r>
              <a:rPr lang="zh-CN" altLang="en-US"/>
              <a:t>点间距离在刚体变换下保持不变，允许用多个对应共同支持一个几何解释。但重复结构也可能错误地保持局部距离，所以成功与否需实验。</a:t>
            </a:r>
            <a:r>
              <a:rPr lang="en-US" altLang="zh-CN"/>
              <a:t>GeoTransformer</a:t>
            </a:r>
            <a:r>
              <a:rPr lang="zh-CN" altLang="en-US"/>
              <a:t>等已利用几何关系，不能把加入几何一致性笼统当作原创贡献。课程贡献可以是可复现的受控比较与失败分析，明确什么时候有用、什么时候无用。</a:t>
            </a:r>
          </a:p>
          <a:p>
            <a:r>
              <a:rPr lang="en-US" altLang="zh-CN"/>
              <a:t>https://github.com/prs-eth/OverlapPredator</a:t>
            </a:r>
          </a:p>
          <a:p>
            <a:r>
              <a:rPr lang="zh-CN" altLang="en-US"/>
              <a:t>课程联系：</a:t>
            </a:r>
            <a:r>
              <a:rPr lang="en-US" altLang="zh-CN"/>
              <a:t>Lecture2 R/t</a:t>
            </a:r>
            <a:r>
              <a:rPr lang="zh-CN" altLang="en-US"/>
              <a:t>，</a:t>
            </a:r>
            <a:r>
              <a:rPr lang="en-US" altLang="zh-CN"/>
              <a:t>Lecture3</a:t>
            </a:r>
            <a:r>
              <a:rPr lang="zh-CN" altLang="en-US"/>
              <a:t>匹配与一致性验证，</a:t>
            </a:r>
            <a:r>
              <a:rPr lang="en-US" altLang="zh-CN"/>
              <a:t>Lecture4–5</a:t>
            </a:r>
            <a:r>
              <a:rPr lang="zh-CN" altLang="en-US"/>
              <a:t>局部点云特征。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3AF69-189D-4F4A-915E-82AB2F08FD7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18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2E5BC-876A-E1AA-63D4-ED188C5D4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1F7A36-FAAC-0CBD-A1B4-F2839266D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DC64A9-1167-FF2D-1E0A-9A12C5E9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71B82-E336-BD8B-92D3-4B464B2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ABEFC-20E5-B3C4-4D82-731C9DDE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82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24F01-3F0F-C9DF-1CCE-4ADA3019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575218-F7E4-3C92-6B23-250E66E80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747C1E-0588-523C-5F78-F43F5A6A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066B8-378D-77F6-0155-5A736DD7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6F9B7-2FD1-75C1-0F72-D44D146C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03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EEC05-7143-CDB0-530B-30CD32C91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DC3AD-1BE4-EA3C-3467-51EED4F7E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2CF15-9719-24E4-6937-69ED2673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53BD40-8F5A-B1C7-2377-2E027888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677CFF-5602-6D18-FD0A-77FDB1A9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51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6B99F-8B82-32C7-0504-D98B7797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9C1364-4EDF-1C93-A1DA-03AF227C9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9955E9-EB1A-3007-C86C-B23D7E11E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2D564F-0838-ED8A-3505-BF35B80C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0934E8-139B-A851-557F-1A7CB109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F9A869-205D-71DA-4CE0-2AF15D20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31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89B9F-5E97-3569-CFF3-C218E1C1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2EB24F-9A1C-54E1-D586-E4F59EE87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36F3B-7E3E-77D1-D438-216E833A4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031633-E28A-1213-B9C8-BC6091143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C55A2D-8255-F6EE-323A-BF9F387EA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E8D341-043E-29AE-236D-793195F1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BCF08D-56C7-CAC4-4D3A-588214E2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A32B65-43EA-0FB4-A69B-9C816C46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18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F3A67-426B-6CAB-71EB-ABDCF745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0D66AF-6D67-0E64-F8F4-E278B2D2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3449AA-F322-CEE6-70E8-A2309A4D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F80D2E-B4BD-F70E-14B0-1D2BC501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042D39-9F4F-064E-5A35-84117399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0E4946-DDC1-3D8B-A9C9-2913BBCA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39969B-D59D-5A31-3858-0CE17E46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7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1E11D-2EFA-80B2-A188-D93BC3FF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36965-A852-372A-EA20-862493219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CE86AE-F8B6-2B02-CA02-260784CBC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C7873D-FE0C-9CB2-242D-67510F71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B70D3-C736-5526-2841-C368A814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6384C-0E4F-3FEF-40F1-02AB67B8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70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EE702-4B09-036A-73B4-285B2F22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E2013B-3A8E-416B-D94F-7504A5FE134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80956-57D2-0D5C-D127-F0F62FA9A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159B36-437C-8E08-A083-97A5F0C9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EAE3E9-87D9-0FA5-8F36-C07CA0B8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D1CA11-ED26-48EA-0D8A-3EAC41D4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97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ECF45-6F94-AD99-CB81-61095DD6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E08F4B-D439-1AE0-B60E-DB22FE80D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8D176-A58B-4F1C-2982-BF498FD8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E2C98-EC63-2001-C571-03913AF3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7EB3FC-2033-6F25-87D6-232D1A62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86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A82F67-C4CE-2E93-ACBF-BABBD6868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856703-1CC3-754E-5A1E-180317E7B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28BA7-A3E1-6C29-E379-77A80CE8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A1827-A350-74D2-05A5-D530C75D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171B8-A3E9-5920-7C78-28E2E6A7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50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010AE4-B662-37FD-82A5-5DADDC1A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50D86A-FDDC-1B32-D35B-AB4FCE9DF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DA65F-05D1-FCE9-80FB-3C33ECFAB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D2F0-1229-427F-8DED-D4160314B5F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B7145-9A71-2525-72FF-5BF845366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9C91C-BF6B-734D-B75F-DBE41AD62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77ECE-D770-4FDA-A17E-E75B8EA12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4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qinzheng93/GeoTransformer#3dmatch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yzeng/3dmatch-toolbox/tree/master/depth-fus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qinzheng93/GeoTransformer#3dmatch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s-eth/OverlapPredato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inzheng93/GeoTransformer/blob/e7a135af4c318ff3b8d7f6c963df094d7e4ea540/geotransformer/datasets/registration/threedmatch/utils.p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s-eth/OverlapPredato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5A7706-7875-5A98-38D8-DF3296E981B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84C347-6CAF-24DF-4F7D-510D0D119114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/  MOTIVATION · EXAMPLE 1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997033-5EAF-3126-E061-156E25C666FC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DBDCCF-BD00-B629-01DB-28714A3426D7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机器人换一个视角，地图就需要重新对齐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1950DA-B1A1-DAB3-D542-B9BBE58E5E1F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样例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：同一厨房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3DMatch ·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≈ 61%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（共同表面较多）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7D5CF7-B6DA-E55E-4816-7C5CAAA52F2C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26F02A-7BA2-60A2-345A-1BBC6FE243BA}"/>
              </a:ext>
            </a:extLst>
          </p:cNvPr>
          <p:cNvSpPr txBox="1"/>
          <p:nvPr/>
        </p:nvSpPr>
        <p:spPr>
          <a:xfrm>
            <a:off x="5080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输入：源点云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1ECB13-C8AA-C91C-F3BF-9AE917ED9C33}"/>
              </a:ext>
            </a:extLst>
          </p:cNvPr>
          <p:cNvSpPr txBox="1"/>
          <p:nvPr/>
        </p:nvSpPr>
        <p:spPr>
          <a:xfrm>
            <a:off x="43815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输入：目标点云 </a:t>
            </a:r>
            <a:r>
              <a:rPr lang="en-US" altLang="zh-CN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0E5629-67D6-6A1C-4722-69DABE65DFBD}"/>
              </a:ext>
            </a:extLst>
          </p:cNvPr>
          <p:cNvSpPr txBox="1"/>
          <p:nvPr/>
        </p:nvSpPr>
        <p:spPr>
          <a:xfrm>
            <a:off x="8255000" y="2171699"/>
            <a:ext cx="342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对齐：</a:t>
            </a:r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Q</a:t>
            </a:r>
            <a:endParaRPr lang="zh-CN" altLang="en-US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808D81-F9A4-59A3-9A3D-DEB9B9AEEC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556719"/>
            <a:ext cx="3619500" cy="25319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74A89ED-BE72-2C90-5A3E-BBDB4601256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2556719"/>
            <a:ext cx="3619500" cy="25319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31153C7-2996-71F9-94F0-93AE0E2D1F6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556719"/>
            <a:ext cx="3619500" cy="253196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280663B-87D7-6670-CD0C-6CC0B7C118B0}"/>
              </a:ext>
            </a:extLst>
          </p:cNvPr>
          <p:cNvSpPr txBox="1"/>
          <p:nvPr/>
        </p:nvSpPr>
        <p:spPr>
          <a:xfrm>
            <a:off x="3975100" y="3568699"/>
            <a:ext cx="355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lang="zh-CN" altLang="en-US" sz="23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D6A127E-1BAE-5F0A-E296-36C6D5603AD7}"/>
              </a:ext>
            </a:extLst>
          </p:cNvPr>
          <p:cNvCxnSpPr/>
          <p:nvPr/>
        </p:nvCxnSpPr>
        <p:spPr>
          <a:xfrm>
            <a:off x="7874000" y="3759200"/>
            <a:ext cx="2921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6A75921-6BD1-3E35-BB6B-1EC229757392}"/>
              </a:ext>
            </a:extLst>
          </p:cNvPr>
          <p:cNvSpPr txBox="1"/>
          <p:nvPr/>
        </p:nvSpPr>
        <p:spPr>
          <a:xfrm>
            <a:off x="508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· 16,341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本地坐标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48D9E0-188D-3789-4EEE-36FD4B1C7FC4}"/>
              </a:ext>
            </a:extLst>
          </p:cNvPr>
          <p:cNvSpPr txBox="1"/>
          <p:nvPr/>
        </p:nvSpPr>
        <p:spPr>
          <a:xfrm>
            <a:off x="43815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· 18,977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参考坐标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29E014-59EB-84F0-8A17-54849983DC0A}"/>
              </a:ext>
            </a:extLst>
          </p:cNvPr>
          <p:cNvSpPr txBox="1"/>
          <p:nvPr/>
        </p:nvSpPr>
        <p:spPr>
          <a:xfrm>
            <a:off x="8255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绿：</a:t>
            </a:r>
            <a:r>
              <a:rPr lang="en-US" altLang="zh-CN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辅助标出的共同表面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43B4C28-EC43-2AB4-653E-63EE561E3221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4978E2-E22E-430B-01A8-6975ABD32DDE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整个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共用一个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R,t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；只要求共同表面对齐，无需所有点重合。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F9429A0-607C-4CAD-21BD-684CBE7925A9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hlinkClick r:id="rId6"/>
            <a:extLst>
              <a:ext uri="{FF2B5EF4-FFF2-40B4-BE49-F238E27FC236}">
                <a16:creationId xmlns:a16="http://schemas.microsoft.com/office/drawing/2014/main" id="{271A32F9-A82A-14A6-2976-C450DBD5E050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 12→0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GeoTransformer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元数据；绿色：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对齐后的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cm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邻近标注，非输入或预测。</a:t>
            </a:r>
          </a:p>
        </p:txBody>
      </p:sp>
    </p:spTree>
    <p:extLst>
      <p:ext uri="{BB962C8B-B14F-4D97-AF65-F5344CB8AC3E}">
        <p14:creationId xmlns:p14="http://schemas.microsoft.com/office/powerpoint/2010/main" val="44351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A3B828-15CD-D9F7-F6B4-CF7BA9F00CD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83D5F2-7449-2884-B755-9FAF4B0236E0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/  DATA FORMATION · INPUT · OUTPUT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4D428B-ABFB-6BC6-BEA8-4182C0EBCC8C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879F1D-CEF5-BEB2-C74B-68861602FE4C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一条样本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两个局部片段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477F43-BDF0-1FFC-3166-28975C295A3E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同一静态场景、尺度一致、有部分重叠；配准模型从两份局部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4D9575-03A7-244F-0AF7-F7A384D9E514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FA27D4-27FE-ED79-F18A-5D323070EA81}"/>
              </a:ext>
            </a:extLst>
          </p:cNvPr>
          <p:cNvSpPr/>
          <p:nvPr/>
        </p:nvSpPr>
        <p:spPr>
          <a:xfrm>
            <a:off x="508000" y="2209800"/>
            <a:ext cx="31115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B67A3E-16B6-89F3-705B-D86F4F1CC0FF}"/>
              </a:ext>
            </a:extLst>
          </p:cNvPr>
          <p:cNvSpPr txBox="1"/>
          <p:nvPr/>
        </p:nvSpPr>
        <p:spPr>
          <a:xfrm>
            <a:off x="723900" y="2362199"/>
            <a:ext cx="26797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RGB-D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8D3586-2503-373F-6177-A13F8D85740D}"/>
              </a:ext>
            </a:extLst>
          </p:cNvPr>
          <p:cNvSpPr txBox="1"/>
          <p:nvPr/>
        </p:nvSpPr>
        <p:spPr>
          <a:xfrm>
            <a:off x="723900" y="2819399"/>
            <a:ext cx="26797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深度图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+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相机内参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
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每帧的参考位姿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337A4B9-05D5-FBA4-11F4-3F4423C27C8D}"/>
              </a:ext>
            </a:extLst>
          </p:cNvPr>
          <p:cNvCxnSpPr/>
          <p:nvPr/>
        </p:nvCxnSpPr>
        <p:spPr>
          <a:xfrm>
            <a:off x="3746500" y="2857500"/>
            <a:ext cx="4953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D1ED9F24-C8F5-2096-6153-78F5462576CB}"/>
              </a:ext>
            </a:extLst>
          </p:cNvPr>
          <p:cNvSpPr/>
          <p:nvPr/>
        </p:nvSpPr>
        <p:spPr>
          <a:xfrm>
            <a:off x="4381500" y="2209800"/>
            <a:ext cx="33655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292E48-0C40-86FA-A10E-0351F14ED25D}"/>
              </a:ext>
            </a:extLst>
          </p:cNvPr>
          <p:cNvSpPr txBox="1"/>
          <p:nvPr/>
        </p:nvSpPr>
        <p:spPr>
          <a:xfrm>
            <a:off x="4597400" y="2362199"/>
            <a:ext cx="29337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帧融合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967020-8DA7-D029-CA29-16EEFDDE821C}"/>
              </a:ext>
            </a:extLst>
          </p:cNvPr>
          <p:cNvSpPr txBox="1"/>
          <p:nvPr/>
        </p:nvSpPr>
        <p:spPr>
          <a:xfrm>
            <a:off x="4597400" y="2819399"/>
            <a:ext cx="29337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按已有轨迹对齐深度
得到实际观测到的局部表面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6FE3B71-F28D-D5CE-0648-3E15B0AC106B}"/>
              </a:ext>
            </a:extLst>
          </p:cNvPr>
          <p:cNvCxnSpPr/>
          <p:nvPr/>
        </p:nvCxnSpPr>
        <p:spPr>
          <a:xfrm>
            <a:off x="7874000" y="2857500"/>
            <a:ext cx="4953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35503CE-1615-9461-D0A6-C8EF35151552}"/>
              </a:ext>
            </a:extLst>
          </p:cNvPr>
          <p:cNvSpPr/>
          <p:nvPr/>
        </p:nvSpPr>
        <p:spPr>
          <a:xfrm>
            <a:off x="8509000" y="2209800"/>
            <a:ext cx="3175000" cy="1308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DD6DA1-3E87-67DF-9F62-D8BE4A650773}"/>
              </a:ext>
            </a:extLst>
          </p:cNvPr>
          <p:cNvSpPr txBox="1"/>
          <p:nvPr/>
        </p:nvSpPr>
        <p:spPr>
          <a:xfrm>
            <a:off x="8724900" y="2362199"/>
            <a:ext cx="2743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fragment</a:t>
            </a:r>
            <a:endParaRPr lang="zh-CN" altLang="en-US" sz="19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929D67-99FD-2B5F-3FD4-AEC808C8F5DF}"/>
              </a:ext>
            </a:extLst>
          </p:cNvPr>
          <p:cNvSpPr txBox="1"/>
          <p:nvPr/>
        </p:nvSpPr>
        <p:spPr>
          <a:xfrm>
            <a:off x="8724900" y="2819399"/>
            <a:ext cx="27432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米制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点集
以该段首帧为局部坐标系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512FAC-BD32-6ABB-7F98-5AAF9A81BE3D}"/>
              </a:ext>
            </a:extLst>
          </p:cNvPr>
          <p:cNvSpPr/>
          <p:nvPr/>
        </p:nvSpPr>
        <p:spPr>
          <a:xfrm>
            <a:off x="508000" y="3733800"/>
            <a:ext cx="64770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331CEC-D865-62E0-29C2-9789C2D540CD}"/>
              </a:ext>
            </a:extLst>
          </p:cNvPr>
          <p:cNvSpPr txBox="1"/>
          <p:nvPr/>
        </p:nvSpPr>
        <p:spPr>
          <a:xfrm>
            <a:off x="736600" y="3898899"/>
            <a:ext cx="6019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模型输入：配对列表中的两个片段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DE8835-A563-5EF2-BD8D-84123CCABAFA}"/>
              </a:ext>
            </a:extLst>
          </p:cNvPr>
          <p:cNvSpPr txBox="1"/>
          <p:nvPr/>
        </p:nvSpPr>
        <p:spPr>
          <a:xfrm>
            <a:off x="736600" y="4356099"/>
            <a:ext cx="6019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：片段 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16,341 × 3</a:t>
            </a:r>
            <a:endParaRPr lang="zh-CN" altLang="en-US" sz="20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0FF289-584E-7B19-4447-08677302AA23}"/>
              </a:ext>
            </a:extLst>
          </p:cNvPr>
          <p:cNvSpPr txBox="1"/>
          <p:nvPr/>
        </p:nvSpPr>
        <p:spPr>
          <a:xfrm>
            <a:off x="736600" y="4787899"/>
            <a:ext cx="6019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：片段 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18,977 × 3</a:t>
            </a:r>
            <a:endParaRPr lang="zh-CN" altLang="en-US" sz="2000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EEB252-D1C5-2CD1-2C7B-752C4D2F3FDB}"/>
              </a:ext>
            </a:extLst>
          </p:cNvPr>
          <p:cNvSpPr/>
          <p:nvPr/>
        </p:nvSpPr>
        <p:spPr>
          <a:xfrm>
            <a:off x="7366000" y="3733800"/>
            <a:ext cx="43180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946513-AD0F-DC5A-3A53-70B65C8FB4B0}"/>
              </a:ext>
            </a:extLst>
          </p:cNvPr>
          <p:cNvSpPr txBox="1"/>
          <p:nvPr/>
        </p:nvSpPr>
        <p:spPr>
          <a:xfrm>
            <a:off x="7594600" y="3898899"/>
            <a:ext cx="3860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标签：模型看不到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9100EF-5ACA-4743-557C-421B29EC89E1}"/>
              </a:ext>
            </a:extLst>
          </p:cNvPr>
          <p:cNvSpPr txBox="1"/>
          <p:nvPr/>
        </p:nvSpPr>
        <p:spPr>
          <a:xfrm>
            <a:off x="7594600" y="4356099"/>
            <a:ext cx="386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T*</a:t>
            </a:r>
            <a:r>
              <a:rPr lang="zh-CN" altLang="en-US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× 4 </a:t>
            </a:r>
            <a:r>
              <a:rPr lang="zh-CN" altLang="en-US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刚体变换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4DF711F-779E-0F28-1EDE-174E2CACD568}"/>
              </a:ext>
            </a:extLst>
          </p:cNvPr>
          <p:cNvSpPr txBox="1"/>
          <p:nvPr/>
        </p:nvSpPr>
        <p:spPr>
          <a:xfrm>
            <a:off x="7594600" y="4825999"/>
            <a:ext cx="38608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坐标映射到 </a:t>
            </a:r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FEE37B-77E2-78DD-694C-9DCA92AEAA21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89FE7A-E24B-BDBC-8B74-E44984CD1530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模型：两份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 → R∈SO(3), t∈ℝ³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；对整个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p↦Rp+t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B7FE1E7-29FF-274C-E515-2FC5383BBFD6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hlinkClick r:id="rId3"/>
            <a:extLst>
              <a:ext uri="{FF2B5EF4-FFF2-40B4-BE49-F238E27FC236}">
                <a16:creationId xmlns:a16="http://schemas.microsoft.com/office/drawing/2014/main" id="{57DC6279-4E1B-9F96-A01C-18A42BF5D4B5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上方是数据集离线准备。点集每行是一个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的行号不表示对应。参考位姿和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不作为测试输入。</a:t>
            </a:r>
          </a:p>
        </p:txBody>
      </p:sp>
    </p:spTree>
    <p:extLst>
      <p:ext uri="{BB962C8B-B14F-4D97-AF65-F5344CB8AC3E}">
        <p14:creationId xmlns:p14="http://schemas.microsoft.com/office/powerpoint/2010/main" val="374024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947A2D-022D-A396-BB26-8A8E514DB10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237DC4-6824-571A-ACB6-DF209B91F8C1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/  WHY IT IS HARD · EXAMPLE 2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DFAD45-97B3-5167-630A-FC3F7BA2F0D2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1B4488-C87B-CC3B-C8BD-EE0D67EE0562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只换一个片段，共同表面就大幅减少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0E11E-81FB-C9C3-DFFA-E48294C07B0B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样例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：同一厨房、同一参考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· 3DLoMatch ·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≈ 20%</a:t>
            </a:r>
            <a:endParaRPr lang="zh-CN" altLang="en-US" sz="16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5709E0-ADE0-7CC3-6EC7-CB7755A59D60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2006F9-7E06-CE20-17AF-5C831E0AFDBD}"/>
              </a:ext>
            </a:extLst>
          </p:cNvPr>
          <p:cNvSpPr txBox="1"/>
          <p:nvPr/>
        </p:nvSpPr>
        <p:spPr>
          <a:xfrm>
            <a:off x="5080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输入：源点云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endParaRPr lang="zh-CN" altLang="en-US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4EC88A-7235-4A22-19C9-8903D94FA5DF}"/>
              </a:ext>
            </a:extLst>
          </p:cNvPr>
          <p:cNvSpPr txBox="1"/>
          <p:nvPr/>
        </p:nvSpPr>
        <p:spPr>
          <a:xfrm>
            <a:off x="4381500" y="2171699"/>
            <a:ext cx="3492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输入：目标点云 </a:t>
            </a:r>
            <a:r>
              <a:rPr lang="en-US" altLang="zh-CN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endParaRPr lang="zh-CN" altLang="en-US" b="1">
              <a:solidFill>
                <a:srgbClr val="BD63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3F288A-9D2E-889F-81F5-4F20704EA9F5}"/>
              </a:ext>
            </a:extLst>
          </p:cNvPr>
          <p:cNvSpPr txBox="1"/>
          <p:nvPr/>
        </p:nvSpPr>
        <p:spPr>
          <a:xfrm>
            <a:off x="8255000" y="2171699"/>
            <a:ext cx="342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对齐：</a:t>
            </a:r>
            <a:r>
              <a:rPr lang="en-US" altLang="zh-CN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Q</a:t>
            </a:r>
            <a:endParaRPr lang="zh-CN" altLang="en-US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380784-5638-9B01-6DAB-1A6424E296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556719"/>
            <a:ext cx="3619500" cy="25319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13B56E2-5F84-30E7-E6BE-DECB419F9A5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2556719"/>
            <a:ext cx="3619500" cy="25319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9314CE5-ECBF-0D92-8078-ACF8D36B68B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556719"/>
            <a:ext cx="3619500" cy="253196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3DCBA5A-F7D0-BCD8-E91F-DF4E23CEAAD0}"/>
              </a:ext>
            </a:extLst>
          </p:cNvPr>
          <p:cNvSpPr txBox="1"/>
          <p:nvPr/>
        </p:nvSpPr>
        <p:spPr>
          <a:xfrm>
            <a:off x="3975100" y="3568699"/>
            <a:ext cx="355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lang="zh-CN" altLang="en-US" sz="23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815FFA7-14E8-AE07-061F-4C9AE9180718}"/>
              </a:ext>
            </a:extLst>
          </p:cNvPr>
          <p:cNvCxnSpPr/>
          <p:nvPr/>
        </p:nvCxnSpPr>
        <p:spPr>
          <a:xfrm>
            <a:off x="7874000" y="3759200"/>
            <a:ext cx="2921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EE282A1-8D61-7A6F-C401-A6BFDE8FC0F0}"/>
              </a:ext>
            </a:extLst>
          </p:cNvPr>
          <p:cNvSpPr txBox="1"/>
          <p:nvPr/>
        </p:nvSpPr>
        <p:spPr>
          <a:xfrm>
            <a:off x="508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· 11,054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本地坐标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99673E-1805-42DA-B707-88ED34A0AD02}"/>
              </a:ext>
            </a:extLst>
          </p:cNvPr>
          <p:cNvSpPr txBox="1"/>
          <p:nvPr/>
        </p:nvSpPr>
        <p:spPr>
          <a:xfrm>
            <a:off x="43815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仍是片段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·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与第 </a:t>
            </a:r>
            <a:r>
              <a:rPr lang="en-US" altLang="zh-CN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页完全相同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58EC32-C50E-CB3A-A96A-B46910C8F471}"/>
              </a:ext>
            </a:extLst>
          </p:cNvPr>
          <p:cNvSpPr txBox="1"/>
          <p:nvPr/>
        </p:nvSpPr>
        <p:spPr>
          <a:xfrm>
            <a:off x="8255000" y="5181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绿：</a:t>
            </a:r>
            <a:r>
              <a:rPr lang="en-US" altLang="zh-CN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辅助标出的共同表面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F6D2BB-AB36-9E8A-A1B9-EF0B59AE6F84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BB8E28-0BC2-E9D5-6B16-D0AC77AF1BB6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只有共同表面能提供真实对应；大片非重叠区域不该强行匹配。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1641F07-0EE5-CBE7-1130-5C37C1BE85CE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hlinkClick r:id="rId6"/>
            <a:extLst>
              <a:ext uri="{FF2B5EF4-FFF2-40B4-BE49-F238E27FC236}">
                <a16:creationId xmlns:a16="http://schemas.microsoft.com/office/drawing/2014/main" id="{6D942DE2-DD9F-7D4C-2AE2-0AA749714333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 30→0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GeoTransformer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元数据；绿色：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对齐后的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cm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邻近标注，非输入或预测。</a:t>
            </a:r>
          </a:p>
        </p:txBody>
      </p:sp>
    </p:spTree>
    <p:extLst>
      <p:ext uri="{BB962C8B-B14F-4D97-AF65-F5344CB8AC3E}">
        <p14:creationId xmlns:p14="http://schemas.microsoft.com/office/powerpoint/2010/main" val="182697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098058-4E8C-5141-9E9E-3C718318AE2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83D5F3-1DBB-ECCA-D45D-552D1799641E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 /  DATASET · DISTRIBUTION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A5558A-DCCA-8611-13EA-60E88EF2D3F4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77C12C-B1CA-2226-7590-DE0DBE0632F1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同一批场景，组成两份难度不同的测试列表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F7E588-76F1-38ED-1BA7-0A74CAC2B25A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1,623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1,781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数的是“片段对”；一个片段可以参与多个配准样本。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33633A-5052-0963-5FEC-A0E61ED1806B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A8077D-E1EE-5511-BDFA-18B846113742}"/>
              </a:ext>
            </a:extLst>
          </p:cNvPr>
          <p:cNvSpPr/>
          <p:nvPr/>
        </p:nvSpPr>
        <p:spPr>
          <a:xfrm>
            <a:off x="508000" y="2209800"/>
            <a:ext cx="3365500" cy="100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3C5D2F-149E-43A1-E5D4-79596FDFF9C4}"/>
              </a:ext>
            </a:extLst>
          </p:cNvPr>
          <p:cNvSpPr txBox="1"/>
          <p:nvPr/>
        </p:nvSpPr>
        <p:spPr>
          <a:xfrm>
            <a:off x="723900" y="2336799"/>
            <a:ext cx="2933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同一批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个测试场景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D26802-F611-CF91-5244-62F1936A3E18}"/>
              </a:ext>
            </a:extLst>
          </p:cNvPr>
          <p:cNvSpPr txBox="1"/>
          <p:nvPr/>
        </p:nvSpPr>
        <p:spPr>
          <a:xfrm>
            <a:off x="723900" y="2806699"/>
            <a:ext cx="29337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厨房、家庭、酒店、学习室、实验室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B2CD09-9E4D-72F5-83CF-543FAD38F859}"/>
              </a:ext>
            </a:extLst>
          </p:cNvPr>
          <p:cNvCxnSpPr/>
          <p:nvPr/>
        </p:nvCxnSpPr>
        <p:spPr>
          <a:xfrm flipV="1">
            <a:off x="4013200" y="2451100"/>
            <a:ext cx="419100" cy="241300"/>
          </a:xfrm>
          <a:prstGeom prst="line">
            <a:avLst/>
          </a:prstGeom>
          <a:ln w="2159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3A4B05D-41C3-E8EF-3BCA-D80461FCC8D0}"/>
              </a:ext>
            </a:extLst>
          </p:cNvPr>
          <p:cNvCxnSpPr/>
          <p:nvPr/>
        </p:nvCxnSpPr>
        <p:spPr>
          <a:xfrm>
            <a:off x="4013200" y="2730500"/>
            <a:ext cx="419100" cy="292100"/>
          </a:xfrm>
          <a:prstGeom prst="line">
            <a:avLst/>
          </a:prstGeom>
          <a:ln w="2159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CEED1CF-D938-D4EE-D272-A5E66BD528FD}"/>
              </a:ext>
            </a:extLst>
          </p:cNvPr>
          <p:cNvSpPr/>
          <p:nvPr/>
        </p:nvSpPr>
        <p:spPr>
          <a:xfrm>
            <a:off x="4572000" y="2159000"/>
            <a:ext cx="7112000" cy="5334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3AD66E-8A4A-80B2-4200-84B1EA7D2067}"/>
              </a:ext>
            </a:extLst>
          </p:cNvPr>
          <p:cNvSpPr txBox="1"/>
          <p:nvPr/>
        </p:nvSpPr>
        <p:spPr>
          <a:xfrm>
            <a:off x="4775200" y="2273299"/>
            <a:ext cx="6705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3DMatch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1,623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标称重叠 </a:t>
            </a:r>
            <a:r>
              <a:rPr lang="en-US" altLang="zh-CN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&gt;30%</a:t>
            </a:r>
            <a:endParaRPr lang="zh-CN" altLang="en-US" sz="19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E421C4-1AB4-0462-7432-048071BA2042}"/>
              </a:ext>
            </a:extLst>
          </p:cNvPr>
          <p:cNvSpPr/>
          <p:nvPr/>
        </p:nvSpPr>
        <p:spPr>
          <a:xfrm>
            <a:off x="4572000" y="2832100"/>
            <a:ext cx="7112000" cy="533400"/>
          </a:xfrm>
          <a:prstGeom prst="rect">
            <a:avLst/>
          </a:prstGeom>
          <a:solidFill>
            <a:srgbClr val="E4F1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D74D21-B73C-9177-464D-723AACC7A1CE}"/>
              </a:ext>
            </a:extLst>
          </p:cNvPr>
          <p:cNvSpPr txBox="1"/>
          <p:nvPr/>
        </p:nvSpPr>
        <p:spPr>
          <a:xfrm>
            <a:off x="4775200" y="2946399"/>
            <a:ext cx="6705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3DLoMatch</a:t>
            </a:r>
            <a:r>
              <a:rPr lang="zh-CN" altLang="en-US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1,781 </a:t>
            </a:r>
            <a:r>
              <a:rPr lang="zh-CN" altLang="en-US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标称 </a:t>
            </a:r>
            <a:r>
              <a:rPr lang="en-US" altLang="zh-CN" sz="1900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10%–30%</a:t>
            </a:r>
            <a:endParaRPr lang="zh-CN" altLang="en-US" sz="1900" b="1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9E21FC-9BEF-B71F-3066-091EAD1A34DB}"/>
              </a:ext>
            </a:extLst>
          </p:cNvPr>
          <p:cNvSpPr txBox="1"/>
          <p:nvPr/>
        </p:nvSpPr>
        <p:spPr>
          <a:xfrm>
            <a:off x="508000" y="3530599"/>
            <a:ext cx="596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实测配对分布：各场景不均衡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48BD59-A03F-D005-1640-DEBD9AF87A5A}"/>
              </a:ext>
            </a:extLst>
          </p:cNvPr>
          <p:cNvSpPr txBox="1"/>
          <p:nvPr/>
        </p:nvSpPr>
        <p:spPr>
          <a:xfrm>
            <a:off x="7416800" y="3530599"/>
            <a:ext cx="4267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刚才的两例，就是两条配对记录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2001DA-2968-2FA9-8C67-A5E400C34E8A}"/>
              </a:ext>
            </a:extLst>
          </p:cNvPr>
          <p:cNvSpPr txBox="1"/>
          <p:nvPr/>
        </p:nvSpPr>
        <p:spPr>
          <a:xfrm>
            <a:off x="508000" y="39624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RedKitchen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6FC0CD-BD61-D0D7-46F7-CB11855457A7}"/>
              </a:ext>
            </a:extLst>
          </p:cNvPr>
          <p:cNvSpPr/>
          <p:nvPr/>
        </p:nvSpPr>
        <p:spPr>
          <a:xfrm>
            <a:off x="2260600" y="3975100"/>
            <a:ext cx="257048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A199D7-FDE6-447C-6FED-5C7686307BCE}"/>
              </a:ext>
            </a:extLst>
          </p:cNvPr>
          <p:cNvSpPr/>
          <p:nvPr/>
        </p:nvSpPr>
        <p:spPr>
          <a:xfrm>
            <a:off x="2260600" y="4051300"/>
            <a:ext cx="266700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5F21FB-E9E6-B697-337D-F9B6DA810AB9}"/>
              </a:ext>
            </a:extLst>
          </p:cNvPr>
          <p:cNvSpPr txBox="1"/>
          <p:nvPr/>
        </p:nvSpPr>
        <p:spPr>
          <a:xfrm>
            <a:off x="5143500" y="39624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506 / 525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1DDBE8-851D-B821-8AF3-7E2A6396D5FE}"/>
              </a:ext>
            </a:extLst>
          </p:cNvPr>
          <p:cNvSpPr txBox="1"/>
          <p:nvPr/>
        </p:nvSpPr>
        <p:spPr>
          <a:xfrm>
            <a:off x="508000" y="41465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 AT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67E8CC-F896-4BE5-62A6-B23EFA204AC3}"/>
              </a:ext>
            </a:extLst>
          </p:cNvPr>
          <p:cNvSpPr/>
          <p:nvPr/>
        </p:nvSpPr>
        <p:spPr>
          <a:xfrm>
            <a:off x="2260600" y="4159250"/>
            <a:ext cx="79248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7CAA77-B258-C105-F862-A049F627C90D}"/>
              </a:ext>
            </a:extLst>
          </p:cNvPr>
          <p:cNvSpPr/>
          <p:nvPr/>
        </p:nvSpPr>
        <p:spPr>
          <a:xfrm>
            <a:off x="2260600" y="4235450"/>
            <a:ext cx="146812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9D9C108-2445-78E9-A4F3-09702554D236}"/>
              </a:ext>
            </a:extLst>
          </p:cNvPr>
          <p:cNvSpPr txBox="1"/>
          <p:nvPr/>
        </p:nvSpPr>
        <p:spPr>
          <a:xfrm>
            <a:off x="5143500" y="41465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156 / 289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969A06-F329-662C-1CBE-CD4F348C5332}"/>
              </a:ext>
            </a:extLst>
          </p:cNvPr>
          <p:cNvSpPr txBox="1"/>
          <p:nvPr/>
        </p:nvSpPr>
        <p:spPr>
          <a:xfrm>
            <a:off x="508000" y="43307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 MD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4C7CA9-7389-5B34-37FB-30AA7EA27347}"/>
              </a:ext>
            </a:extLst>
          </p:cNvPr>
          <p:cNvSpPr/>
          <p:nvPr/>
        </p:nvSpPr>
        <p:spPr>
          <a:xfrm>
            <a:off x="2260600" y="4343400"/>
            <a:ext cx="105664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D4D7F9-95B4-AF66-5D96-A3661478896B}"/>
              </a:ext>
            </a:extLst>
          </p:cNvPr>
          <p:cNvSpPr/>
          <p:nvPr/>
        </p:nvSpPr>
        <p:spPr>
          <a:xfrm>
            <a:off x="2260600" y="4419600"/>
            <a:ext cx="116840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825533-D7B2-4A6E-EB5E-96846577BE7A}"/>
              </a:ext>
            </a:extLst>
          </p:cNvPr>
          <p:cNvSpPr txBox="1"/>
          <p:nvPr/>
        </p:nvSpPr>
        <p:spPr>
          <a:xfrm>
            <a:off x="5143500" y="43307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208 / 230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A5F60F-328C-5CCF-F9BE-00D7B9D7E9CC}"/>
              </a:ext>
            </a:extLst>
          </p:cNvPr>
          <p:cNvSpPr txBox="1"/>
          <p:nvPr/>
        </p:nvSpPr>
        <p:spPr>
          <a:xfrm>
            <a:off x="508000" y="45148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UC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F39B9E3-55A6-0B53-EA35-23C9D2687A5A}"/>
              </a:ext>
            </a:extLst>
          </p:cNvPr>
          <p:cNvSpPr/>
          <p:nvPr/>
        </p:nvSpPr>
        <p:spPr>
          <a:xfrm>
            <a:off x="2260600" y="4527550"/>
            <a:ext cx="114808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351A9E-0DE0-47F6-9F59-6B3E1606F37A}"/>
              </a:ext>
            </a:extLst>
          </p:cNvPr>
          <p:cNvSpPr/>
          <p:nvPr/>
        </p:nvSpPr>
        <p:spPr>
          <a:xfrm>
            <a:off x="2260600" y="4603750"/>
            <a:ext cx="110744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54F52A6-8DDA-E09F-1253-BD9204E9E9C8}"/>
              </a:ext>
            </a:extLst>
          </p:cNvPr>
          <p:cNvSpPr txBox="1"/>
          <p:nvPr/>
        </p:nvSpPr>
        <p:spPr>
          <a:xfrm>
            <a:off x="5143500" y="45148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226 / 218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3F85291-E3A2-C48D-3AC5-AAE1CDFC397C}"/>
              </a:ext>
            </a:extLst>
          </p:cNvPr>
          <p:cNvSpPr txBox="1"/>
          <p:nvPr/>
        </p:nvSpPr>
        <p:spPr>
          <a:xfrm>
            <a:off x="508000" y="46990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UMD 1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BFDFC32-8462-A561-0885-10BBCDF730CC}"/>
              </a:ext>
            </a:extLst>
          </p:cNvPr>
          <p:cNvSpPr/>
          <p:nvPr/>
        </p:nvSpPr>
        <p:spPr>
          <a:xfrm>
            <a:off x="2260600" y="4711700"/>
            <a:ext cx="52832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D1C5FE-0BE4-E599-0125-B342637E2C22}"/>
              </a:ext>
            </a:extLst>
          </p:cNvPr>
          <p:cNvSpPr/>
          <p:nvPr/>
        </p:nvSpPr>
        <p:spPr>
          <a:xfrm>
            <a:off x="2260600" y="4787900"/>
            <a:ext cx="80264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EBF2AD6-F4B9-3547-AC45-12941E8F4423}"/>
              </a:ext>
            </a:extLst>
          </p:cNvPr>
          <p:cNvSpPr txBox="1"/>
          <p:nvPr/>
        </p:nvSpPr>
        <p:spPr>
          <a:xfrm>
            <a:off x="5143500" y="46990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104 / 158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C7207-74FD-D18B-7964-FB97F5BB6901}"/>
              </a:ext>
            </a:extLst>
          </p:cNvPr>
          <p:cNvSpPr txBox="1"/>
          <p:nvPr/>
        </p:nvSpPr>
        <p:spPr>
          <a:xfrm>
            <a:off x="508000" y="48831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Hotel UMD 3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5A97584-3CB7-1796-53AA-67F529A917C3}"/>
              </a:ext>
            </a:extLst>
          </p:cNvPr>
          <p:cNvSpPr/>
          <p:nvPr/>
        </p:nvSpPr>
        <p:spPr>
          <a:xfrm>
            <a:off x="2260600" y="4895850"/>
            <a:ext cx="27432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C3252FF-552C-5DE2-06A9-92A4053F23CD}"/>
              </a:ext>
            </a:extLst>
          </p:cNvPr>
          <p:cNvSpPr/>
          <p:nvPr/>
        </p:nvSpPr>
        <p:spPr>
          <a:xfrm>
            <a:off x="2260600" y="4972050"/>
            <a:ext cx="24892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1B8690B-0558-859E-1049-C5049D55F7C3}"/>
              </a:ext>
            </a:extLst>
          </p:cNvPr>
          <p:cNvSpPr txBox="1"/>
          <p:nvPr/>
        </p:nvSpPr>
        <p:spPr>
          <a:xfrm>
            <a:off x="5143500" y="48831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49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AE4DC85-F1FD-52C0-D209-56E186EC44CF}"/>
              </a:ext>
            </a:extLst>
          </p:cNvPr>
          <p:cNvSpPr txBox="1"/>
          <p:nvPr/>
        </p:nvSpPr>
        <p:spPr>
          <a:xfrm>
            <a:off x="508000" y="506730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MIT Studyroom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046A3D9-07BB-A87C-CC70-83D649650A82}"/>
              </a:ext>
            </a:extLst>
          </p:cNvPr>
          <p:cNvSpPr/>
          <p:nvPr/>
        </p:nvSpPr>
        <p:spPr>
          <a:xfrm>
            <a:off x="2260600" y="5080000"/>
            <a:ext cx="148336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D0E1063-9FFE-360A-0022-07D3A333CFC6}"/>
              </a:ext>
            </a:extLst>
          </p:cNvPr>
          <p:cNvSpPr/>
          <p:nvPr/>
        </p:nvSpPr>
        <p:spPr>
          <a:xfrm>
            <a:off x="2260600" y="5156200"/>
            <a:ext cx="121920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975E9DB-F99A-728B-3DA7-7A86DBD84917}"/>
              </a:ext>
            </a:extLst>
          </p:cNvPr>
          <p:cNvSpPr txBox="1"/>
          <p:nvPr/>
        </p:nvSpPr>
        <p:spPr>
          <a:xfrm>
            <a:off x="5143500" y="506730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292 / 240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F969D85-79F7-0DA1-BF94-520140104070}"/>
              </a:ext>
            </a:extLst>
          </p:cNvPr>
          <p:cNvSpPr txBox="1"/>
          <p:nvPr/>
        </p:nvSpPr>
        <p:spPr>
          <a:xfrm>
            <a:off x="508000" y="5251450"/>
            <a:ext cx="1714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MIT Lab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EF09ECD-0A40-4615-FF9B-158E3F517D00}"/>
              </a:ext>
            </a:extLst>
          </p:cNvPr>
          <p:cNvSpPr/>
          <p:nvPr/>
        </p:nvSpPr>
        <p:spPr>
          <a:xfrm>
            <a:off x="2260600" y="5264150"/>
            <a:ext cx="391160" cy="5334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44113B5-1210-7A37-1263-1EAE99AE3E5C}"/>
              </a:ext>
            </a:extLst>
          </p:cNvPr>
          <p:cNvSpPr/>
          <p:nvPr/>
        </p:nvSpPr>
        <p:spPr>
          <a:xfrm>
            <a:off x="2260600" y="5340350"/>
            <a:ext cx="365760" cy="53340"/>
          </a:xfrm>
          <a:prstGeom prst="rect">
            <a:avLst/>
          </a:prstGeom>
          <a:solidFill>
            <a:srgbClr val="007F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EB7BD78-8678-5701-014F-A878141A3497}"/>
              </a:ext>
            </a:extLst>
          </p:cNvPr>
          <p:cNvSpPr txBox="1"/>
          <p:nvPr/>
        </p:nvSpPr>
        <p:spPr>
          <a:xfrm>
            <a:off x="5143500" y="5251450"/>
            <a:ext cx="1397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77 / 72</a:t>
            </a:r>
            <a:endParaRPr lang="zh-CN" altLang="en-US" sz="105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7571A3B-03E8-241B-5D50-01CE52EE8303}"/>
              </a:ext>
            </a:extLst>
          </p:cNvPr>
          <p:cNvSpPr txBox="1"/>
          <p:nvPr/>
        </p:nvSpPr>
        <p:spPr>
          <a:xfrm>
            <a:off x="7416800" y="4025899"/>
            <a:ext cx="426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→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：样例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70B4BD4-E62A-2ABA-7668-AFEAC174149F}"/>
              </a:ext>
            </a:extLst>
          </p:cNvPr>
          <p:cNvSpPr txBox="1"/>
          <p:nvPr/>
        </p:nvSpPr>
        <p:spPr>
          <a:xfrm>
            <a:off x="7416800" y="4533899"/>
            <a:ext cx="426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→ </a:t>
            </a:r>
            <a:r>
              <a:rPr lang="zh-CN" altLang="en-US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 </a:t>
            </a:r>
            <a:r>
              <a:rPr lang="en-US" altLang="zh-CN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：样例 </a:t>
            </a:r>
            <a:r>
              <a:rPr lang="en-US" altLang="zh-CN" b="1">
                <a:solidFill>
                  <a:srgbClr val="00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00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EE57F1-6679-9DDB-F9B0-FE37953D9F81}"/>
              </a:ext>
            </a:extLst>
          </p:cNvPr>
          <p:cNvSpPr txBox="1"/>
          <p:nvPr/>
        </p:nvSpPr>
        <p:spPr>
          <a:xfrm>
            <a:off x="7416800" y="5041899"/>
            <a:ext cx="426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3DLoMatch </a:t>
            </a:r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沿用相同来源的扫描片段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CE09AB5-8F64-0DC9-C71F-5E6BDD2F3FA7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F7EEF5E-22B0-359B-8877-FAB8AD135C39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片段可重复出现；训练与验证关注场景隔离，测试保留作者配对列表。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1D3F764-805A-0831-B5F7-1F694D821437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hlinkClick r:id="rId3"/>
            <a:extLst>
              <a:ext uri="{FF2B5EF4-FFF2-40B4-BE49-F238E27FC236}">
                <a16:creationId xmlns:a16="http://schemas.microsoft.com/office/drawing/2014/main" id="{D12EE5E1-4EB0-3EB8-09F0-290F08868C2C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蓝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绿为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 / LoMatch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。当前列表共享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对；标称区间与不同发布版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overlap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字段不能混用重筛。</a:t>
            </a:r>
          </a:p>
        </p:txBody>
      </p:sp>
    </p:spTree>
    <p:extLst>
      <p:ext uri="{BB962C8B-B14F-4D97-AF65-F5344CB8AC3E}">
        <p14:creationId xmlns:p14="http://schemas.microsoft.com/office/powerpoint/2010/main" val="4192036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9BC1D4-0890-C00E-1DD3-3B57F21E46F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024582-B39A-B82A-606E-AAB6D8DEF765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 /  GROUND TRUTH · TARGET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BD6E69-A53C-BE59-D7C6-D1831A50CD4F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F1525A-4105-6D66-9F43-998E2317EE8D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构建者有参考轨迹，模型只看两份 </a:t>
            </a:r>
            <a:r>
              <a:rPr lang="en-US" altLang="zh-CN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XYZ</a:t>
            </a:r>
            <a:endParaRPr lang="zh-CN" altLang="en-US" sz="29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DF395D-14EB-2A48-03FC-9CBC14F5BD4A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先映射到世界，再映射回 </a:t>
            </a:r>
            <a:r>
              <a:rPr lang="en-US" altLang="zh-CN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；两次变换合成这条样本的正确答案。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7DBBF2-3DCD-2245-955F-3D73AD99B91B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9BD75B-6E98-B2BD-1EE0-E7158A16DD66}"/>
              </a:ext>
            </a:extLst>
          </p:cNvPr>
          <p:cNvSpPr/>
          <p:nvPr/>
        </p:nvSpPr>
        <p:spPr>
          <a:xfrm>
            <a:off x="508000" y="2235200"/>
            <a:ext cx="2603500" cy="10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B45AEC-33E7-6D99-EAF8-AD360993F6D1}"/>
              </a:ext>
            </a:extLst>
          </p:cNvPr>
          <p:cNvSpPr txBox="1"/>
          <p:nvPr/>
        </p:nvSpPr>
        <p:spPr>
          <a:xfrm>
            <a:off x="736600" y="2387599"/>
            <a:ext cx="2146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21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的局部坐标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0DB6FD-D2C2-859B-1317-0A8C11862D46}"/>
              </a:ext>
            </a:extLst>
          </p:cNvPr>
          <p:cNvSpPr txBox="1"/>
          <p:nvPr/>
        </p:nvSpPr>
        <p:spPr>
          <a:xfrm>
            <a:off x="736600" y="2857499"/>
            <a:ext cx="21463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源片段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E4771A-C3E4-9BF7-1096-7C756CE6E9BF}"/>
              </a:ext>
            </a:extLst>
          </p:cNvPr>
          <p:cNvSpPr txBox="1"/>
          <p:nvPr/>
        </p:nvSpPr>
        <p:spPr>
          <a:xfrm>
            <a:off x="3225800" y="2247899"/>
            <a:ext cx="13843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T_W←P</a:t>
            </a:r>
            <a:endParaRPr lang="zh-CN" altLang="en-US" sz="17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B2F6FCB-AF89-B694-037A-D14C8D301301}"/>
              </a:ext>
            </a:extLst>
          </p:cNvPr>
          <p:cNvCxnSpPr/>
          <p:nvPr/>
        </p:nvCxnSpPr>
        <p:spPr>
          <a:xfrm>
            <a:off x="3251200" y="2806700"/>
            <a:ext cx="1358900" cy="0"/>
          </a:xfrm>
          <a:prstGeom prst="line">
            <a:avLst/>
          </a:prstGeom>
          <a:ln w="25400">
            <a:solidFill>
              <a:srgbClr val="2857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3BDAD2D-2E4B-8193-BD0E-23A4A337BE1D}"/>
              </a:ext>
            </a:extLst>
          </p:cNvPr>
          <p:cNvSpPr/>
          <p:nvPr/>
        </p:nvSpPr>
        <p:spPr>
          <a:xfrm>
            <a:off x="4762500" y="2235200"/>
            <a:ext cx="2603500" cy="10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A287ED-9C38-C9E7-CF00-175258D159BB}"/>
              </a:ext>
            </a:extLst>
          </p:cNvPr>
          <p:cNvSpPr txBox="1"/>
          <p:nvPr/>
        </p:nvSpPr>
        <p:spPr>
          <a:xfrm>
            <a:off x="4991100" y="2387599"/>
            <a:ext cx="2146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1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世界坐标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02211C-7306-32FB-B757-A0B8A322FC92}"/>
              </a:ext>
            </a:extLst>
          </p:cNvPr>
          <p:cNvSpPr txBox="1"/>
          <p:nvPr/>
        </p:nvSpPr>
        <p:spPr>
          <a:xfrm>
            <a:off x="4991100" y="2857499"/>
            <a:ext cx="21463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已有场景重建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1F7B81-64C9-F04F-1166-C958717FDDC4}"/>
              </a:ext>
            </a:extLst>
          </p:cNvPr>
          <p:cNvSpPr txBox="1"/>
          <p:nvPr/>
        </p:nvSpPr>
        <p:spPr>
          <a:xfrm>
            <a:off x="7480300" y="2247899"/>
            <a:ext cx="14859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6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(T_W←Q)⁻¹</a:t>
            </a:r>
            <a:endParaRPr lang="zh-CN" altLang="en-US" sz="16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7A995A9-C8CA-0CFD-26A0-AB709D445AE5}"/>
              </a:ext>
            </a:extLst>
          </p:cNvPr>
          <p:cNvCxnSpPr/>
          <p:nvPr/>
        </p:nvCxnSpPr>
        <p:spPr>
          <a:xfrm>
            <a:off x="7505700" y="2806700"/>
            <a:ext cx="1358900" cy="0"/>
          </a:xfrm>
          <a:prstGeom prst="line">
            <a:avLst/>
          </a:prstGeom>
          <a:ln w="25400">
            <a:solidFill>
              <a:srgbClr val="2857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E8A1F3F-449D-8DB0-1C1D-39DFA2A65298}"/>
              </a:ext>
            </a:extLst>
          </p:cNvPr>
          <p:cNvSpPr/>
          <p:nvPr/>
        </p:nvSpPr>
        <p:spPr>
          <a:xfrm>
            <a:off x="9017000" y="2235200"/>
            <a:ext cx="2667000" cy="105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B6D632-60E1-8CCB-59B4-93381FA7B1A1}"/>
              </a:ext>
            </a:extLst>
          </p:cNvPr>
          <p:cNvSpPr txBox="1"/>
          <p:nvPr/>
        </p:nvSpPr>
        <p:spPr>
          <a:xfrm>
            <a:off x="9245600" y="2387599"/>
            <a:ext cx="2209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       <a:solidFill>
                  <a:srgbClr val="BD63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的局部坐标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23EA0E-8E6A-C105-D2FE-16119E6743DD}"/>
              </a:ext>
            </a:extLst>
          </p:cNvPr>
          <p:cNvSpPr txBox="1"/>
          <p:nvPr/>
        </p:nvSpPr>
        <p:spPr>
          <a:xfrm>
            <a:off x="9245600" y="2857499"/>
            <a:ext cx="22098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目标片段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7AFABD-655A-1F46-2D26-58AF62E17E16}"/>
              </a:ext>
            </a:extLst>
          </p:cNvPr>
          <p:cNvSpPr txBox="1"/>
          <p:nvPr/>
        </p:nvSpPr>
        <p:spPr>
          <a:xfrm>
            <a:off x="508000" y="35305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T* = (T_W←Q)⁻¹ T_W←P     ·     4×4</a:t>
            </a:r>
            <a:r>
              <a:rPr lang="zh-CN" altLang="en-US" sz="24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，源 → 目标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F015859-EDE0-D421-ECF0-34C74D5D6065}"/>
              </a:ext>
            </a:extLst>
          </p:cNvPr>
          <p:cNvCxnSpPr/>
          <p:nvPr/>
        </p:nvCxnSpPr>
        <p:spPr>
          <a:xfrm>
            <a:off x="508000" y="41402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075D539-4E64-5212-0F29-F967EB93EAFE}"/>
              </a:ext>
            </a:extLst>
          </p:cNvPr>
          <p:cNvSpPr txBox="1"/>
          <p:nvPr/>
        </p:nvSpPr>
        <p:spPr>
          <a:xfrm>
            <a:off x="508000" y="4330699"/>
            <a:ext cx="584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每条有效测试样本：成功还是失败？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3B9696-7746-15C1-5AD2-1A32215F1734}"/>
              </a:ext>
            </a:extLst>
          </p:cNvPr>
          <p:cNvSpPr txBox="1"/>
          <p:nvPr/>
        </p:nvSpPr>
        <p:spPr>
          <a:xfrm>
            <a:off x="508000" y="4787899"/>
            <a:ext cx="58420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预测与 </a:t>
            </a:r>
            <a:r>
              <a:rPr lang="en-US" altLang="zh-CN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的官方变换误差 </a:t>
            </a:r>
            <a:r>
              <a:rPr lang="en-US" altLang="zh-CN" sz="20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&lt;0.2 m</a:t>
            </a:r>
            <a:endParaRPr lang="zh-CN" altLang="en-US" sz="20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F3C3A2D-E1DC-A276-FEEC-1894D37CCD7A}"/>
              </a:ext>
            </a:extLst>
          </p:cNvPr>
          <p:cNvSpPr txBox="1"/>
          <p:nvPr/>
        </p:nvSpPr>
        <p:spPr>
          <a:xfrm>
            <a:off x="7086600" y="4330699"/>
            <a:ext cx="45974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Registration Recall </a:t>
            </a:r>
            <a:r>
              <a:rPr lang="zh-CN" altLang="en-US" sz="17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怎么汇总？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B8B0CE8-87B9-B4EA-9B18-EBE39C5240A2}"/>
              </a:ext>
            </a:extLst>
          </p:cNvPr>
          <p:cNvSpPr txBox="1"/>
          <p:nvPr/>
        </p:nvSpPr>
        <p:spPr>
          <a:xfrm>
            <a:off x="7086600" y="4787899"/>
            <a:ext cx="45974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排除直接相邻片段后，逐场景计算
成功比例，再对 </a:t>
            </a:r>
            <a:r>
              <a:rPr lang="en-US" altLang="zh-CN" sz="16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600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个场景等权平均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07EF75-3F0B-9A15-5116-2FC77E9C27F1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EA3F63-4B2D-2996-AACC-7AF684AE9D87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用来判定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R,t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是否正确；没有要求两片点云的所有表面都重合。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C047880-59F2-C0AC-8745-D44B9A1150AF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hlinkClick r:id="rId3"/>
            <a:extLst>
              <a:ext uri="{FF2B5EF4-FFF2-40B4-BE49-F238E27FC236}">
                <a16:creationId xmlns:a16="http://schemas.microsoft.com/office/drawing/2014/main" id="{24AD50AD-B8F0-B321-711B-1C97B3D241C8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有效对：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 1,279 / LoMatch 1,726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。误差按官方信息矩阵协议计算；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来自重建参考位姿。</a:t>
            </a:r>
          </a:p>
        </p:txBody>
      </p:sp>
    </p:spTree>
    <p:extLst>
      <p:ext uri="{BB962C8B-B14F-4D97-AF65-F5344CB8AC3E}">
        <p14:creationId xmlns:p14="http://schemas.microsoft.com/office/powerpoint/2010/main" val="231644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69AB62-2782-CA8B-1607-999F0927D3D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85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D5C91F-660E-D23C-1658-859461C75B22}"/>
              </a:ext>
            </a:extLst>
          </p:cNvPr>
          <p:cNvSpPr txBox="1"/>
          <p:nvPr/>
        </p:nvSpPr>
        <p:spPr>
          <a:xfrm>
            <a:off x="508000" y="317500"/>
            <a:ext cx="787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 /  HYPOTHESIS · NEXT STEP</a:t>
            </a:r>
            <a:endParaRPr lang="zh-CN" altLang="en-US" sz="12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35B0E5-C4E1-67FD-825B-D90C03B4C9B8}"/>
              </a:ext>
            </a:extLst>
          </p:cNvPr>
          <p:cNvSpPr txBox="1"/>
          <p:nvPr/>
        </p:nvSpPr>
        <p:spPr>
          <a:xfrm>
            <a:off x="8382000" y="317500"/>
            <a:ext cx="3302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3D VISION  ·  </a:t>
            </a:r>
            <a:r>
              <a:rPr lang="zh-CN" altLang="en-US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低重叠点云配准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E1AB8E-04AF-7826-2837-032EC57B8F46}"/>
              </a:ext>
            </a:extLst>
          </p:cNvPr>
          <p:cNvSpPr txBox="1"/>
          <p:nvPr/>
        </p:nvSpPr>
        <p:spPr>
          <a:xfrm>
            <a:off x="508000" y="787399"/>
            <a:ext cx="11176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9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固定特征与求解器，检验哪种对应更可靠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1DA779-088D-C0B3-5AC9-AE0DE9E795E7}"/>
              </a:ext>
            </a:extLst>
          </p:cNvPr>
          <p:cNvSpPr txBox="1"/>
          <p:nvPr/>
        </p:nvSpPr>
        <p:spPr>
          <a:xfrm>
            <a:off x="508000" y="14731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假设：把更多预算用于几何一致的对应，能提高低重叠配准成功率。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3B9F06-169F-5D2D-7E21-46620C3D6BE9}"/>
              </a:ext>
            </a:extLst>
          </p:cNvPr>
          <p:cNvSpPr txBox="1"/>
          <p:nvPr/>
        </p:nvSpPr>
        <p:spPr>
          <a:xfrm>
            <a:off x="11087100" y="6438900"/>
            <a:ext cx="5969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/ 6</a:t>
            </a:r>
            <a:endParaRPr lang="zh-CN" altLang="en-US" sz="1100">
              <a:solidFill>
                <a:srgbClr val="5C6F7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91208D-9901-FBBC-1132-D5E2E190B44D}"/>
              </a:ext>
            </a:extLst>
          </p:cNvPr>
          <p:cNvSpPr/>
          <p:nvPr/>
        </p:nvSpPr>
        <p:spPr>
          <a:xfrm>
            <a:off x="508000" y="2247900"/>
            <a:ext cx="2832100" cy="355600"/>
          </a:xfrm>
          <a:prstGeom prst="roundRect">
            <a:avLst/>
          </a:prstGeom>
          <a:solidFill>
            <a:srgbClr val="EAF0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4445E5-F8C4-B69D-EF12-944E9D1C1E0A}"/>
              </a:ext>
            </a:extLst>
          </p:cNvPr>
          <p:cNvSpPr txBox="1"/>
          <p:nvPr/>
        </p:nvSpPr>
        <p:spPr>
          <a:xfrm>
            <a:off x="635000" y="2298699"/>
            <a:ext cx="25781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冻结点云特征 → 候选对应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710D638-AFC0-5D96-C231-C46D248D6457}"/>
              </a:ext>
            </a:extLst>
          </p:cNvPr>
          <p:cNvCxnSpPr/>
          <p:nvPr/>
        </p:nvCxnSpPr>
        <p:spPr>
          <a:xfrm>
            <a:off x="3492500" y="2425700"/>
            <a:ext cx="4445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FCF9FA-A88D-15C3-5E6E-96BB6D66E69E}"/>
              </a:ext>
            </a:extLst>
          </p:cNvPr>
          <p:cNvSpPr/>
          <p:nvPr/>
        </p:nvSpPr>
        <p:spPr>
          <a:xfrm>
            <a:off x="4102100" y="2247900"/>
            <a:ext cx="3492500" cy="355600"/>
          </a:xfrm>
          <a:prstGeom prst="roundRect">
            <a:avLst/>
          </a:prstGeom>
          <a:solidFill>
            <a:srgbClr val="EAF0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A2809A-6630-B163-7663-8D2CCB04AD94}"/>
              </a:ext>
            </a:extLst>
          </p:cNvPr>
          <p:cNvSpPr txBox="1"/>
          <p:nvPr/>
        </p:nvSpPr>
        <p:spPr>
          <a:xfrm>
            <a:off x="4229100" y="2298699"/>
            <a:ext cx="3238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只改变：对应筛选规则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EB547B1-F189-4837-5770-7808CB237875}"/>
              </a:ext>
            </a:extLst>
          </p:cNvPr>
          <p:cNvCxnSpPr/>
          <p:nvPr/>
        </p:nvCxnSpPr>
        <p:spPr>
          <a:xfrm>
            <a:off x="7747000" y="2425700"/>
            <a:ext cx="444500" cy="0"/>
          </a:xfrm>
          <a:prstGeom prst="line">
            <a:avLst/>
          </a:prstGeom>
          <a:ln w="25400">
            <a:solidFill>
              <a:srgbClr val="5C6F7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39905EE-DA35-8B1E-E2D8-1DBA4AC37579}"/>
              </a:ext>
            </a:extLst>
          </p:cNvPr>
          <p:cNvSpPr/>
          <p:nvPr/>
        </p:nvSpPr>
        <p:spPr>
          <a:xfrm>
            <a:off x="8356600" y="2247900"/>
            <a:ext cx="3327400" cy="355600"/>
          </a:xfrm>
          <a:prstGeom prst="roundRect">
            <a:avLst/>
          </a:prstGeom>
          <a:solidFill>
            <a:srgbClr val="EAF0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82F404-0EA5-BA50-4AF3-FAEF1EE06413}"/>
              </a:ext>
            </a:extLst>
          </p:cNvPr>
          <p:cNvSpPr txBox="1"/>
          <p:nvPr/>
        </p:nvSpPr>
        <p:spPr>
          <a:xfrm>
            <a:off x="8483600" y="2298699"/>
            <a:ext cx="307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 </a:t>
            </a:r>
            <a:r>
              <a:rPr lang="en-US" altLang="zh-CN" sz="13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RANSAC → R, t</a:t>
            </a:r>
            <a:endParaRPr lang="zh-CN" altLang="en-US" sz="1300" b="1">
              <a:solidFill>
                <a:srgbClr val="2857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DC51E6-34D4-A48C-A7CE-34480DF168A7}"/>
              </a:ext>
            </a:extLst>
          </p:cNvPr>
          <p:cNvSpPr txBox="1"/>
          <p:nvPr/>
        </p:nvSpPr>
        <p:spPr>
          <a:xfrm>
            <a:off x="508000" y="3098799"/>
            <a:ext cx="5384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几何启发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62591F-9533-F09C-1695-D3838FAEA5A0}"/>
              </a:ext>
            </a:extLst>
          </p:cNvPr>
          <p:cNvSpPr txBox="1"/>
          <p:nvPr/>
        </p:nvSpPr>
        <p:spPr>
          <a:xfrm>
            <a:off x="508000" y="3708399"/>
            <a:ext cx="53848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700" b="1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‖pᵢ − pⱼ‖ ≈ ‖qᵢ − qⱼ‖</a:t>
            </a:r>
            <a:endParaRPr lang="zh-CN" altLang="en-US" sz="2700" b="1">
              <a:solidFill>
                <a:srgbClr val="172B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B034B4-7A03-6B94-5241-9C457552D7CF}"/>
              </a:ext>
            </a:extLst>
          </p:cNvPr>
          <p:cNvSpPr txBox="1"/>
          <p:nvPr/>
        </p:nvSpPr>
        <p:spPr>
          <a:xfrm>
            <a:off x="508000" y="4508499"/>
            <a:ext cx="53848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刚体变换保持点间距离
由多个对应之间的一致性辅助筛选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5480CDE-9B91-F92C-9A68-AEEC3A092A14}"/>
              </a:ext>
            </a:extLst>
          </p:cNvPr>
          <p:cNvCxnSpPr/>
          <p:nvPr/>
        </p:nvCxnSpPr>
        <p:spPr>
          <a:xfrm>
            <a:off x="6159500" y="3111500"/>
            <a:ext cx="0" cy="208280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C1A92A9-992E-2FAE-978B-DD2C2D44F630}"/>
              </a:ext>
            </a:extLst>
          </p:cNvPr>
          <p:cNvSpPr txBox="1"/>
          <p:nvPr/>
        </p:nvSpPr>
        <p:spPr>
          <a:xfrm>
            <a:off x="6578600" y="3098799"/>
            <a:ext cx="5105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最小对照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3EB728-6A42-0A40-2A9A-757E7F1AB6C9}"/>
              </a:ext>
            </a:extLst>
          </p:cNvPr>
          <p:cNvSpPr txBox="1"/>
          <p:nvPr/>
        </p:nvSpPr>
        <p:spPr>
          <a:xfrm>
            <a:off x="6578600" y="3670299"/>
            <a:ext cx="51054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同一候选池，按两种评分各取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
同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RANSAC 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预算、同测试列表
主看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LoMatch RR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，也检查 </a:t>
            </a:r>
            <a:r>
              <a:rPr lang="en-US" altLang="zh-CN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Match
</a:t>
            </a:r>
            <a:r>
              <a:rPr lang="zh-CN" altLang="en-US">
                <a:solidFill>
                  <a:srgbClr val="172B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先复现，再按失败类型确定规则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8C73B2-6C0D-0FD8-5A1E-2B76EC6443F1}"/>
              </a:ext>
            </a:extLst>
          </p:cNvPr>
          <p:cNvSpPr/>
          <p:nvPr/>
        </p:nvSpPr>
        <p:spPr>
          <a:xfrm>
            <a:off x="508000" y="5524500"/>
            <a:ext cx="11176000" cy="546100"/>
          </a:xfrm>
          <a:prstGeom prst="rect">
            <a:avLst/>
          </a:prstGeom>
          <a:solidFill>
            <a:srgbClr val="E8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37A967-1B56-AB50-88DE-87D46027818F}"/>
              </a:ext>
            </a:extLst>
          </p:cNvPr>
          <p:cNvSpPr txBox="1"/>
          <p:nvPr/>
        </p:nvSpPr>
        <p:spPr>
          <a:xfrm>
            <a:off x="698500" y="5638799"/>
            <a:ext cx="1079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预期产出：一个可复现基线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一项受控对照 </a:t>
            </a:r>
            <a:r>
              <a:rPr lang="en-US" altLang="zh-CN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2857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低重叠失败案例分析。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6D2253C-0234-4FF3-343D-FF76BF4FBC20}"/>
              </a:ext>
            </a:extLst>
          </p:cNvPr>
          <p:cNvCxnSpPr/>
          <p:nvPr/>
        </p:nvCxnSpPr>
        <p:spPr>
          <a:xfrm>
            <a:off x="508000" y="6223000"/>
            <a:ext cx="11176000" cy="0"/>
          </a:xfrm>
          <a:prstGeom prst="line">
            <a:avLst/>
          </a:prstGeom>
          <a:ln w="12700">
            <a:solidFill>
              <a:srgbClr val="DCE4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hlinkClick r:id="rId3"/>
            <a:extLst>
              <a:ext uri="{FF2B5EF4-FFF2-40B4-BE49-F238E27FC236}">
                <a16:creationId xmlns:a16="http://schemas.microsoft.com/office/drawing/2014/main" id="{59846B17-781D-4C5D-DDAE-BFA6E574CBBF}"/>
              </a:ext>
            </a:extLst>
          </p:cNvPr>
          <p:cNvSpPr txBox="1"/>
          <p:nvPr/>
        </p:nvSpPr>
        <p:spPr>
          <a:xfrm>
            <a:off x="508000" y="6400799"/>
            <a:ext cx="10477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拟以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PREDATOR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 </a:t>
            </a:r>
            <a:r>
              <a:rPr lang="en-US" altLang="zh-CN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RANSAC </a:t>
            </a:r>
            <a:r>
              <a:rPr lang="zh-CN" altLang="en-US" sz="950">
                <a:solidFill>
                  <a:srgbClr val="5C6F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起步；几何一致性是已有思想，效果与具体改进需要实验检验。</a:t>
            </a:r>
          </a:p>
        </p:txBody>
      </p:sp>
    </p:spTree>
    <p:extLst>
      <p:ext uri="{BB962C8B-B14F-4D97-AF65-F5344CB8AC3E}">
        <p14:creationId xmlns:p14="http://schemas.microsoft.com/office/powerpoint/2010/main" val="349281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5032</Words>
  <Application>Microsoft Office PowerPoint</Application>
  <PresentationFormat>自定义</PresentationFormat>
  <Paragraphs>163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景寒 刘</dc:creator>
  <cp:lastModifiedBy>景寒 刘</cp:lastModifiedBy>
  <cp:revision>1</cp:revision>
  <dcterms:created xsi:type="dcterms:W3CDTF">2026-10-15T17:56:26Z</dcterms:created>
  <dcterms:modified xsi:type="dcterms:W3CDTF">2026-10-15T17:56:26Z</dcterms:modified>
</cp:coreProperties>
</file>